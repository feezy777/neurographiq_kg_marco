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 NeuroGraphIQ KG V3 的多粒度脑区知识图谱构建方法。我们面对的不是一个普通的数据导入问题，而是一个同时涉及神经科学语义、异构资源整合、大语言模型不确定性和知识责任边界的系统工程。整个方案最重要的设计立场，是不让模型直接决定知识真伪，而是把模型放入可校验、可审核、可追溯的治理流程。接下来我会依次说明问题规模、七层知识体系、全局与局部构建架构、Mirror 治理、正式知识晋升和最终成果。希望大家在听完后能够回答三个问题：知识从哪里来，为什么可以相信，以及出现争议时如何追溯和纠正。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首先看为什么需要建设这套系统。脑图谱资源来自不同机构和不同历史阶段，既有 XML、Excel、CSV 和 OWL 等格式差异，也有命名体系、空间粒度和关系语义的不一致。即使模型能够从文本或表格中抽取关系，如果没有明确的粒度边界和写入边界，一个局部错误也可能沿着回路、功能和映射关系扩散。项目规模说明我们解决的不是单点算法：当前包含四十二条后端路由、八十八个服务、十四个前端页面、五层 Schema、五十九次数据迁移和一千一百七十三个测试函数。系统因此采用候选、规则校验、模型提取、Mirror、人工审核和 Final 的分层漏斗。评委如果关注这些数字是否代表复杂度堆叠，关键判断是每一层都对应独立责任，而不是重复实现。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问题之后，我们先建立七层知识体系，避免后续工程围绕数据库表而不是科学语义展开。最底层是脑区实体，向上依次是连接、回路、功能、证据、三元组和映射。连接回答两个脑区之间是否存在结构或投射关系，回路强调多个节点和步骤构成的有序机制，功能描述脑区或回路承担的作用，证据层保存这些判断的来源。三元组层提供统一查询表达，映射层只负责跨图谱和跨粒度的显式对应。这里最重要的原则是同粒度内构建、跨粒度显式映射。名称相似并不等于解剖等价，空间重叠也不等于完全匹配。如果评委追问为什么不把所有脑区放在一个大图里，答案是统一查询可以建立在隔离存储之上，而语义混合一旦发生就很难可靠恢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这一页给出全局构建架构。左侧从资源登记开始，每个图谱先形成带版本、校验和和来源信息的资源记录，再以 Import Batch 追踪一次具体导入。解析结果不是直接知识，而是候选对象；候选先经过确定性规则，再由受控的模型能力提取连接、功能、回路和投射等信息。所有模型输出首先进入 Mirror KG，随后完成去重、双模型复核、结构交叉验证和专家终审，最后才通过 Promotion 写入 Final KG。右侧是图谱探索、症状查询、数据中心和离线导出等消费端。这个架构的核心是写入边界：模型不得直接写 Final，也不得自动审核或自动晋升。如果评委问 Mirror 是否增加了不必要的延迟，需要权衡的是知识错误的不可逆成本；对于正式科研知识，受控延迟优于快速污染。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下面进入局部构建流程，先看数据导入。AAL3 使用 XML，包含一百六十六个 ROI；Macro96 使用 Excel，包含九十六个脑区。两类资源保留独立解析器，因为它们的字段结构、层级关系和标识生成方式不同，但它们共享统一的资源登记、Import Batch 和 Candidate Pool 语义。资源登记解决“导入的究竟是哪一版数据”，批次记录解决“这次操作处理了哪些记录、成功与失败多少”，专属解析器负责格式差异，候选池则把结果变成后续规则和模型都能理解的统一对象。幂等设计保证重复执行不会产生重复知识，唯一索引约束候选身份，溯源字段保留原始文件和记录位置。评委如果关注新增图谱的接入成本，主要工作集中在解析适配器，而治理和审核链可以复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候选生成后，系统不会立即调用大模型，而是先运行十二条确定性规则。规则覆盖必填字段和数据类型、语义标识、唯一性、拓扑、自环与孤立节点、关系端点、资源与批次溯源，以及证据完整性。这样做有两个好处：第一，明确的错误不需要消耗模型调用；第二，规则结果可以重复执行和精确解释。质量评分由完整性百分之三十、溯源百分之二十、拓扑百分之二十、证据百分之二十和关联百分之十组成，达到八十分才进入下一阶段。低分数据先进入 Tier 1 确定性修复，无法确定的问题再进入 Tier 2，由 DeepSeek 给出建议，但建议必须由人工批准或拒绝。若评委质疑权重是否具有普适性，需要强调权重是可配置治理策略，而规则事实本身保持稳定。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通过统一的 Provider 抽象层，系统可以在 DeepSeek 和 Kimi 之间复用相同的任务接口、运行记录和错误处理。七类能力包括连接提取、脑区功能、回路、投射功能、回路功能、回路步骤和三元组整合，其中三元组整合是确定性过程，不依赖模型再次生成。模型能力都受到两个边界约束。第一，同粒度内提取，不能因为名称接近就跨 atlas 或跨粒度连接；第二，跨粒度关系必须查询显式 Mapping 表。API Key 只保存在后端，前端只提交任务参数，所有原始响应、模型版本和 Prompt 都被记录。评委如果问双模型是否意味着简单投票，答案是否定的：模型首先独立工作，后续盲审比较的是证据和结构结论，而不是把两个概率输出机械平均。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模型任务采用 Pack 化编排，而不是一次提交全部候选。默认每个 Pack 处理二十对对象，Dry Run 会预估 Pack 数、Token 和费用，使研究人员在执行前了解成本。运行过程支持 Skip Existing、暂停、取消和恢复，因此网络失败或供应商限流不会迫使整批任务重来。四步复合流程先提取连接和功能，再提取回路与步骤，然后提取投射，最后由确定性逻辑整合三元组。模型运行记录保存在 llm_extraction_runs，逐项结果和 raw response 保存在 llm_extraction_items，随后由 llm_to_mirror 完成结构转换并写入八张 Mirror 表。这里的关键不是表数量，而是概率生成与确定性写入分离。评委如果关注可复现性，我们可以从运行记录恢复当时模型、Prompt、输入和原始输出。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 Mirror KG 后，数据仍然只是待治理知识。第一项机制是 Canonical Key 去重：系统在写入时生成规范键，对重复候选保留高置信度结果，同时保留双方溯源；已经审核、已经晋升、跨 atlas 或跨粒度的数据永不自动合并。第二项机制是 DeepSeek 与 Kimi 的双模型盲审。两者都基于同一证据独立复核，形成 consensus 时可以加速人工审核，形成 conflict 时必须升级专家处理。第三项机制是结构交叉验证，从回路到步骤再到投射检查完整性，也从投射反向查找对应回路，发现端点、顺序和跨表引用问题。如果评委问为何不能直接依赖数据库唯一约束，唯一约束只能发现键冲突，不能判断科学语义是否一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正式晋升前必须连续通过三道闸门。第一道是规则闸门，十二条规则把问题分为 Blocker 和 Warning；Blocker 必须修复，Warning 可以带标记进入后续复核。第二道是模型闸门，双模型盲审形成共识或冲突，共识代表证据与结构判断一致，但仍不等于自动批准；冲突则直接升级。第三道是专家闸门，领域专家可以 approve、reject 或 request changes，并留下审核意见。三道闸门分别优化效率、独立复核和知识责任，任何单点通过都不能替代完整链路。如果评委关注人工审核是否成为瓶颈，系统通过规则拦截、共识排序和批量界面减少低价值操作，把专家时间集中在真正冲突和高风险的知识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只有全部闸门通过后，记录才进入 Promotion。Promotion 不是一个普通的复制按钮，而是先预览 Mirror 到 Final 的映射结果，再要求强确认，执行时同时写入八张 Final 表和审计记录。Final KG 的实体包括 BrainRegion、Function、Circuit、Step 和 Projection，关系使用十二种标准谓词，统一查询面由 final_kg_triples 提供。底层按照 macro、meso、sub、fine 和 molecular 五层 Schema 隔离，不同粒度可以在查询层联合，但不能在存储语义上自动混合。跨粒度只允许 exact match、part of 和 overlaps 三类显式关系。评委如果问 Schema 隔离是否影响性能，这里优先保护语义正确性，查询优化可以通过视图和图数据库同步完成。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知识进入消费端之后，系统仍然能够解释每一个事实的来历。反向溯源共有八个清晰阶段：从 Final fact 找到对应 Promotion，再找到专家 Review 和规则或模型 Validation；继续向前可以定位具体 Extraction item、所属 Run、输入 Candidate，最后回到 Import Batch 和原始 Resource。Run 与 Candidate 必须分开，因为前者记录某次模型执行的环境、Prompt 和供应商信息，后者记录进入执行前的结构化输入；Import 与 Resource 也承担批次操作和静态来源两种不同责任。这条链同时保留原始响应、模型版本、Prompt、批次和资源定位。评委如果给出一个有争议的三元组，我们可以逐级展示它如何被产生、复核、批准，并确定应在哪一层修正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回顾整个方案，六项创新并不是彼此独立的功能清单，而是一套互相补位的可信机制。分层漏斗把不同责任拆开；Mirror KG 和 Canonical Key 提供安全中转与受控去重；双模型盲审避免单模型自证；Tier 1 与 Tier 2 把确定性修复和概率建议分离；八步溯源使每个正式事实都可追责；五层 Schema 和显式 Mapping 保护多粒度语义。它们共同把大语言模型从“知识裁判”降级为“受控提取工具”。如果评委要求用一句话概括创新，答案是：可信知识不是模型偶然答对，而是错误可发现、决策可追责、结果可回溯，并且纠正能够落到明确的责任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目前系统已经形成端到端闭环。能力侧实现了七类提取、十二条规则、两级增强、双模型盲审、结构交叉验证、Promotion 和三元组整合；工程侧形成十四页工作台、四十二条路由、八十八个服务、五十九次迁移和一千一百七十三个测试函数。这些结果证明治理架构已经可以运行，而不是停留在概念图。下一阶段有四个方向：接入更多粒度与更多 atlas，推进 Final KG 与图数据库同步，提高跨粒度映射的自动候选生成能力，并增强 Graph Explorer 的查询与解释功能。需要特别说明，自动化扩展只发生在候选和辅助判断阶段，写入边界、审核责任和溯源要求不会因为规模增长而放松。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 NeuroGraphIQ KG V3 的多粒度脑区知识图谱构建方法。我们从异构资源出发，通过七层知识体系定义语义边界，再用候选、规则、模型、Mirror、三道闸门和 Promotion 构成治理闭环，最终把知识交付给可查询、可导出、可追溯的 Final KG。整套方案希望解决的核心问题，是在利用大语言模型规模能力的同时，不把知识责任交给模型。欢迎大家围绕数据治理、双模型复核、专家审核、八步溯源和跨粒度 Mapping 继续交流，谢谢。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132c60cfdbcd5e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f23ee62ad36cae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567d6b6c4e0061c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fd58df358d38b60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b819616b9d4bdb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28cb7c4373ef10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132c60cfdbcd5e.png"/>
  <Relationship Id="rId3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7812" r="0" b="78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81915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98000"/>
                  </a:srgbClr>
                </a:gs>
                <a:gs pos="60000">
                  <a:srgbClr val="FFFFFF">
                    <a:alpha val="8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66750" y="1428750"/>
            <a:ext cx="6508616" cy="2038350"/>
            <a:chOff x="666750" y="1428750"/>
            <a:chExt cx="6508616" cy="203835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76200" cy="8382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9645" y="1450658"/>
              <a:ext cx="620572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NeuroGraphIQ KG V3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0600" y="220980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43447"/>
                  </a:solidFill>
                  <a:latin typeface="Cambria"/>
                  <a:ea typeface="SimSun"/>
                  <a:cs typeface="Cambria"/>
                </a:rPr>
                <a:t>多粒度脑区知识图谱构建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28700" y="2876550"/>
              <a:ext cx="5162550" cy="9525"/>
            </a:xfrm>
            <a:custGeom>
              <a:avLst/>
              <a:gdLst/>
              <a:ahLst/>
              <a:cxnLst/>
              <a:rect l="l" t="t" r="r" b="b"/>
              <a:pathLst>
                <a:path w="5162550" h="9525">
                  <a:moveTo>
                    <a:pt x="0" y="0"/>
                  </a:moveTo>
                  <a:lnTo>
                    <a:pt x="516255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5840" y="310134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从脑图谱资源到可探索知识图谱的全流程自动化系统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038600"/>
            <a:ext cx="4724400" cy="781050"/>
            <a:chOff x="1028700" y="4038600"/>
            <a:chExt cx="4724400" cy="781050"/>
          </a:xfrm>
        </p:grpSpPr>
        <p:sp>
          <p:nvSpPr>
            <p:cNvPr id="12" name="Rectangle 12"/>
            <p:cNvSpPr/>
            <p:nvPr/>
          </p:nvSpPr>
          <p:spPr>
            <a:xfrm>
              <a:off x="1028700" y="4038600"/>
              <a:ext cx="4724400" cy="781050"/>
            </a:xfrm>
            <a:prstGeom prst="roundRect">
              <a:avLst>
                <a:gd name="adj" fmla="val 9756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7305" y="4216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核心命题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7305" y="4511992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让 LLM 成为受控提取工具，而不是知识终审者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5365" y="6077902"/>
            <a:ext cx="10237470" cy="213360"/>
            <a:chOff x="1015365" y="6077902"/>
            <a:chExt cx="10237470" cy="213360"/>
          </a:xfrm>
        </p:grpSpPr>
        <p:sp>
          <p:nvSpPr>
            <p:cNvPr id="16" name="TextBox 16"/>
            <p:cNvSpPr txBox="1"/>
            <p:nvPr/>
          </p:nvSpPr>
          <p:spPr>
            <a:xfrm>
              <a:off x="1015365" y="6077902"/>
              <a:ext cx="19099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知识工程 · 神经科学 · 可信 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5066" y="607790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2026 年 8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9028826" cy="690562"/>
            <a:chOff x="533400" y="400050"/>
            <a:chExt cx="9028826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7715" y="410528"/>
              <a:ext cx="879451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分散资源、粒度断裂与 LLM 风险共同阻碍脑区知识整合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77252"/>
              <a:ext cx="4395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问题不是“能否提取”，而是“如何让提取结果可治理、可审核、可追溯”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257300"/>
            <a:ext cx="11125200" cy="895350"/>
            <a:chOff x="533400" y="1257300"/>
            <a:chExt cx="11125200" cy="895350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295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三重挑战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806892"/>
              <a:ext cx="10064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6+ 异构资源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78605" y="18068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跨粒度关系断裂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93355" y="1806892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错误可能沿链传播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457450"/>
            <a:ext cx="2590800" cy="1809750"/>
            <a:chOff x="533400" y="2457450"/>
            <a:chExt cx="2590800" cy="1809750"/>
          </a:xfrm>
        </p:grpSpPr>
        <p:sp>
          <p:nvSpPr>
            <p:cNvPr id="13" name="Rectangle 13"/>
            <p:cNvSpPr/>
            <p:nvPr/>
          </p:nvSpPr>
          <p:spPr>
            <a:xfrm>
              <a:off x="53340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25908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7715" y="2782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后端能力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105150"/>
              <a:ext cx="148337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42 / 88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905" y="3635692"/>
              <a:ext cx="9614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路由 / 服务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71850" y="2457450"/>
            <a:ext cx="2590800" cy="1809750"/>
            <a:chOff x="3371850" y="2457450"/>
            <a:chExt cx="2590800" cy="1809750"/>
          </a:xfrm>
        </p:grpSpPr>
        <p:sp>
          <p:nvSpPr>
            <p:cNvPr id="19" name="Rectangle 19"/>
            <p:cNvSpPr/>
            <p:nvPr/>
          </p:nvSpPr>
          <p:spPr>
            <a:xfrm>
              <a:off x="337185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71850" y="2457450"/>
              <a:ext cx="2590800" cy="571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6165" y="27822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前端工作台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81400" y="3105150"/>
              <a:ext cx="4332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182CE"/>
                  </a:solidFill>
                  <a:latin typeface="Cambria"/>
                  <a:ea typeface="SimSun"/>
                  <a:cs typeface="Cambria"/>
                </a:rPr>
                <a:t>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02355" y="3635692"/>
              <a:ext cx="9434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React 页面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10300" y="2457450"/>
            <a:ext cx="2590800" cy="1809750"/>
            <a:chOff x="6210300" y="2457450"/>
            <a:chExt cx="2590800" cy="1809750"/>
          </a:xfrm>
        </p:grpSpPr>
        <p:sp>
          <p:nvSpPr>
            <p:cNvPr id="25" name="Rectangle 25"/>
            <p:cNvSpPr/>
            <p:nvPr/>
          </p:nvSpPr>
          <p:spPr>
            <a:xfrm>
              <a:off x="621030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10300" y="2457450"/>
              <a:ext cx="2590800" cy="5715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44615" y="27822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数据层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19850" y="3105150"/>
              <a:ext cx="125234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D6B20"/>
                  </a:solidFill>
                  <a:latin typeface="Cambria"/>
                  <a:ea typeface="SimSun"/>
                  <a:cs typeface="Cambria"/>
                </a:rPr>
                <a:t>5 / 59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0805" y="3635692"/>
              <a:ext cx="1231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Schema / 迁移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48750" y="2457450"/>
            <a:ext cx="2609850" cy="1809750"/>
            <a:chOff x="9048750" y="2457450"/>
            <a:chExt cx="2609850" cy="1809750"/>
          </a:xfrm>
        </p:grpSpPr>
        <p:sp>
          <p:nvSpPr>
            <p:cNvPr id="31" name="Rectangle 31"/>
            <p:cNvSpPr/>
            <p:nvPr/>
          </p:nvSpPr>
          <p:spPr>
            <a:xfrm>
              <a:off x="9048750" y="2457450"/>
              <a:ext cx="260985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048750" y="2457450"/>
              <a:ext cx="2609850" cy="571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3065" y="2782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测试保障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58300" y="3105150"/>
              <a:ext cx="102131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8A169"/>
                  </a:solidFill>
                  <a:latin typeface="Cambria"/>
                  <a:ea typeface="SimSun"/>
                  <a:cs typeface="Cambria"/>
                </a:rPr>
                <a:t>1,173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9255" y="36356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测试函数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4629150"/>
            <a:ext cx="11125200" cy="1314450"/>
            <a:chOff x="533400" y="4629150"/>
            <a:chExt cx="11125200" cy="1314450"/>
          </a:xfrm>
        </p:grpSpPr>
        <p:sp>
          <p:nvSpPr>
            <p:cNvPr id="37" name="Rectangle 37"/>
            <p:cNvSpPr/>
            <p:nvPr/>
          </p:nvSpPr>
          <p:spPr>
            <a:xfrm>
              <a:off x="533400" y="4629150"/>
              <a:ext cx="11125200" cy="1314450"/>
            </a:xfrm>
            <a:prstGeom prst="roundRect">
              <a:avLst>
                <a:gd name="adj" fmla="val 579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1055" y="48739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解决方案：分层漏斗治理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5340" y="5234940"/>
              <a:ext cx="77830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 → 规则校验 → LLM 提取 → Mirror KG → Human Review → Final KG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960" y="5604510"/>
              <a:ext cx="4511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自动化负责规模，治理边界负责可信，人工终审负责知识责任。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522922" y="6483191"/>
              <a:ext cx="24852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NeuroGraphIQ KG V3 project inventory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7215" y="410528"/>
            <a:ext cx="11005185" cy="532447"/>
            <a:chOff x="577215" y="410528"/>
            <a:chExt cx="11005185" cy="532447"/>
          </a:xfrm>
        </p:grpSpPr>
        <p:sp>
          <p:nvSpPr>
            <p:cNvPr id="3" name="TextBox 3"/>
            <p:cNvSpPr txBox="1"/>
            <p:nvPr/>
          </p:nvSpPr>
          <p:spPr>
            <a:xfrm>
              <a:off x="577215" y="410528"/>
              <a:ext cx="100620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七层知识体系把脑区事实组织为可治理、可查询、可映射的结构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933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95350" y="1752600"/>
            <a:ext cx="7677150" cy="3638550"/>
            <a:chOff x="895350" y="1752600"/>
            <a:chExt cx="7677150" cy="3638550"/>
          </a:xfrm>
        </p:grpSpPr>
        <p:sp>
          <p:nvSpPr>
            <p:cNvPr id="6" name="Polygon 6"/>
            <p:cNvSpPr/>
            <p:nvPr/>
          </p:nvSpPr>
          <p:spPr>
            <a:xfrm>
              <a:off x="895350" y="49530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980134" y="50863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脑区实体层</a:t>
              </a:r>
            </a:p>
          </p:txBody>
        </p:sp>
        <p:sp>
          <p:nvSpPr>
            <p:cNvPr id="8" name="Polygon 8"/>
            <p:cNvSpPr/>
            <p:nvPr/>
          </p:nvSpPr>
          <p:spPr>
            <a:xfrm>
              <a:off x="1295400" y="44196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90211" y="4552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连接层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695450" y="38862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90261" y="40195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回路层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095500" y="33528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182CE">
                <a:alpha val="82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90311" y="34861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功能层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95550" y="28194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DD6B2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90361" y="29527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证据层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895600" y="22860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85398" y="24193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三元组层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3295650" y="17526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90461" y="188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映射层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15400" y="1638300"/>
            <a:ext cx="3034617" cy="2843212"/>
            <a:chOff x="8915400" y="1638300"/>
            <a:chExt cx="3034617" cy="2843212"/>
          </a:xfrm>
        </p:grpSpPr>
        <p:sp>
          <p:nvSpPr>
            <p:cNvPr id="21" name="TextBox 21"/>
            <p:cNvSpPr txBox="1"/>
            <p:nvPr/>
          </p:nvSpPr>
          <p:spPr>
            <a:xfrm>
              <a:off x="8915400" y="1638300"/>
              <a:ext cx="217646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同粒度构建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36355" y="22545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实体、连接、回路与功能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36355" y="2549842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在同一粒度边界内推理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3067050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28575">
              <a:solidFill>
                <a:srgbClr val="3182C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15400" y="3295650"/>
              <a:ext cx="217646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D6B20"/>
                  </a:solidFill>
                  <a:latin typeface="Cambria"/>
                  <a:ea typeface="SimSun"/>
                  <a:cs typeface="Cambria"/>
                </a:rPr>
                <a:t>显式跨粒度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6355" y="3911918"/>
              <a:ext cx="30136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exact_match · part_of · overlaps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6355" y="42071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禁止仅凭名称相似度自动合并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905500"/>
            <a:ext cx="10972800" cy="457200"/>
            <a:chOff x="609600" y="5905500"/>
            <a:chExt cx="10972800" cy="457200"/>
          </a:xfrm>
        </p:grpSpPr>
        <p:sp>
          <p:nvSpPr>
            <p:cNvPr id="29" name="Rectangle 29"/>
            <p:cNvSpPr/>
            <p:nvPr/>
          </p:nvSpPr>
          <p:spPr>
            <a:xfrm>
              <a:off x="609600" y="5905500"/>
              <a:ext cx="109728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65453" y="6055042"/>
              <a:ext cx="6461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层级不是展示顺序，而是治理边界：每一层都有独立语义、来源与审核责任。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50907" y="65593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72428"/>
            <a:ext cx="9794236" cy="680084"/>
            <a:chOff x="501015" y="372428"/>
            <a:chExt cx="9794236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72428"/>
              <a:ext cx="979423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全局架构以 Mirror KG 为安全中转，隔离自动提取与正式知识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39152"/>
              <a:ext cx="30090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六阶段治理漏斗 · 唯一正式写入口 · 全链路审计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57300"/>
            <a:ext cx="8305800" cy="4762500"/>
            <a:chOff x="533400" y="1257300"/>
            <a:chExt cx="8305800" cy="4762500"/>
          </a:xfrm>
        </p:grpSpPr>
        <p:sp>
          <p:nvSpPr>
            <p:cNvPr id="6" name="Rectangle 6"/>
            <p:cNvSpPr/>
            <p:nvPr/>
          </p:nvSpPr>
          <p:spPr>
            <a:xfrm>
              <a:off x="533400" y="1257300"/>
              <a:ext cx="8305800" cy="4762500"/>
            </a:xfrm>
            <a:prstGeom prst="roundRect">
              <a:avLst>
                <a:gd name="adj" fmla="val 1600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8725" y="1333500"/>
              <a:ext cx="6915150" cy="461010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666750" y="1466850"/>
            <a:ext cx="7553325" cy="290512"/>
            <a:chOff x="666750" y="1466850"/>
            <a:chExt cx="7553325" cy="290512"/>
          </a:xfrm>
        </p:grpSpPr>
        <p:sp>
          <p:nvSpPr>
            <p:cNvPr id="9" name="Rectangle 9"/>
            <p:cNvSpPr/>
            <p:nvPr/>
          </p:nvSpPr>
          <p:spPr>
            <a:xfrm>
              <a:off x="66675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1353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资源登记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95262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07228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批次导入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3850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93103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候选校验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2437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67952" y="1544002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提取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1025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0914" y="1544002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治理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9612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0728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审核晋升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05900" y="1257300"/>
            <a:ext cx="2552700" cy="2228850"/>
            <a:chOff x="9105900" y="1257300"/>
            <a:chExt cx="2552700" cy="2228850"/>
          </a:xfrm>
        </p:grpSpPr>
        <p:sp>
          <p:nvSpPr>
            <p:cNvPr id="22" name="Rectangle 22"/>
            <p:cNvSpPr/>
            <p:nvPr/>
          </p:nvSpPr>
          <p:spPr>
            <a:xfrm>
              <a:off x="9105900" y="1257300"/>
              <a:ext cx="2552700" cy="2228850"/>
            </a:xfrm>
            <a:prstGeom prst="roundRect">
              <a:avLst>
                <a:gd name="adj" fmla="val 341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640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写入边界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36405" y="1892618"/>
              <a:ext cx="17805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不得直接写 Final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36405" y="22355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不得自动审核或晋升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353550" y="26479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6405" y="2883218"/>
              <a:ext cx="1962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Promotion 是唯一入口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05900" y="3733800"/>
            <a:ext cx="2552700" cy="2286000"/>
            <a:chOff x="9105900" y="3733800"/>
            <a:chExt cx="2552700" cy="2286000"/>
          </a:xfrm>
        </p:grpSpPr>
        <p:sp>
          <p:nvSpPr>
            <p:cNvPr id="29" name="Rectangle 29"/>
            <p:cNvSpPr/>
            <p:nvPr/>
          </p:nvSpPr>
          <p:spPr>
            <a:xfrm>
              <a:off x="9105900" y="3733800"/>
              <a:ext cx="2552700" cy="2286000"/>
            </a:xfrm>
            <a:prstGeom prst="roundRect">
              <a:avLst>
                <a:gd name="adj" fmla="val 3333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36405" y="39690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Final KG 消费端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36405" y="43691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图谱探索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36405" y="4712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症状查询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36405" y="50549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数据中心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36405" y="53978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离线导出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22922" y="6483191"/>
              <a:ext cx="27327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Architecture semantics are editable SVG overlays.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8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05112" cy="680084"/>
            <a:chOff x="501015" y="391478"/>
            <a:chExt cx="920511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05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Import Batch 统一追踪异构图谱，同时保留独立解析链路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5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资源差异被隔离在解析器内，候选对象进入统一治理语义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504950"/>
            <a:ext cx="2095500" cy="2933700"/>
            <a:chOff x="533400" y="1504950"/>
            <a:chExt cx="2095500" cy="2933700"/>
          </a:xfrm>
        </p:grpSpPr>
        <p:sp>
          <p:nvSpPr>
            <p:cNvPr id="6" name="Rectangle 6"/>
            <p:cNvSpPr/>
            <p:nvPr/>
          </p:nvSpPr>
          <p:spPr>
            <a:xfrm>
              <a:off x="533400" y="1504950"/>
              <a:ext cx="2095500" cy="1333500"/>
            </a:xfrm>
            <a:prstGeom prst="roundRect">
              <a:avLst>
                <a:gd name="adj" fmla="val 5714"/>
              </a:avLst>
            </a:prstGeom>
            <a:solidFill>
              <a:srgbClr val="F4F7FA"/>
            </a:solidFill>
            <a:ln w="9525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8190" y="172974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AAL3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3905" y="21593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XML · 166 ROI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7715" y="2477452"/>
              <a:ext cx="6007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Consolas"/>
                  <a:ea typeface="Microsoft YaHei"/>
                  <a:cs typeface="Consolas"/>
                </a:rPr>
                <a:t>aal3_xml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3105150"/>
              <a:ext cx="2095500" cy="1333500"/>
            </a:xfrm>
            <a:prstGeom prst="roundRect">
              <a:avLst>
                <a:gd name="adj" fmla="val 5714"/>
              </a:avLst>
            </a:prstGeom>
            <a:solidFill>
              <a:srgbClr val="F4F7FA"/>
            </a:solidFill>
            <a:ln w="9525">
              <a:solidFill>
                <a:srgbClr val="DD6B2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8190" y="3329940"/>
              <a:ext cx="10664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Macro96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905" y="3759518"/>
              <a:ext cx="13034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Excel · 96 脑区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7715" y="4077652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Consolas"/>
                  <a:ea typeface="Microsoft YaHei"/>
                  <a:cs typeface="Consolas"/>
                </a:rPr>
                <a:t>macro96_xlsx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38500" y="1866900"/>
            <a:ext cx="1809750" cy="2571750"/>
            <a:chOff x="3238500" y="1866900"/>
            <a:chExt cx="1809750" cy="2571750"/>
          </a:xfrm>
        </p:grpSpPr>
        <p:sp>
          <p:nvSpPr>
            <p:cNvPr id="15" name="Rectangle 15"/>
            <p:cNvSpPr/>
            <p:nvPr/>
          </p:nvSpPr>
          <p:spPr>
            <a:xfrm>
              <a:off x="323850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38500" y="1866900"/>
              <a:ext cx="180975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39494" y="20259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资源登记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1860" y="2651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版本与校验和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51860" y="3032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来源标识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1860" y="34137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格式适配器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6710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41966" y="39824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Resource Record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6850" y="1866900"/>
            <a:ext cx="1809750" cy="2571750"/>
            <a:chOff x="5276850" y="1866900"/>
            <a:chExt cx="1809750" cy="2571750"/>
          </a:xfrm>
        </p:grpSpPr>
        <p:sp>
          <p:nvSpPr>
            <p:cNvPr id="24" name="Rectangle 24"/>
            <p:cNvSpPr/>
            <p:nvPr/>
          </p:nvSpPr>
          <p:spPr>
            <a:xfrm>
              <a:off x="527685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276850" y="1866900"/>
              <a:ext cx="1809750" cy="4762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36839" y="2025968"/>
              <a:ext cx="14897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Import Batch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0210" y="2651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批次状态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0210" y="3032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幂等控制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0210" y="3413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错误审计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0545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05282" y="3982402"/>
              <a:ext cx="952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Import Batch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15200" y="1866900"/>
            <a:ext cx="1809750" cy="2571750"/>
            <a:chOff x="7315200" y="1866900"/>
            <a:chExt cx="1809750" cy="2571750"/>
          </a:xfrm>
        </p:grpSpPr>
        <p:sp>
          <p:nvSpPr>
            <p:cNvPr id="33" name="Rectangle 33"/>
            <p:cNvSpPr/>
            <p:nvPr/>
          </p:nvSpPr>
          <p:spPr>
            <a:xfrm>
              <a:off x="731520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15200" y="1866900"/>
              <a:ext cx="1809750" cy="47625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92566" y="20259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独立解析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8560" y="2651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格式专属逻辑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8560" y="3032760"/>
              <a:ext cx="902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语义 ID 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8560" y="3413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完整溯源字段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54380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65685" y="39824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Parsed Rows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53550" y="1866900"/>
            <a:ext cx="2305050" cy="2571750"/>
            <a:chOff x="9353550" y="1866900"/>
            <a:chExt cx="2305050" cy="2571750"/>
          </a:xfrm>
        </p:grpSpPr>
        <p:sp>
          <p:nvSpPr>
            <p:cNvPr id="42" name="Rectangle 42"/>
            <p:cNvSpPr/>
            <p:nvPr/>
          </p:nvSpPr>
          <p:spPr>
            <a:xfrm>
              <a:off x="9353550" y="1866900"/>
              <a:ext cx="2305050" cy="2571750"/>
            </a:xfrm>
            <a:prstGeom prst="roundRect">
              <a:avLst>
                <a:gd name="adj" fmla="val 3306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10165" y="2124075"/>
              <a:ext cx="1791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Candidate Pool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85960" y="2689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跨批次统一候选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85960" y="3070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唯一索引与去重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85960" y="3451860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面向 LLM Pack 批处理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601200" y="3886200"/>
              <a:ext cx="1809750" cy="342900"/>
            </a:xfrm>
            <a:prstGeom prst="roundRect">
              <a:avLst>
                <a:gd name="adj" fmla="val 22222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45859" y="4001452"/>
              <a:ext cx="1320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Candidate Objects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628900" y="2171700"/>
            <a:ext cx="6667500" cy="1600200"/>
            <a:chOff x="2628900" y="2171700"/>
            <a:chExt cx="6667500" cy="1600200"/>
          </a:xfrm>
        </p:grpSpPr>
        <p:sp>
          <p:nvSpPr>
            <p:cNvPr id="50" name="Line 50"/>
            <p:cNvSpPr/>
            <p:nvPr/>
          </p:nvSpPr>
          <p:spPr>
            <a:xfrm>
              <a:off x="2628900" y="2171700"/>
              <a:ext cx="552450" cy="685800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 flipV="1">
              <a:off x="2628900" y="3333750"/>
              <a:ext cx="552450" cy="438150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504825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708660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912495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3238500" y="4857750"/>
            <a:ext cx="8420100" cy="952500"/>
            <a:chOff x="3238500" y="4857750"/>
            <a:chExt cx="8420100" cy="952500"/>
          </a:xfrm>
        </p:grpSpPr>
        <p:sp>
          <p:nvSpPr>
            <p:cNvPr id="56" name="Rectangle 56"/>
            <p:cNvSpPr/>
            <p:nvPr/>
          </p:nvSpPr>
          <p:spPr>
            <a:xfrm>
              <a:off x="3238500" y="4857750"/>
              <a:ext cx="8420100" cy="952500"/>
            </a:xfrm>
            <a:prstGeom prst="roundRect">
              <a:avLst>
                <a:gd name="adj" fmla="val 8000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07105" y="5093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关键设计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07105" y="5426392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解析链路可以不同，但批次、候选、溯源和幂等语义必须统一。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522922" y="6483191"/>
              <a:ext cx="26612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import pipeline implementation inventory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  <p:bldP spid="41" grpId="0"/>
      <p:bldP spid="49" grpId="0"/>
      <p:bldP spid="55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633841" cy="680084"/>
            <a:chOff x="501015" y="391478"/>
            <a:chExt cx="8633841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63384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确定性规则先拦截硬错误，再将疑难问题交给受控增强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规则负责判定，LLM 只生成建议，人工负责采纳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333500"/>
            <a:ext cx="5905500" cy="4476750"/>
            <a:chOff x="533400" y="1333500"/>
            <a:chExt cx="5905500" cy="4476750"/>
          </a:xfrm>
        </p:grpSpPr>
        <p:sp>
          <p:nvSpPr>
            <p:cNvPr id="6" name="Rectangle 6"/>
            <p:cNvSpPr/>
            <p:nvPr/>
          </p:nvSpPr>
          <p:spPr>
            <a:xfrm>
              <a:off x="533400" y="1333500"/>
              <a:ext cx="5905500" cy="4476750"/>
            </a:xfrm>
            <a:prstGeom prst="roundRect">
              <a:avLst>
                <a:gd name="adj" fmla="val 170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8190" y="1539240"/>
              <a:ext cx="184774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12 条确定性规则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81050" y="19240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055" y="22164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完整性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8355" y="22164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必填字段 · 数据类型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1055" y="2730818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语义 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8355" y="2730818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命名规范 · 可重复生成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055" y="32451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唯一性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8355" y="32451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候选键 · 重复记录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759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拓扑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8355" y="375951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自环 · 孤立 · 关系端点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55" y="42738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溯源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8355" y="427386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资源 · 批次 · 原始定位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1055" y="4788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78355" y="4788218"/>
              <a:ext cx="22485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引用 · 原始响应 · 模型信息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5238750"/>
              <a:ext cx="5410200" cy="381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62109" y="5356860"/>
              <a:ext cx="3248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Blocker 必须修复 · Warning 可带标记继续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2750" y="1333500"/>
            <a:ext cx="4895850" cy="1714500"/>
            <a:chOff x="6762750" y="1333500"/>
            <a:chExt cx="48958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6762750" y="1333500"/>
              <a:ext cx="489585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6590" y="1520190"/>
              <a:ext cx="17091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Quality Score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12305" y="198786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完整性 30% · 溯源 20% · 拓扑 20%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12305" y="2330768"/>
              <a:ext cx="1618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证据 20% · 关联 10%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29450" y="2686050"/>
              <a:ext cx="4362450" cy="171450"/>
            </a:xfrm>
            <a:prstGeom prst="rect">
              <a:avLst/>
            </a:prstGeom>
            <a:solidFill>
              <a:srgbClr val="CBD5D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29450" y="2686050"/>
              <a:ext cx="3486150" cy="1714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02265" y="25346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80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62750" y="3333750"/>
            <a:ext cx="4895850" cy="2476500"/>
            <a:chOff x="6762750" y="3333750"/>
            <a:chExt cx="4895850" cy="2476500"/>
          </a:xfrm>
        </p:grpSpPr>
        <p:sp>
          <p:nvSpPr>
            <p:cNvPr id="32" name="Polygon 32"/>
            <p:cNvSpPr/>
            <p:nvPr/>
          </p:nvSpPr>
          <p:spPr>
            <a:xfrm>
              <a:off x="7334250" y="3333750"/>
              <a:ext cx="2286000" cy="1333500"/>
            </a:xfrm>
            <a:custGeom>
              <a:avLst/>
              <a:gdLst/>
              <a:ahLst/>
              <a:cxnLst/>
              <a:rect l="l" t="t" r="r" b="b"/>
              <a:pathLst>
                <a:path w="2286000" h="1333500">
                  <a:moveTo>
                    <a:pt x="1143000" y="0"/>
                  </a:moveTo>
                  <a:lnTo>
                    <a:pt x="2286000" y="666750"/>
                  </a:lnTo>
                  <a:lnTo>
                    <a:pt x="1143000" y="133350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D6B2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35564" y="379761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Score ≥ 80?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3880" y="4077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规则通过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953625" y="3562350"/>
              <a:ext cx="1704975" cy="876300"/>
            </a:xfrm>
            <a:prstGeom prst="roundRect">
              <a:avLst>
                <a:gd name="adj" fmla="val 8696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95181" y="3759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67962" y="40776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进入提取队列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62750" y="4953000"/>
              <a:ext cx="2266950" cy="857250"/>
            </a:xfrm>
            <a:prstGeom prst="roundRect">
              <a:avLst>
                <a:gd name="adj" fmla="val 888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38075" y="5140642"/>
              <a:ext cx="516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Tier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80935" y="54425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确定性修复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391650" y="4953000"/>
              <a:ext cx="2266950" cy="857250"/>
            </a:xfrm>
            <a:prstGeom prst="roundRect">
              <a:avLst>
                <a:gd name="adj" fmla="val 888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43347" y="5140642"/>
              <a:ext cx="5635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Tier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61766" y="5442585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DeepSeek 建议 + 人工决策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22922" y="6483191"/>
              <a:ext cx="25787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validation and data enhancement engine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05112" cy="680084"/>
            <a:chOff x="501015" y="391478"/>
            <a:chExt cx="920511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05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Provider 抽象层统一双 LLM，七类能力均受粒度边界约束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41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DeepSeek 与 Kimi 共享接口，但不共享未经审核的结论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9250" y="1238250"/>
            <a:ext cx="7715250" cy="5143500"/>
            <a:chOff x="1619250" y="1238250"/>
            <a:chExt cx="7715250" cy="51435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250" y="1238250"/>
              <a:ext cx="7715250" cy="51435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514350" y="1238250"/>
            <a:ext cx="9963150" cy="4991100"/>
            <a:chOff x="514350" y="1238250"/>
            <a:chExt cx="9963150" cy="4991100"/>
          </a:xfrm>
        </p:grpSpPr>
        <p:sp>
          <p:nvSpPr>
            <p:cNvPr id="8" name="Rectangle 8"/>
            <p:cNvSpPr/>
            <p:nvPr/>
          </p:nvSpPr>
          <p:spPr>
            <a:xfrm>
              <a:off x="4857750" y="1238250"/>
              <a:ext cx="209550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17406" y="1343978"/>
              <a:ext cx="1776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DeepSeek / Kimi Provider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19431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2353" y="20488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连接提取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4350" y="325755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603" y="3363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功能提取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47625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45253" y="48682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回路提取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3800" y="59055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36053" y="60112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投射功能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43750" y="56388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46003" y="574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回路功能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1100" y="409575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03353" y="42014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回路步骤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67750" y="2266950"/>
              <a:ext cx="180975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97707" y="237267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三元组整合：确定性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96500" y="1428750"/>
            <a:ext cx="1640967" cy="4476750"/>
            <a:chOff x="10096500" y="1428750"/>
            <a:chExt cx="1640967" cy="4476750"/>
          </a:xfrm>
        </p:grpSpPr>
        <p:sp>
          <p:nvSpPr>
            <p:cNvPr id="25" name="Rectangle 25"/>
            <p:cNvSpPr/>
            <p:nvPr/>
          </p:nvSpPr>
          <p:spPr>
            <a:xfrm>
              <a:off x="10096500" y="1428750"/>
              <a:ext cx="1562100" cy="4476750"/>
            </a:xfrm>
            <a:prstGeom prst="roundRect">
              <a:avLst>
                <a:gd name="adj" fmla="val 4878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88905" y="1664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四条护栏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90810" y="2137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同粒度内提取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90810" y="259461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显式 Mapping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90810" y="3051810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API Key 后端化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0810" y="35090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Raw Response 留存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306050" y="4019550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90810" y="43091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模型输出是候选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0810" y="47282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规则与审核定稿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5" name="TextBox 35"/>
            <p:cNvSpPr txBox="1"/>
            <p:nvPr/>
          </p:nvSpPr>
          <p:spPr>
            <a:xfrm>
              <a:off x="522922" y="6483191"/>
              <a:ext cx="37834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Seven extraction capabilities share one controlled provider boundary.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10079872" cy="680084"/>
            <a:chOff x="501015" y="391478"/>
            <a:chExt cx="1007987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100798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Pack 化编排控制成本与可恢复性，确定性转换负责写入 Mirror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4101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LLM 生成 raw response；llm_to_mirror 承担结构化与写入责任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8162" y="1200150"/>
            <a:ext cx="8086725" cy="5391150"/>
            <a:chOff x="538162" y="1200150"/>
            <a:chExt cx="8086725" cy="53911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62" y="1200150"/>
              <a:ext cx="8086725" cy="539115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066800" y="1504950"/>
            <a:ext cx="6915150" cy="323850"/>
            <a:chOff x="1066800" y="1504950"/>
            <a:chExt cx="6915150" cy="323850"/>
          </a:xfrm>
        </p:grpSpPr>
        <p:sp>
          <p:nvSpPr>
            <p:cNvPr id="8" name="Rectangle 8"/>
            <p:cNvSpPr/>
            <p:nvPr/>
          </p:nvSpPr>
          <p:spPr>
            <a:xfrm>
              <a:off x="10668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9268" y="1610678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连接 + 功能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956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18068" y="1610678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 + 步骤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244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131403" y="16106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投射提取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5532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86694" y="16106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三元组整合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96350" y="1295400"/>
            <a:ext cx="2777157" cy="2343150"/>
            <a:chOff x="8896350" y="1295400"/>
            <a:chExt cx="2777157" cy="2343150"/>
          </a:xfrm>
        </p:grpSpPr>
        <p:sp>
          <p:nvSpPr>
            <p:cNvPr id="17" name="Rectangle 17"/>
            <p:cNvSpPr/>
            <p:nvPr/>
          </p:nvSpPr>
          <p:spPr>
            <a:xfrm>
              <a:off x="8896350" y="1295400"/>
              <a:ext cx="2762250" cy="2343150"/>
            </a:xfrm>
            <a:prstGeom prst="roundRect">
              <a:avLst>
                <a:gd name="adj" fmla="val 325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44000" y="1514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运行控制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45905" y="1968818"/>
              <a:ext cx="17805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pairs_per_pack = 20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45905" y="2330768"/>
              <a:ext cx="25276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Dry Run：pack / token / 费用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45905" y="2692718"/>
              <a:ext cx="11414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Skip Existing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5905" y="305466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暂停 · 取消 · 恢复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96350" y="3905250"/>
            <a:ext cx="2762250" cy="2190750"/>
            <a:chOff x="8896350" y="3905250"/>
            <a:chExt cx="2762250" cy="2190750"/>
          </a:xfrm>
        </p:grpSpPr>
        <p:sp>
          <p:nvSpPr>
            <p:cNvPr id="24" name="Rectangle 24"/>
            <p:cNvSpPr/>
            <p:nvPr/>
          </p:nvSpPr>
          <p:spPr>
            <a:xfrm>
              <a:off x="8896350" y="3905250"/>
              <a:ext cx="2762250" cy="2190750"/>
            </a:xfrm>
            <a:prstGeom prst="roundRect">
              <a:avLst>
                <a:gd name="adj" fmla="val 3478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44000" y="41433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写入链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9715" y="464915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llm_extraction_runs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9715" y="49920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llm_extraction_items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49715" y="5334952"/>
              <a:ext cx="978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8A169"/>
                  </a:solidFill>
                  <a:latin typeface="Consolas"/>
                  <a:ea typeface="Microsoft YaHei"/>
                  <a:cs typeface="Consolas"/>
                </a:rPr>
                <a:t>llm_to_mirror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47810" y="5661660"/>
              <a:ext cx="12386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→ 8 张 Mirror 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522922" y="6578441"/>
              <a:ext cx="35413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Raw responses remain auditable before deterministic conversion.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23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10044167" cy="680084"/>
            <a:chOff x="501015" y="391478"/>
            <a:chExt cx="10044167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1004416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Mirror KG 在正式知识之前完成去重、模型共识与结构交叉验证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它不是临时表，而是承担治理责任的安全域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352550"/>
            <a:ext cx="11125200" cy="4552950"/>
            <a:chOff x="533400" y="1352550"/>
            <a:chExt cx="11125200" cy="4552950"/>
          </a:xfrm>
        </p:grpSpPr>
        <p:sp>
          <p:nvSpPr>
            <p:cNvPr id="6" name="Rectangle 6"/>
            <p:cNvSpPr/>
            <p:nvPr/>
          </p:nvSpPr>
          <p:spPr>
            <a:xfrm>
              <a:off x="533400" y="1352550"/>
              <a:ext cx="11125200" cy="4552950"/>
            </a:xfrm>
            <a:prstGeom prst="roundRect">
              <a:avLst>
                <a:gd name="adj" fmla="val 1674"/>
              </a:avLst>
            </a:prstGeom>
            <a:solidFill>
              <a:srgbClr val="F4F7FA"/>
            </a:solidFill>
            <a:ln w="19050">
              <a:solidFill>
                <a:srgbClr val="3182CE"/>
              </a:solidFill>
              <a:prstDash val="lgDash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854207" y="1546860"/>
              <a:ext cx="2483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MIRROR KG GOVERNANCE DOMAIN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9150" y="2000250"/>
            <a:ext cx="3238500" cy="3333750"/>
            <a:chOff x="819150" y="2000250"/>
            <a:chExt cx="3238500" cy="3333750"/>
          </a:xfrm>
        </p:grpSpPr>
        <p:sp>
          <p:nvSpPr>
            <p:cNvPr id="9" name="Rectangle 9"/>
            <p:cNvSpPr/>
            <p:nvPr/>
          </p:nvSpPr>
          <p:spPr>
            <a:xfrm>
              <a:off x="8191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19150" y="2000250"/>
              <a:ext cx="3238500" cy="5524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2469" y="2174558"/>
              <a:ext cx="20518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Canonical Key 去重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7755" y="28641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写入时生成规范键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755" y="3283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高置信度记录胜出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7755" y="37023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双溯源同时保留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104900" y="4171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9660" y="4461510"/>
              <a:ext cx="19291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已审核 / 已晋升 / 跨粒度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9660" y="47853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永不自动合并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76750" y="2000250"/>
            <a:ext cx="3238500" cy="3333750"/>
            <a:chOff x="4476750" y="2000250"/>
            <a:chExt cx="3238500" cy="3333750"/>
          </a:xfrm>
        </p:grpSpPr>
        <p:sp>
          <p:nvSpPr>
            <p:cNvPr id="19" name="Rectangle 19"/>
            <p:cNvSpPr/>
            <p:nvPr/>
          </p:nvSpPr>
          <p:spPr>
            <a:xfrm>
              <a:off x="44767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6750" y="2000250"/>
              <a:ext cx="3238500" cy="5524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97473" y="21745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5355" y="2864168"/>
              <a:ext cx="16004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DeepSeek 独立复核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5355" y="3283268"/>
              <a:ext cx="11504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Kimi 独立复核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0" y="3829050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41008" y="4004310"/>
              <a:ext cx="8621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consensus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10300" y="3829050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7019" y="4004310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conflict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47260" y="46329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共识：加速人工审核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47260" y="4937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冲突：升级专家处理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4350" y="2000250"/>
            <a:ext cx="3238500" cy="3333750"/>
            <a:chOff x="8134350" y="2000250"/>
            <a:chExt cx="3238500" cy="3333750"/>
          </a:xfrm>
        </p:grpSpPr>
        <p:sp>
          <p:nvSpPr>
            <p:cNvPr id="31" name="Rectangle 31"/>
            <p:cNvSpPr/>
            <p:nvPr/>
          </p:nvSpPr>
          <p:spPr>
            <a:xfrm>
              <a:off x="81343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34350" y="2000250"/>
              <a:ext cx="3238500" cy="5524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9558" y="21745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结构交叉验证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02955" y="286416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回路 → 步骤 → 投射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2955" y="32832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投射 → 回路反查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420100" y="37719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02955" y="40833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检查顺序完整性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02955" y="44834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检查端点一致性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2955" y="48834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检查跨表引用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6096000"/>
            <a:ext cx="11125200" cy="381000"/>
            <a:chOff x="533400" y="6096000"/>
            <a:chExt cx="111252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33400" y="6096000"/>
              <a:ext cx="11125200" cy="381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884356" y="6197918"/>
              <a:ext cx="64232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的价值：允许自动化高吞吐，同时把不可逆错误挡在 Final KG 之外。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527107" y="66355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30" grpId="0"/>
      <p:bldP spid="40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276796" cy="680084"/>
            <a:chOff x="501015" y="391478"/>
            <a:chExt cx="8276796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三道闸门缺一不可：规则提效、模型复核、专家终审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任何单点通过都不能替代完整治理链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3400" y="1298575"/>
            <a:ext cx="7620000" cy="5080000"/>
            <a:chOff x="533400" y="1298575"/>
            <a:chExt cx="7620000" cy="5080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298575"/>
              <a:ext cx="7620000" cy="5080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62000" y="1524000"/>
            <a:ext cx="6972300" cy="857250"/>
            <a:chOff x="762000" y="1524000"/>
            <a:chExt cx="6972300" cy="857250"/>
          </a:xfrm>
        </p:grpSpPr>
        <p:sp>
          <p:nvSpPr>
            <p:cNvPr id="8" name="Polygon 8"/>
            <p:cNvSpPr/>
            <p:nvPr/>
          </p:nvSpPr>
          <p:spPr>
            <a:xfrm>
              <a:off x="762000" y="1524000"/>
              <a:ext cx="2152650" cy="857250"/>
            </a:xfrm>
            <a:custGeom>
              <a:avLst/>
              <a:gdLst/>
              <a:ahLst/>
              <a:cxnLst/>
              <a:rect l="l" t="t" r="r" b="b"/>
              <a:pathLst>
                <a:path w="2152650" h="857250">
                  <a:moveTo>
                    <a:pt x="0" y="0"/>
                  </a:moveTo>
                  <a:lnTo>
                    <a:pt x="1809750" y="0"/>
                  </a:lnTo>
                  <a:lnTo>
                    <a:pt x="2152650" y="428625"/>
                  </a:lnTo>
                  <a:lnTo>
                    <a:pt x="18097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1537" y="1740218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1 · 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227" y="20202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12 条确定性校验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971800" y="15240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43100" y="0"/>
                  </a:lnTo>
                  <a:lnTo>
                    <a:pt x="2286000" y="428625"/>
                  </a:lnTo>
                  <a:lnTo>
                    <a:pt x="1943100" y="857250"/>
                  </a:lnTo>
                  <a:lnTo>
                    <a:pt x="0" y="857250"/>
                  </a:lnTo>
                  <a:lnTo>
                    <a:pt x="342900" y="428625"/>
                  </a:lnTo>
                  <a:close/>
                </a:path>
              </a:pathLst>
            </a:cu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30584" y="17402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2 · 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1421" y="20202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5314950" y="1524000"/>
              <a:ext cx="2419350" cy="857250"/>
            </a:xfrm>
            <a:custGeom>
              <a:avLst/>
              <a:gdLst/>
              <a:ahLst/>
              <a:cxnLst/>
              <a:rect l="l" t="t" r="r" b="b"/>
              <a:pathLst>
                <a:path w="2419350" h="857250">
                  <a:moveTo>
                    <a:pt x="0" y="0"/>
                  </a:moveTo>
                  <a:lnTo>
                    <a:pt x="2076450" y="0"/>
                  </a:lnTo>
                  <a:lnTo>
                    <a:pt x="2419350" y="428625"/>
                  </a:lnTo>
                  <a:lnTo>
                    <a:pt x="2076450" y="857250"/>
                  </a:lnTo>
                  <a:lnTo>
                    <a:pt x="0" y="857250"/>
                  </a:lnTo>
                  <a:lnTo>
                    <a:pt x="342900" y="428625"/>
                  </a:ln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40409" y="17402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3 · 专家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1255" y="2020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人工终审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58200" y="1333500"/>
            <a:ext cx="3200400" cy="4705350"/>
            <a:chOff x="8458200" y="1333500"/>
            <a:chExt cx="3200400" cy="4705350"/>
          </a:xfrm>
        </p:grpSpPr>
        <p:sp>
          <p:nvSpPr>
            <p:cNvPr id="18" name="Rectangle 18"/>
            <p:cNvSpPr/>
            <p:nvPr/>
          </p:nvSpPr>
          <p:spPr>
            <a:xfrm>
              <a:off x="8458200" y="13335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5850" y="1552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规则闸门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7755" y="1949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Blocker：修复后重试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7755" y="2292668"/>
              <a:ext cx="17985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Warning：带标记继续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58200" y="29718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05850" y="3190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模型闸门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7755" y="3588068"/>
              <a:ext cx="18255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consensus：绿色通道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7755" y="3930968"/>
              <a:ext cx="1636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conflict：升级处理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58200" y="46101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05850" y="48291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专家闸门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7755" y="52263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approve / reject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7755" y="5569268"/>
              <a:ext cx="1519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request_changes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522922" y="6578441"/>
              <a:ext cx="24192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All three gates must pass before promotion.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704975" cy="680084"/>
            <a:chOff x="501015" y="391478"/>
            <a:chExt cx="970497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7049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Promotion 是唯一正式写入口，Schema 级隔离保护粒度语义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869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预览 → 强确认 → 执行；每次晋升都有审计记录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8162" y="1181100"/>
            <a:ext cx="8086725" cy="5391150"/>
            <a:chOff x="538162" y="1181100"/>
            <a:chExt cx="8086725" cy="53911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62" y="1181100"/>
              <a:ext cx="8086725" cy="539115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2266950" y="1333500"/>
            <a:ext cx="5981700" cy="3276600"/>
            <a:chOff x="2266950" y="1333500"/>
            <a:chExt cx="5981700" cy="3276600"/>
          </a:xfrm>
        </p:grpSpPr>
        <p:sp>
          <p:nvSpPr>
            <p:cNvPr id="8" name="Rectangle 8"/>
            <p:cNvSpPr/>
            <p:nvPr/>
          </p:nvSpPr>
          <p:spPr>
            <a:xfrm>
              <a:off x="2266950" y="133350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97234" y="1439228"/>
              <a:ext cx="4121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实体：BrainRegion · Function · Circuit · Step · Projection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66950" y="287655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71856" y="2982278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关系：12 种标准谓词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66950" y="428625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0566" y="4391978"/>
              <a:ext cx="1614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查询：final_kg_triples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96350" y="1295400"/>
            <a:ext cx="2762250" cy="1924050"/>
            <a:chOff x="8896350" y="1295400"/>
            <a:chExt cx="2762250" cy="1924050"/>
          </a:xfrm>
        </p:grpSpPr>
        <p:sp>
          <p:nvSpPr>
            <p:cNvPr id="15" name="Rectangle 15"/>
            <p:cNvSpPr/>
            <p:nvPr/>
          </p:nvSpPr>
          <p:spPr>
            <a:xfrm>
              <a:off x="8896350" y="1295400"/>
              <a:ext cx="2762250" cy="1924050"/>
            </a:xfrm>
            <a:prstGeom prst="roundRect">
              <a:avLst>
                <a:gd name="adj" fmla="val 396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44000" y="1514475"/>
              <a:ext cx="1067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Promotion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45905" y="19497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预览映射结果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45905" y="23117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 强确认写入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45905" y="2673668"/>
              <a:ext cx="14204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写 8 表 + 审计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96350" y="3467100"/>
            <a:ext cx="2762250" cy="2628900"/>
            <a:chOff x="8896350" y="3467100"/>
            <a:chExt cx="2762250" cy="2628900"/>
          </a:xfrm>
        </p:grpSpPr>
        <p:sp>
          <p:nvSpPr>
            <p:cNvPr id="21" name="Rectangle 21"/>
            <p:cNvSpPr/>
            <p:nvPr/>
          </p:nvSpPr>
          <p:spPr>
            <a:xfrm>
              <a:off x="8896350" y="3467100"/>
              <a:ext cx="2762250" cy="2628900"/>
            </a:xfrm>
            <a:prstGeom prst="roundRect">
              <a:avLst>
                <a:gd name="adj" fmla="val 2899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44000" y="368617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五层 Schema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7810" y="4137660"/>
              <a:ext cx="5025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macro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47810" y="4480560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meso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47810" y="4823460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sub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7810" y="5166360"/>
              <a:ext cx="3425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fine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7810" y="5509260"/>
              <a:ext cx="7745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molecular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096500" y="4171950"/>
              <a:ext cx="1295400" cy="15049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DD6B2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89810" y="44205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跨粒度仅允许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3310" y="4763452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exact_match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1331" y="50682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part_of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40329" y="5373052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overlaps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34" name="TextBox 34"/>
            <p:cNvSpPr txBox="1"/>
            <p:nvPr/>
          </p:nvSpPr>
          <p:spPr>
            <a:xfrm>
              <a:off x="522922" y="6578441"/>
              <a:ext cx="41024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Schema isolation is a semantic safety boundary, not a storage convenience.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82114" y="6578441"/>
              <a:ext cx="869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0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723102" cy="680084"/>
            <a:chOff x="501015" y="391478"/>
            <a:chExt cx="872310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7231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每个 Final KG 事实都能沿八步链路回到原始脑图谱资源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消费能力建立在可解释、可追责的数据血缘之上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257300"/>
            <a:ext cx="11125200" cy="990600"/>
            <a:chOff x="533400" y="1257300"/>
            <a:chExt cx="11125200" cy="990600"/>
          </a:xfrm>
        </p:grpSpPr>
        <p:sp>
          <p:nvSpPr>
            <p:cNvPr id="6" name="Rectangle 6"/>
            <p:cNvSpPr/>
            <p:nvPr/>
          </p:nvSpPr>
          <p:spPr>
            <a:xfrm>
              <a:off x="533400" y="1257300"/>
              <a:ext cx="11125200" cy="990600"/>
            </a:xfrm>
            <a:prstGeom prst="roundRect">
              <a:avLst>
                <a:gd name="adj" fmla="val 769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390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知识消费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68855" y="14925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图谱探索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8605" y="14925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症状查询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8355" y="14925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四阶段数据中心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74355" y="1492568"/>
              <a:ext cx="2140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JSONL / CSV / Neo4j 导出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7715" y="188690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所有入口使用同一 Final KG 查询面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3143250"/>
            <a:ext cx="10096500" cy="2667000"/>
            <a:chOff x="857250" y="3143250"/>
            <a:chExt cx="10096500" cy="2667000"/>
          </a:xfrm>
        </p:grpSpPr>
        <p:sp>
          <p:nvSpPr>
            <p:cNvPr id="14" name="Freeform 14"/>
            <p:cNvSpPr/>
            <p:nvPr/>
          </p:nvSpPr>
          <p:spPr>
            <a:xfrm>
              <a:off x="857250" y="3143250"/>
              <a:ext cx="10096500" cy="2667000"/>
            </a:xfrm>
            <a:custGeom>
              <a:avLst/>
              <a:gdLst/>
              <a:ahLst/>
              <a:cxnLst/>
              <a:rect l="l" t="t" r="r" b="b"/>
              <a:pathLst>
                <a:path w="10096500" h="2667000">
                  <a:moveTo>
                    <a:pt x="666750" y="0"/>
                  </a:moveTo>
                  <a:lnTo>
                    <a:pt x="9429750" y="0"/>
                  </a:lnTo>
                  <a:cubicBezTo>
                    <a:pt x="9797986" y="0"/>
                    <a:pt x="10096500" y="298514"/>
                    <a:pt x="10096500" y="666750"/>
                  </a:cubicBezTo>
                  <a:cubicBezTo>
                    <a:pt x="10096500" y="1034986"/>
                    <a:pt x="9797986" y="1333500"/>
                    <a:pt x="9429750" y="1333500"/>
                  </a:cubicBezTo>
                  <a:lnTo>
                    <a:pt x="666750" y="1333500"/>
                  </a:lnTo>
                  <a:cubicBezTo>
                    <a:pt x="298514" y="1333500"/>
                    <a:pt x="0" y="1632014"/>
                    <a:pt x="0" y="2000250"/>
                  </a:cubicBezTo>
                  <a:cubicBezTo>
                    <a:pt x="0" y="2368486"/>
                    <a:pt x="298514" y="2667000"/>
                    <a:pt x="666750" y="2667000"/>
                  </a:cubicBezTo>
                  <a:lnTo>
                    <a:pt x="9429750" y="2667000"/>
                  </a:lnTo>
                </a:path>
              </a:pathLst>
            </a:custGeom>
            <a:noFill/>
            <a:ln w="285750" cap="rnd">
              <a:solidFill>
                <a:srgbClr val="F4F7F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57250" y="3143250"/>
              <a:ext cx="10096500" cy="2667000"/>
            </a:xfrm>
            <a:custGeom>
              <a:avLst/>
              <a:gdLst/>
              <a:ahLst/>
              <a:cxnLst/>
              <a:rect l="l" t="t" r="r" b="b"/>
              <a:pathLst>
                <a:path w="10096500" h="2667000">
                  <a:moveTo>
                    <a:pt x="666750" y="0"/>
                  </a:moveTo>
                  <a:lnTo>
                    <a:pt x="9429750" y="0"/>
                  </a:lnTo>
                  <a:cubicBezTo>
                    <a:pt x="9797986" y="0"/>
                    <a:pt x="10096500" y="298514"/>
                    <a:pt x="10096500" y="666750"/>
                  </a:cubicBezTo>
                  <a:cubicBezTo>
                    <a:pt x="10096500" y="1034986"/>
                    <a:pt x="9797986" y="1333500"/>
                    <a:pt x="9429750" y="1333500"/>
                  </a:cubicBezTo>
                  <a:lnTo>
                    <a:pt x="666750" y="1333500"/>
                  </a:lnTo>
                  <a:cubicBezTo>
                    <a:pt x="298514" y="1333500"/>
                    <a:pt x="0" y="1632014"/>
                    <a:pt x="0" y="2000250"/>
                  </a:cubicBezTo>
                  <a:cubicBezTo>
                    <a:pt x="0" y="2368486"/>
                    <a:pt x="298514" y="2667000"/>
                    <a:pt x="666750" y="2667000"/>
                  </a:cubicBezTo>
                  <a:lnTo>
                    <a:pt x="9429750" y="2667000"/>
                  </a:lnTo>
                </a:path>
              </a:pathLst>
            </a:custGeom>
            <a:noFill/>
            <a:ln w="28575" cap="rnd">
              <a:solidFill>
                <a:srgbClr val="3182CE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09710" y="2594610"/>
            <a:ext cx="828580" cy="834390"/>
            <a:chOff x="1109710" y="2594610"/>
            <a:chExt cx="828580" cy="834390"/>
          </a:xfrm>
        </p:grpSpPr>
        <p:sp>
          <p:nvSpPr>
            <p:cNvPr id="17" name="Ellipse 17"/>
            <p:cNvSpPr/>
            <p:nvPr/>
          </p:nvSpPr>
          <p:spPr>
            <a:xfrm>
              <a:off x="1238250" y="2857500"/>
              <a:ext cx="571500" cy="5715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78501" y="3073718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9710" y="2594610"/>
              <a:ext cx="828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Final fact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64109" y="2594610"/>
            <a:ext cx="853783" cy="834390"/>
            <a:chOff x="3764109" y="2594610"/>
            <a:chExt cx="853783" cy="834390"/>
          </a:xfrm>
        </p:grpSpPr>
        <p:sp>
          <p:nvSpPr>
            <p:cNvPr id="21" name="Ellipse 21"/>
            <p:cNvSpPr/>
            <p:nvPr/>
          </p:nvSpPr>
          <p:spPr>
            <a:xfrm>
              <a:off x="3905250" y="2857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21874" y="3073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64109" y="2594610"/>
              <a:ext cx="853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Promotion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69726" y="2594610"/>
            <a:ext cx="576548" cy="834390"/>
            <a:chOff x="6569726" y="2594610"/>
            <a:chExt cx="576548" cy="834390"/>
          </a:xfrm>
        </p:grpSpPr>
        <p:sp>
          <p:nvSpPr>
            <p:cNvPr id="25" name="Ellipse 25"/>
            <p:cNvSpPr/>
            <p:nvPr/>
          </p:nvSpPr>
          <p:spPr>
            <a:xfrm>
              <a:off x="6572250" y="2857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8874" y="3073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9726" y="2594610"/>
              <a:ext cx="576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10710" y="2594610"/>
            <a:ext cx="828580" cy="834390"/>
            <a:chOff x="9110710" y="2594610"/>
            <a:chExt cx="828580" cy="834390"/>
          </a:xfrm>
        </p:grpSpPr>
        <p:sp>
          <p:nvSpPr>
            <p:cNvPr id="29" name="Ellipse 29"/>
            <p:cNvSpPr/>
            <p:nvPr/>
          </p:nvSpPr>
          <p:spPr>
            <a:xfrm>
              <a:off x="9239250" y="2857500"/>
              <a:ext cx="571500" cy="571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55874" y="3073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10710" y="2594610"/>
              <a:ext cx="828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Validation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72379" y="4191000"/>
            <a:ext cx="1324242" cy="914400"/>
            <a:chOff x="8672379" y="4191000"/>
            <a:chExt cx="1324242" cy="914400"/>
          </a:xfrm>
        </p:grpSpPr>
        <p:sp>
          <p:nvSpPr>
            <p:cNvPr id="33" name="Ellipse 33"/>
            <p:cNvSpPr/>
            <p:nvPr/>
          </p:nvSpPr>
          <p:spPr>
            <a:xfrm>
              <a:off x="9048750" y="4191000"/>
              <a:ext cx="571500" cy="571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5374" y="4407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72379" y="4861560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Extraction item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81750" y="4191000"/>
            <a:ext cx="571500" cy="914400"/>
            <a:chOff x="6381750" y="4191000"/>
            <a:chExt cx="571500" cy="914400"/>
          </a:xfrm>
        </p:grpSpPr>
        <p:sp>
          <p:nvSpPr>
            <p:cNvPr id="37" name="Ellipse 37"/>
            <p:cNvSpPr/>
            <p:nvPr/>
          </p:nvSpPr>
          <p:spPr>
            <a:xfrm>
              <a:off x="6381750" y="41910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8374" y="4407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3643" y="486156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Run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590411" y="4191000"/>
            <a:ext cx="820179" cy="914400"/>
            <a:chOff x="3590411" y="4191000"/>
            <a:chExt cx="820179" cy="914400"/>
          </a:xfrm>
        </p:grpSpPr>
        <p:sp>
          <p:nvSpPr>
            <p:cNvPr id="41" name="Ellipse 41"/>
            <p:cNvSpPr/>
            <p:nvPr/>
          </p:nvSpPr>
          <p:spPr>
            <a:xfrm>
              <a:off x="3714750" y="41910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31374" y="4407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90411" y="486156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9968" y="5524500"/>
            <a:ext cx="1509065" cy="895350"/>
            <a:chOff x="959968" y="5524500"/>
            <a:chExt cx="1509065" cy="895350"/>
          </a:xfrm>
        </p:grpSpPr>
        <p:sp>
          <p:nvSpPr>
            <p:cNvPr id="45" name="Ellipse 45"/>
            <p:cNvSpPr/>
            <p:nvPr/>
          </p:nvSpPr>
          <p:spPr>
            <a:xfrm>
              <a:off x="1428750" y="5524500"/>
              <a:ext cx="571500" cy="5715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45374" y="5740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9968" y="6176010"/>
              <a:ext cx="1509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Import / Resource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29250" y="5429250"/>
            <a:ext cx="5619750" cy="762000"/>
            <a:chOff x="5429250" y="5429250"/>
            <a:chExt cx="5619750" cy="762000"/>
          </a:xfrm>
        </p:grpSpPr>
        <p:sp>
          <p:nvSpPr>
            <p:cNvPr id="49" name="Rectangle 49"/>
            <p:cNvSpPr/>
            <p:nvPr/>
          </p:nvSpPr>
          <p:spPr>
            <a:xfrm>
              <a:off x="5429250" y="5429250"/>
              <a:ext cx="5619750" cy="762000"/>
            </a:xfrm>
            <a:prstGeom prst="roundRect">
              <a:avLst>
                <a:gd name="adj" fmla="val 10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7855" y="5607368"/>
              <a:ext cx="4400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保留：原始响应 · 模型 · Prompt · 批次 · 资源标识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01665" y="592550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溯源不是日志附属品，而是每个知识事实的组成部分。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554611" y="66165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0" grpId="0"/>
      <p:bldP spid="24" grpId="0"/>
      <p:bldP spid="28" grpId="0"/>
      <p:bldP spid="32" grpId="0"/>
      <p:bldP spid="36" grpId="0"/>
      <p:bldP spid="40" grpId="0"/>
      <p:bldP spid="44" grpId="0"/>
      <p:bldP spid="48" grpId="0"/>
      <p:bldP spid="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22965" cy="680084"/>
            <a:chOff x="501015" y="391478"/>
            <a:chExt cx="922296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2296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六项创新共同把 LLM 从“知识裁判”降级为“受控提取工具”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可信来自系统治理，而不是单一模型能力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5900" y="1371600"/>
            <a:ext cx="9525" cy="4686300"/>
            <a:chOff x="1485900" y="1371600"/>
            <a:chExt cx="9525" cy="4686300"/>
          </a:xfrm>
        </p:grpSpPr>
        <p:sp>
          <p:nvSpPr>
            <p:cNvPr id="6" name="Line 6"/>
            <p:cNvSpPr/>
            <p:nvPr/>
          </p:nvSpPr>
          <p:spPr>
            <a:xfrm>
              <a:off x="1485900" y="1371600"/>
              <a:ext cx="9525" cy="4686300"/>
            </a:xfrm>
            <a:custGeom>
              <a:avLst/>
              <a:gdLst/>
              <a:ahLst/>
              <a:cxnLst/>
              <a:rect l="l" t="t" r="r" b="b"/>
              <a:pathLst>
                <a:path w="9525" h="4686300">
                  <a:moveTo>
                    <a:pt x="0" y="0"/>
                  </a:moveTo>
                  <a:lnTo>
                    <a:pt x="0" y="4686300"/>
                  </a:lnTo>
                </a:path>
              </a:pathLst>
            </a:custGeom>
            <a:noFill/>
            <a:ln w="38100">
              <a:solidFill>
                <a:srgbClr val="3182CE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1390650"/>
            <a:ext cx="4368546" cy="590550"/>
            <a:chOff x="1257300" y="1390650"/>
            <a:chExt cx="4368546" cy="590550"/>
          </a:xfrm>
        </p:grpSpPr>
        <p:sp>
          <p:nvSpPr>
            <p:cNvPr id="8" name="Ellipse 8"/>
            <p:cNvSpPr/>
            <p:nvPr/>
          </p:nvSpPr>
          <p:spPr>
            <a:xfrm>
              <a:off x="1257300" y="1390650"/>
              <a:ext cx="457200" cy="4572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5457" y="1556385"/>
              <a:ext cx="80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41195" y="14220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分层漏斗治理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6910" y="1737360"/>
              <a:ext cx="36789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候选、校验、提取、Mirror、审核、Final 各司其职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7300" y="2247900"/>
            <a:ext cx="3648320" cy="590550"/>
            <a:chOff x="1257300" y="2247900"/>
            <a:chExt cx="3648320" cy="590550"/>
          </a:xfrm>
        </p:grpSpPr>
        <p:sp>
          <p:nvSpPr>
            <p:cNvPr id="13" name="Ellipse 13"/>
            <p:cNvSpPr/>
            <p:nvPr/>
          </p:nvSpPr>
          <p:spPr>
            <a:xfrm>
              <a:off x="1257300" y="2247900"/>
              <a:ext cx="457200" cy="4572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4454" y="24136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1195" y="2279332"/>
              <a:ext cx="29644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Mirror KG 与 Canonical Key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6910" y="25946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把自动化高吞吐与正式知识安全隔离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7300" y="3105150"/>
            <a:ext cx="3440430" cy="590550"/>
            <a:chOff x="1257300" y="3105150"/>
            <a:chExt cx="3440430" cy="590550"/>
          </a:xfrm>
        </p:grpSpPr>
        <p:sp>
          <p:nvSpPr>
            <p:cNvPr id="18" name="Ellipse 18"/>
            <p:cNvSpPr/>
            <p:nvPr/>
          </p:nvSpPr>
          <p:spPr>
            <a:xfrm>
              <a:off x="1257300" y="3105150"/>
              <a:ext cx="457200" cy="4572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24454" y="32708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1195" y="31365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6910" y="34518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共识加速、冲突升级，避免单模型自证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7300" y="3962400"/>
            <a:ext cx="4312539" cy="590550"/>
            <a:chOff x="1257300" y="3962400"/>
            <a:chExt cx="4312539" cy="590550"/>
          </a:xfrm>
        </p:grpSpPr>
        <p:sp>
          <p:nvSpPr>
            <p:cNvPr id="23" name="Ellipse 23"/>
            <p:cNvSpPr/>
            <p:nvPr/>
          </p:nvSpPr>
          <p:spPr>
            <a:xfrm>
              <a:off x="1257300" y="3962400"/>
              <a:ext cx="457200" cy="4572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4454" y="4128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41195" y="3993832"/>
              <a:ext cx="20749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Tier 1 + Tier 2 增强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6910" y="4309110"/>
              <a:ext cx="3622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确定性修复与 LLM 建议分离，建议必须经人工采纳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57300" y="4819650"/>
            <a:ext cx="4240530" cy="590550"/>
            <a:chOff x="1257300" y="4819650"/>
            <a:chExt cx="4240530" cy="590550"/>
          </a:xfrm>
        </p:grpSpPr>
        <p:sp>
          <p:nvSpPr>
            <p:cNvPr id="28" name="Ellipse 28"/>
            <p:cNvSpPr/>
            <p:nvPr/>
          </p:nvSpPr>
          <p:spPr>
            <a:xfrm>
              <a:off x="1257300" y="4819650"/>
              <a:ext cx="457200" cy="4572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24454" y="49853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1195" y="48510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七步全链路溯源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46910" y="51663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每个正式事实都可回到模型响应、候选与原始资源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7300" y="5676900"/>
            <a:ext cx="4224528" cy="590550"/>
            <a:chOff x="1257300" y="5676900"/>
            <a:chExt cx="4224528" cy="590550"/>
          </a:xfrm>
        </p:grpSpPr>
        <p:sp>
          <p:nvSpPr>
            <p:cNvPr id="33" name="Ellipse 33"/>
            <p:cNvSpPr/>
            <p:nvPr/>
          </p:nvSpPr>
          <p:spPr>
            <a:xfrm>
              <a:off x="1257300" y="5676900"/>
              <a:ext cx="457200" cy="4572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24454" y="58426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41195" y="57083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五层粒度隔离与显式映射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6910" y="6023610"/>
              <a:ext cx="35349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Schema 防止语义串扰，Mapping 承担跨粒度责任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77250" y="1714500"/>
            <a:ext cx="3181350" cy="3333750"/>
            <a:chOff x="8477250" y="1714500"/>
            <a:chExt cx="3181350" cy="3333750"/>
          </a:xfrm>
        </p:grpSpPr>
        <p:sp>
          <p:nvSpPr>
            <p:cNvPr id="38" name="Rectangle 38"/>
            <p:cNvSpPr/>
            <p:nvPr/>
          </p:nvSpPr>
          <p:spPr>
            <a:xfrm>
              <a:off x="8477250" y="1714500"/>
              <a:ext cx="3181350" cy="3333750"/>
            </a:xfrm>
            <a:prstGeom prst="roundRect">
              <a:avLst>
                <a:gd name="adj" fmla="val 2395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89720" y="20002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ambria"/>
                  <a:ea typeface="SimSun"/>
                  <a:cs typeface="Cambria"/>
                </a:rPr>
                <a:t>可信知识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48775" y="27336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不是模型一次答对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991600" y="327660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28575">
              <a:solidFill>
                <a:srgbClr val="3182C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48788" y="36480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而是错误可发现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48812" y="40671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决策可追责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8812" y="44862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结果可回溯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54611" y="66165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2" grpId="0"/>
      <p:bldP spid="27" grpId="0"/>
      <p:bldP spid="32" grpId="0"/>
      <p:bldP spid="37" grpId="0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704975" cy="680084"/>
            <a:chOff x="501015" y="391478"/>
            <a:chExt cx="970497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7049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端到端闭环已经形成，下一阶段聚焦更多粒度与图数据库协同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当前成果证明治理架构可运行；路线图扩展覆盖面与探索能力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352550"/>
            <a:ext cx="7620000" cy="4686300"/>
            <a:chOff x="533400" y="1352550"/>
            <a:chExt cx="7620000" cy="4686300"/>
          </a:xfrm>
        </p:grpSpPr>
        <p:sp>
          <p:nvSpPr>
            <p:cNvPr id="6" name="Rectangle 6"/>
            <p:cNvSpPr/>
            <p:nvPr/>
          </p:nvSpPr>
          <p:spPr>
            <a:xfrm>
              <a:off x="533400" y="1352550"/>
              <a:ext cx="7620000" cy="4686300"/>
            </a:xfrm>
            <a:prstGeom prst="roundRect">
              <a:avLst>
                <a:gd name="adj" fmla="val 1626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352550"/>
              <a:ext cx="7620000" cy="609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6290" y="1558290"/>
              <a:ext cx="39522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已实现 · End-to-End Closed Loop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055" y="2311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提取与增强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8405" y="2311718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7 类提取 · Tier 1 / Tier 2 · 12 条规则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27432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1055" y="3054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治理与审核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8405" y="3054668"/>
              <a:ext cx="2788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双模型盲审 · 交叉验证 · 专家终审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38200" y="348615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1055" y="37976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正式知识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8405" y="379761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Promotion · Final KG · 三元组整合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42291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1055" y="45405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工作台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8405" y="4540568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14 页前端 · 42 路由 · 88 服务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497205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1055" y="5283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质量保障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78405" y="52835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1,173 测试函数 · 59 数据迁移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39150" y="1352550"/>
            <a:ext cx="3219450" cy="4686300"/>
            <a:chOff x="8439150" y="1352550"/>
            <a:chExt cx="3219450" cy="4686300"/>
          </a:xfrm>
        </p:grpSpPr>
        <p:sp>
          <p:nvSpPr>
            <p:cNvPr id="24" name="Rectangle 24"/>
            <p:cNvSpPr/>
            <p:nvPr/>
          </p:nvSpPr>
          <p:spPr>
            <a:xfrm>
              <a:off x="8439150" y="1352550"/>
              <a:ext cx="3219450" cy="4686300"/>
            </a:xfrm>
            <a:prstGeom prst="roundRect">
              <a:avLst>
                <a:gd name="adj" fmla="val 236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2040" y="15582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686800" y="2266950"/>
              <a:ext cx="190500" cy="190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31605" y="228314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更多粒度资源接入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782050" y="2457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686800" y="3181350"/>
              <a:ext cx="190500" cy="190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1605" y="31975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图数据库同步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782050" y="33718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86800" y="4095750"/>
              <a:ext cx="190500" cy="190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1605" y="411194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跨粒度映射自动化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782050" y="42862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686800" y="5010150"/>
              <a:ext cx="190500" cy="1905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31605" y="5026342"/>
              <a:ext cx="1744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Graph Explorer 增强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1565" y="55635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扩展能力，不放松治理边界。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922" y="6483191"/>
            <a:ext cx="11146156" cy="167640"/>
            <a:chOff x="522922" y="6483191"/>
            <a:chExt cx="11146156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522922" y="6483191"/>
              <a:ext cx="25292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implementation inventory and roadmap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54611" y="648319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8519" t="0" r="18519" b="0"/>
            <a:stretch>
              <a:fillRect/>
            </a:stretch>
          </p:blipFill>
          <p:spPr>
            <a:xfrm>
              <a:off x="5715000" y="0"/>
              <a:ext cx="6477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334000" y="0"/>
              <a:ext cx="6858000" cy="6858000"/>
            </a:xfrm>
            <a:prstGeom prst="rect">
              <a:avLst/>
            </a:prstGeom>
            <a:solidFill>
              <a:srgbClr val="FFFFFF">
                <a:alpha val="72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14400" y="1790700"/>
            <a:ext cx="5758624" cy="2381250"/>
            <a:chOff x="914400" y="1790700"/>
            <a:chExt cx="5758624" cy="2381250"/>
          </a:xfrm>
        </p:grpSpPr>
        <p:sp>
          <p:nvSpPr>
            <p:cNvPr id="6" name="Line 6"/>
            <p:cNvSpPr/>
            <p:nvPr/>
          </p:nvSpPr>
          <p:spPr>
            <a:xfrm>
              <a:off x="914400" y="1790700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0" y="0"/>
                  </a:moveTo>
                  <a:lnTo>
                    <a:pt x="0" y="2190750"/>
                  </a:lnTo>
                </a:path>
              </a:pathLst>
            </a:custGeom>
            <a:noFill/>
            <a:ln w="7620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74445" y="2222182"/>
              <a:ext cx="1420273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5400" y="3048000"/>
              <a:ext cx="11053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43447"/>
                  </a:solidFill>
                  <a:latin typeface="Cambria"/>
                  <a:ea typeface="SimSun"/>
                  <a:cs typeface="Cambria"/>
                </a:rPr>
                <a:t>Q &amp;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0640" y="3806190"/>
              <a:ext cx="5362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欢迎围绕数据治理、LLM 可信性与多粒度映射交流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8260" y="4842510"/>
            <a:ext cx="6576727" cy="243840"/>
            <a:chOff x="1318260" y="4842510"/>
            <a:chExt cx="6576727" cy="243840"/>
          </a:xfrm>
        </p:grpSpPr>
        <p:sp>
          <p:nvSpPr>
            <p:cNvPr id="11" name="TextBox 11"/>
            <p:cNvSpPr txBox="1"/>
            <p:nvPr/>
          </p:nvSpPr>
          <p:spPr>
            <a:xfrm>
              <a:off x="1318260" y="4842510"/>
              <a:ext cx="1408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DATA GOVERNANCE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04260" y="484251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TRUSTWORTHY LLM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0260" y="4842510"/>
              <a:ext cx="2004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MULTI-GRANULAR MAPPING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20165" y="6077902"/>
            <a:ext cx="1804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NeuroGraphIQ KG V3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