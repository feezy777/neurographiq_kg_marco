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本次汇报介绍 NeuroGraphIQ KG V3 的多粒度脑区知识图谱构建方法。核心目标不是让大语言模型直接决定知识真伪，而是把它放入可校验、可审核、可追溯的工程流程中。下面先从问题与项目规模开始。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脑区知识整合同时面临资源异构、粒度断裂和模型不确定性三类问题。系统已经形成四十二条路由、八十八个服务、十四个前端页面、五层 Schema 和一千一百七十三个测试函数，说明这不是单点算法，而是一套完整工程。对应的治理主线是候选、规则校验、模型提取、Mirror、人工审核和 Final 的分层漏斗。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明确问题之后，我们用七层知识体系约束知识的组织方式。脑区实体、连接、回路、功能、证据、三元组和映射各自承担独立语义责任；同粒度知识在本层构建，跨粒度关系必须通过显式映射表达。这一边界防止名称相似被误当作解剖等价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全局架构的关键不是提取链更长，而是 Mirror KG 把自动化与正式知识隔开。资源经批次导入、候选校验和模型提取后先进入 Mirror，再经过治理与审核才能晋升。Promotion 是 Final KG 的唯一写入口，模型不能直接写入、自动审核或自动晋升。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数据入口允许资源格式不同，但不允许治理语义不同。AAL3 的 XML 和 Macro96 的 Excel 分别由专属解析器处理，再统一进入资源登记、Import Batch 和 Candidate Pool。这样既保留原始格式差异，又保证幂等、唯一索引和完整溯源。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候选数据首先经过十二条确定性规则，硬错误在调用模型之前就被拦截。质量评分综合完整性、溯源、拓扑、证据和关联，达到八十分才能通过；低分数据进入确定性修复或模型建议。模型建议本身不改数据，最终仍由人工决定是否采纳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通过统一 Provider 抽象，DeepSeek 与 Kimi 支持七类提取能力。连接、功能、回路、投射和步骤由模型辅助提取，而三元组整合保持确定性；所有能力都遵守同粒度约束，跨粒度必须查显式 Mapping。模型因此是受控能力组件，而不是绕过治理的入口。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复合工作流采用 Pack 化编排，以控制成本并支持暂停、取消和恢复。模型运行与条目表完整保留原始响应，再由确定性的 llm_to_mirror 转换写入八张 Mirror 表。这里把概率生成与结构化写入分离，保证失败可恢复、结果可审计。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 Mirror 后，系统完成三类核心治理。Canonical Key 在写入时去重但保留双溯源，双模型盲审用共识加速、用冲突升级，结构交叉验证则从回路和投射两个方向检查一致性。已经审核、已经晋升或跨粒度的数据永不自动合并。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正式晋升前必须连续通过规则、模型和专家三道闸门。规则闸门处理 Blocker 与 Warning，模型闸门区分共识和冲突，专家闸门给出通过、拒绝或要求修改。三道闸门缺一不可，因为效率、复核和责任分别由不同机制承担。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Promotion 先预览映射，再强确认执行，并把八张 Mirror 表映射到八张 Final 表。Final KG 包含标准实体、十二种关系谓词和统一三元组查询面，底层按 macro、meso、sub、fine 和 molecular 五层 Schema 隔离。跨粒度只允许精确匹配、组成和重叠三类显式关系。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知识被消费时，系统仍然保留完整的数据血缘。任意 Final 事实都可以反向经过晋升、审核、校验、提取条目、运行和候选，最终回到导入批次与原始资源。原始响应、模型、Prompt 和资源定位共同构成知识事实的证据链。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六项创新的共同点，是把可信性从模型能力转移到系统治理。分层漏斗、Mirror 与 Canonical Key、双模型盲审、两级增强、七步溯源以及五层粒度隔离相互补位。可信知识不是模型偶然答对，而是错误可发现、决策可追责、结果可回溯。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前端到端闭环已经形成，包括七类提取、十二条规则、双模型审核、交叉验证、晋升和三元组整合，并由十四页工作台和一千一百七十三个测试函数支撑。下一阶段将接入更多粒度，推进图数据库同步与跨粒度映射自动化，并增强 Graph Explorer。扩展能力的同时，现有治理边界不会放松。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以上是 NeuroGraphIQ KG V3 的多粒度脑区知识图谱构建方法。欢迎围绕数据治理、大语言模型可信性以及跨粒度映射展开讨论，谢谢。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0132c60cfdbcd5e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f23ee62ad36cae4.pn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a567d6b6c4e0061c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bfd58df358d38b60.pn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b819616b9d4bdbf.pn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428cb7c4373ef10.pn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0132c60cfdbcd5e.png"/>
  <Relationship Id="rId3" Type="http://schemas.openxmlformats.org/officeDocument/2006/relationships/notesSlide" Target="../notesSlides/notesSlide1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0" t="7812" r="0" b="781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8191500" cy="6858000"/>
            </a:xfrm>
            <a:prstGeom prst="rect">
              <a:avLst/>
            </a:prstGeom>
            <a:gradFill>
              <a:gsLst>
                <a:gs pos="0">
                  <a:srgbClr val="FFFFFF">
                    <a:alpha val="98000"/>
                  </a:srgbClr>
                </a:gs>
                <a:gs pos="60000">
                  <a:srgbClr val="FFFFFF">
                    <a:alpha val="84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66750" y="1428750"/>
            <a:ext cx="6508616" cy="2038350"/>
            <a:chOff x="666750" y="1428750"/>
            <a:chExt cx="6508616" cy="2038350"/>
          </a:xfrm>
        </p:grpSpPr>
        <p:sp>
          <p:nvSpPr>
            <p:cNvPr id="6" name="Rectangle 6"/>
            <p:cNvSpPr/>
            <p:nvPr/>
          </p:nvSpPr>
          <p:spPr>
            <a:xfrm>
              <a:off x="666750" y="1428750"/>
              <a:ext cx="76200" cy="8382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69645" y="1450658"/>
              <a:ext cx="6205721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NeuroGraphIQ KG V3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90600" y="2209800"/>
              <a:ext cx="469677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43447"/>
                  </a:solidFill>
                  <a:latin typeface="Cambria"/>
                  <a:ea typeface="SimSun"/>
                  <a:cs typeface="Cambria"/>
                </a:rPr>
                <a:t>多粒度脑区知识图谱构建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028700" y="2876550"/>
              <a:ext cx="5162550" cy="9525"/>
            </a:xfrm>
            <a:custGeom>
              <a:avLst/>
              <a:gdLst/>
              <a:ahLst/>
              <a:cxnLst/>
              <a:rect l="l" t="t" r="r" b="b"/>
              <a:pathLst>
                <a:path w="5162550" h="9525">
                  <a:moveTo>
                    <a:pt x="0" y="0"/>
                  </a:moveTo>
                  <a:lnTo>
                    <a:pt x="5162550" y="0"/>
                  </a:lnTo>
                </a:path>
              </a:pathLst>
            </a:custGeom>
            <a:noFill/>
            <a:ln w="19050">
              <a:solidFill>
                <a:srgbClr val="CBD5D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5840" y="3101340"/>
              <a:ext cx="55664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从脑图谱资源到可探索知识图谱的全流程自动化系统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4038600"/>
            <a:ext cx="4724400" cy="781050"/>
            <a:chOff x="1028700" y="4038600"/>
            <a:chExt cx="4724400" cy="781050"/>
          </a:xfrm>
        </p:grpSpPr>
        <p:sp>
          <p:nvSpPr>
            <p:cNvPr id="12" name="Rectangle 12"/>
            <p:cNvSpPr/>
            <p:nvPr/>
          </p:nvSpPr>
          <p:spPr>
            <a:xfrm>
              <a:off x="1028700" y="4038600"/>
              <a:ext cx="4724400" cy="781050"/>
            </a:xfrm>
            <a:prstGeom prst="roundRect">
              <a:avLst>
                <a:gd name="adj" fmla="val 9756"/>
              </a:avLst>
            </a:prstGeom>
            <a:solidFill>
              <a:srgbClr val="F4F7FA"/>
            </a:solidFill>
            <a:ln w="9525">
              <a:solidFill>
                <a:srgbClr val="CBD5D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97305" y="42167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核心命题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97305" y="4511992"/>
              <a:ext cx="37157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让 LLM 成为受控提取工具，而不是知识终审者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15365" y="6077902"/>
            <a:ext cx="10237470" cy="213360"/>
            <a:chOff x="1015365" y="6077902"/>
            <a:chExt cx="10237470" cy="213360"/>
          </a:xfrm>
        </p:grpSpPr>
        <p:sp>
          <p:nvSpPr>
            <p:cNvPr id="16" name="TextBox 16"/>
            <p:cNvSpPr txBox="1"/>
            <p:nvPr/>
          </p:nvSpPr>
          <p:spPr>
            <a:xfrm>
              <a:off x="1015365" y="6077902"/>
              <a:ext cx="19099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知识工程 · 神经科学 · 可信 AI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35066" y="6077902"/>
              <a:ext cx="8177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2026 年 8 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400050"/>
            <a:ext cx="9028826" cy="690562"/>
            <a:chOff x="533400" y="400050"/>
            <a:chExt cx="9028826" cy="690562"/>
          </a:xfrm>
        </p:grpSpPr>
        <p:sp>
          <p:nvSpPr>
            <p:cNvPr id="3" name="Rectangle 3"/>
            <p:cNvSpPr/>
            <p:nvPr/>
          </p:nvSpPr>
          <p:spPr>
            <a:xfrm>
              <a:off x="533400" y="400050"/>
              <a:ext cx="76200" cy="38100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7715" y="410528"/>
              <a:ext cx="879451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分散资源、粒度断裂与 LLM 风险共同阻碍脑区知识整合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86765" y="877252"/>
              <a:ext cx="43952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问题不是“能否提取”，而是“如何让提取结果可治理、可审核、可追溯”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3400" y="1257300"/>
            <a:ext cx="11125200" cy="895350"/>
            <a:chOff x="533400" y="1257300"/>
            <a:chExt cx="11125200" cy="895350"/>
          </a:xfrm>
        </p:grpSpPr>
        <p:sp>
          <p:nvSpPr>
            <p:cNvPr id="7" name="Rectangle 7"/>
            <p:cNvSpPr/>
            <p:nvPr/>
          </p:nvSpPr>
          <p:spPr>
            <a:xfrm>
              <a:off x="533400" y="1257300"/>
              <a:ext cx="11125200" cy="895350"/>
            </a:xfrm>
            <a:prstGeom prst="roundRect">
              <a:avLst>
                <a:gd name="adj" fmla="val 8511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82955" y="14925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三重挑战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82955" y="1806892"/>
              <a:ext cx="10064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6+ 异构资源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78605" y="1806892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跨粒度关系断裂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93355" y="1806892"/>
              <a:ext cx="18615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LLM 错误可能沿链传播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3400" y="2457450"/>
            <a:ext cx="2590800" cy="1809750"/>
            <a:chOff x="533400" y="2457450"/>
            <a:chExt cx="2590800" cy="1809750"/>
          </a:xfrm>
        </p:grpSpPr>
        <p:sp>
          <p:nvSpPr>
            <p:cNvPr id="13" name="Rectangle 13"/>
            <p:cNvSpPr/>
            <p:nvPr/>
          </p:nvSpPr>
          <p:spPr>
            <a:xfrm>
              <a:off x="533400" y="2457450"/>
              <a:ext cx="2590800" cy="180975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9525">
              <a:solidFill>
                <a:srgbClr val="CBD5DF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3400" y="2457450"/>
              <a:ext cx="2590800" cy="5715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7715" y="27822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后端能力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2950" y="3105150"/>
              <a:ext cx="1483376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42 / 88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3905" y="3635692"/>
              <a:ext cx="9614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路由 / 服务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371850" y="2457450"/>
            <a:ext cx="2590800" cy="1809750"/>
            <a:chOff x="3371850" y="2457450"/>
            <a:chExt cx="2590800" cy="1809750"/>
          </a:xfrm>
        </p:grpSpPr>
        <p:sp>
          <p:nvSpPr>
            <p:cNvPr id="19" name="Rectangle 19"/>
            <p:cNvSpPr/>
            <p:nvPr/>
          </p:nvSpPr>
          <p:spPr>
            <a:xfrm>
              <a:off x="3371850" y="2457450"/>
              <a:ext cx="2590800" cy="180975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9525">
              <a:solidFill>
                <a:srgbClr val="CBD5DF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371850" y="2457450"/>
              <a:ext cx="2590800" cy="5715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606165" y="27822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前端工作台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81400" y="3105150"/>
              <a:ext cx="43324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3182CE"/>
                  </a:solidFill>
                  <a:latin typeface="Cambria"/>
                  <a:ea typeface="SimSun"/>
                  <a:cs typeface="Cambria"/>
                </a:rPr>
                <a:t>14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02355" y="3635692"/>
              <a:ext cx="9434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React 页面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10300" y="2457450"/>
            <a:ext cx="2590800" cy="1809750"/>
            <a:chOff x="6210300" y="2457450"/>
            <a:chExt cx="2590800" cy="1809750"/>
          </a:xfrm>
        </p:grpSpPr>
        <p:sp>
          <p:nvSpPr>
            <p:cNvPr id="25" name="Rectangle 25"/>
            <p:cNvSpPr/>
            <p:nvPr/>
          </p:nvSpPr>
          <p:spPr>
            <a:xfrm>
              <a:off x="6210300" y="2457450"/>
              <a:ext cx="2590800" cy="180975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9525">
              <a:solidFill>
                <a:srgbClr val="CBD5DF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10300" y="2457450"/>
              <a:ext cx="2590800" cy="57150"/>
            </a:xfrm>
            <a:prstGeom prst="rect">
              <a:avLst/>
            </a:prstGeom>
            <a:solidFill>
              <a:srgbClr val="DD6B2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44615" y="2782252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数据层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19850" y="3105150"/>
              <a:ext cx="1252347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DD6B20"/>
                  </a:solidFill>
                  <a:latin typeface="Cambria"/>
                  <a:ea typeface="SimSun"/>
                  <a:cs typeface="Cambria"/>
                </a:rPr>
                <a:t>5 / 59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40805" y="3635692"/>
              <a:ext cx="12314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Schema / 迁移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048750" y="2457450"/>
            <a:ext cx="2609850" cy="1809750"/>
            <a:chOff x="9048750" y="2457450"/>
            <a:chExt cx="2609850" cy="1809750"/>
          </a:xfrm>
        </p:grpSpPr>
        <p:sp>
          <p:nvSpPr>
            <p:cNvPr id="31" name="Rectangle 31"/>
            <p:cNvSpPr/>
            <p:nvPr/>
          </p:nvSpPr>
          <p:spPr>
            <a:xfrm>
              <a:off x="9048750" y="2457450"/>
              <a:ext cx="2609850" cy="180975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9525">
              <a:solidFill>
                <a:srgbClr val="CBD5DF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9048750" y="2457450"/>
              <a:ext cx="2609850" cy="57150"/>
            </a:xfrm>
            <a:prstGeom prst="rect">
              <a:avLst/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83065" y="27822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测试保障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58300" y="3105150"/>
              <a:ext cx="1021318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38A169"/>
                  </a:solidFill>
                  <a:latin typeface="Cambria"/>
                  <a:ea typeface="SimSun"/>
                  <a:cs typeface="Cambria"/>
                </a:rPr>
                <a:t>1,173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79255" y="3635692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测试函数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33400" y="4629150"/>
            <a:ext cx="11125200" cy="1314450"/>
            <a:chOff x="533400" y="4629150"/>
            <a:chExt cx="11125200" cy="1314450"/>
          </a:xfrm>
        </p:grpSpPr>
        <p:sp>
          <p:nvSpPr>
            <p:cNvPr id="37" name="Rectangle 37"/>
            <p:cNvSpPr/>
            <p:nvPr/>
          </p:nvSpPr>
          <p:spPr>
            <a:xfrm>
              <a:off x="533400" y="4629150"/>
              <a:ext cx="11125200" cy="1314450"/>
            </a:xfrm>
            <a:prstGeom prst="roundRect">
              <a:avLst>
                <a:gd name="adj" fmla="val 5797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21055" y="4873942"/>
              <a:ext cx="21135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解决方案：分层漏斗治理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5340" y="5234940"/>
              <a:ext cx="778308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候选 → 规则校验 → LLM 提取 → Mirror KG → Human Review → Final KG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2960" y="5604510"/>
              <a:ext cx="4511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DF"/>
                  </a:solidFill>
                  <a:latin typeface="Arial"/>
                  <a:ea typeface="Microsoft YaHei"/>
                  <a:cs typeface="Arial"/>
                </a:rPr>
                <a:t>自动化负责规模，治理边界负责可信，人工终审负责知识责任。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42" name="TextBox 42"/>
            <p:cNvSpPr txBox="1"/>
            <p:nvPr/>
          </p:nvSpPr>
          <p:spPr>
            <a:xfrm>
              <a:off x="522922" y="6483191"/>
              <a:ext cx="248526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Source: NeuroGraphIQ KG V3 project inventory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4" grpId="0"/>
      <p:bldP spid="30" grpId="0"/>
      <p:bldP spid="36" grpId="0"/>
      <p:bldP spid="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77215" y="410528"/>
            <a:ext cx="11005185" cy="532447"/>
            <a:chOff x="577215" y="410528"/>
            <a:chExt cx="11005185" cy="532447"/>
          </a:xfrm>
        </p:grpSpPr>
        <p:sp>
          <p:nvSpPr>
            <p:cNvPr id="3" name="TextBox 3"/>
            <p:cNvSpPr txBox="1"/>
            <p:nvPr/>
          </p:nvSpPr>
          <p:spPr>
            <a:xfrm>
              <a:off x="577215" y="410528"/>
              <a:ext cx="1006202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七层知识体系把脑区事实组织为可治理、可查询、可映射的结构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933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BD5DF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95350" y="1752600"/>
            <a:ext cx="7677150" cy="3638550"/>
            <a:chOff x="895350" y="1752600"/>
            <a:chExt cx="7677150" cy="3638550"/>
          </a:xfrm>
        </p:grpSpPr>
        <p:sp>
          <p:nvSpPr>
            <p:cNvPr id="6" name="Polygon 6"/>
            <p:cNvSpPr/>
            <p:nvPr/>
          </p:nvSpPr>
          <p:spPr>
            <a:xfrm>
              <a:off x="895350" y="4953000"/>
              <a:ext cx="5276850" cy="438150"/>
            </a:xfrm>
            <a:custGeom>
              <a:avLst/>
              <a:gdLst/>
              <a:ahLst/>
              <a:cxnLst/>
              <a:rect l="l" t="t" r="r" b="b"/>
              <a:pathLst>
                <a:path w="5276850" h="438150">
                  <a:moveTo>
                    <a:pt x="0" y="438150"/>
                  </a:moveTo>
                  <a:lnTo>
                    <a:pt x="4876800" y="438150"/>
                  </a:lnTo>
                  <a:lnTo>
                    <a:pt x="5276850" y="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1A365D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980134" y="508635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脑区实体层</a:t>
              </a:r>
            </a:p>
          </p:txBody>
        </p:sp>
        <p:sp>
          <p:nvSpPr>
            <p:cNvPr id="8" name="Polygon 8"/>
            <p:cNvSpPr/>
            <p:nvPr/>
          </p:nvSpPr>
          <p:spPr>
            <a:xfrm>
              <a:off x="1295400" y="4419600"/>
              <a:ext cx="5276850" cy="438150"/>
            </a:xfrm>
            <a:custGeom>
              <a:avLst/>
              <a:gdLst/>
              <a:ahLst/>
              <a:cxnLst/>
              <a:rect l="l" t="t" r="r" b="b"/>
              <a:pathLst>
                <a:path w="5276850" h="438150">
                  <a:moveTo>
                    <a:pt x="0" y="438150"/>
                  </a:moveTo>
                  <a:lnTo>
                    <a:pt x="4876800" y="438150"/>
                  </a:lnTo>
                  <a:lnTo>
                    <a:pt x="5276850" y="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1A365D">
                <a:alpha val="90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590211" y="4552950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连接层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1695450" y="3886200"/>
              <a:ext cx="5276850" cy="438150"/>
            </a:xfrm>
            <a:custGeom>
              <a:avLst/>
              <a:gdLst/>
              <a:ahLst/>
              <a:cxnLst/>
              <a:rect l="l" t="t" r="r" b="b"/>
              <a:pathLst>
                <a:path w="5276850" h="438150">
                  <a:moveTo>
                    <a:pt x="0" y="438150"/>
                  </a:moveTo>
                  <a:lnTo>
                    <a:pt x="4876800" y="438150"/>
                  </a:lnTo>
                  <a:lnTo>
                    <a:pt x="5276850" y="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3182C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990261" y="4019550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回路层</a:t>
              </a:r>
            </a:p>
          </p:txBody>
        </p:sp>
        <p:sp>
          <p:nvSpPr>
            <p:cNvPr id="12" name="Polygon 12"/>
            <p:cNvSpPr/>
            <p:nvPr/>
          </p:nvSpPr>
          <p:spPr>
            <a:xfrm>
              <a:off x="2095500" y="3352800"/>
              <a:ext cx="5276850" cy="438150"/>
            </a:xfrm>
            <a:custGeom>
              <a:avLst/>
              <a:gdLst/>
              <a:ahLst/>
              <a:cxnLst/>
              <a:rect l="l" t="t" r="r" b="b"/>
              <a:pathLst>
                <a:path w="5276850" h="438150">
                  <a:moveTo>
                    <a:pt x="0" y="438150"/>
                  </a:moveTo>
                  <a:lnTo>
                    <a:pt x="4876800" y="438150"/>
                  </a:lnTo>
                  <a:lnTo>
                    <a:pt x="5276850" y="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3182CE">
                <a:alpha val="82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90311" y="3486150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功能层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2495550" y="2819400"/>
              <a:ext cx="5276850" cy="438150"/>
            </a:xfrm>
            <a:custGeom>
              <a:avLst/>
              <a:gdLst/>
              <a:ahLst/>
              <a:cxnLst/>
              <a:rect l="l" t="t" r="r" b="b"/>
              <a:pathLst>
                <a:path w="5276850" h="438150">
                  <a:moveTo>
                    <a:pt x="0" y="438150"/>
                  </a:moveTo>
                  <a:lnTo>
                    <a:pt x="4876800" y="438150"/>
                  </a:lnTo>
                  <a:lnTo>
                    <a:pt x="5276850" y="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DD6B2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90361" y="2952750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证据层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2895600" y="2286000"/>
              <a:ext cx="5276850" cy="438150"/>
            </a:xfrm>
            <a:custGeom>
              <a:avLst/>
              <a:gdLst/>
              <a:ahLst/>
              <a:cxnLst/>
              <a:rect l="l" t="t" r="r" b="b"/>
              <a:pathLst>
                <a:path w="5276850" h="438150">
                  <a:moveTo>
                    <a:pt x="0" y="438150"/>
                  </a:moveTo>
                  <a:lnTo>
                    <a:pt x="4876800" y="438150"/>
                  </a:lnTo>
                  <a:lnTo>
                    <a:pt x="5276850" y="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38A16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085398" y="241935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三元组层</a:t>
              </a:r>
            </a:p>
          </p:txBody>
        </p:sp>
        <p:sp>
          <p:nvSpPr>
            <p:cNvPr id="18" name="Polygon 18"/>
            <p:cNvSpPr/>
            <p:nvPr/>
          </p:nvSpPr>
          <p:spPr>
            <a:xfrm>
              <a:off x="3295650" y="1752600"/>
              <a:ext cx="5276850" cy="438150"/>
            </a:xfrm>
            <a:custGeom>
              <a:avLst/>
              <a:gdLst/>
              <a:ahLst/>
              <a:cxnLst/>
              <a:rect l="l" t="t" r="r" b="b"/>
              <a:pathLst>
                <a:path w="5276850" h="438150">
                  <a:moveTo>
                    <a:pt x="0" y="438150"/>
                  </a:moveTo>
                  <a:lnTo>
                    <a:pt x="4876800" y="438150"/>
                  </a:lnTo>
                  <a:lnTo>
                    <a:pt x="5276850" y="0"/>
                  </a:lnTo>
                  <a:lnTo>
                    <a:pt x="400050" y="0"/>
                  </a:lnTo>
                  <a:close/>
                </a:path>
              </a:pathLst>
            </a:custGeom>
            <a:solidFill>
              <a:srgbClr val="1A365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590461" y="1885950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映射层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915400" y="1638300"/>
            <a:ext cx="3034617" cy="2843212"/>
            <a:chOff x="8915400" y="1638300"/>
            <a:chExt cx="3034617" cy="2843212"/>
          </a:xfrm>
        </p:grpSpPr>
        <p:sp>
          <p:nvSpPr>
            <p:cNvPr id="21" name="TextBox 21"/>
            <p:cNvSpPr txBox="1"/>
            <p:nvPr/>
          </p:nvSpPr>
          <p:spPr>
            <a:xfrm>
              <a:off x="8915400" y="1638300"/>
              <a:ext cx="217646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同粒度构建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36355" y="225456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实体、连接、回路与功能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36355" y="2549842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在同一粒度边界内推理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953500" y="3067050"/>
              <a:ext cx="2247900" cy="9525"/>
            </a:xfrm>
            <a:custGeom>
              <a:avLst/>
              <a:gdLst/>
              <a:ahLst/>
              <a:cxnLst/>
              <a:rect l="l" t="t" r="r" b="b"/>
              <a:pathLst>
                <a:path w="2247900" h="9525">
                  <a:moveTo>
                    <a:pt x="0" y="0"/>
                  </a:moveTo>
                  <a:lnTo>
                    <a:pt x="2247900" y="0"/>
                  </a:lnTo>
                </a:path>
              </a:pathLst>
            </a:custGeom>
            <a:noFill/>
            <a:ln w="28575">
              <a:solidFill>
                <a:srgbClr val="3182CE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15400" y="3295650"/>
              <a:ext cx="2176462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DD6B20"/>
                  </a:solidFill>
                  <a:latin typeface="Cambria"/>
                  <a:ea typeface="SimSun"/>
                  <a:cs typeface="Cambria"/>
                </a:rPr>
                <a:t>显式跨粒度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936355" y="3911918"/>
              <a:ext cx="30136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exact_match · part_of · overlaps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36355" y="4207192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禁止仅凭名称相似度自动合并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5905500"/>
            <a:ext cx="10972800" cy="457200"/>
            <a:chOff x="609600" y="5905500"/>
            <a:chExt cx="10972800" cy="457200"/>
          </a:xfrm>
        </p:grpSpPr>
        <p:sp>
          <p:nvSpPr>
            <p:cNvPr id="29" name="Rectangle 29"/>
            <p:cNvSpPr/>
            <p:nvPr/>
          </p:nvSpPr>
          <p:spPr>
            <a:xfrm>
              <a:off x="609600" y="5905500"/>
              <a:ext cx="10972800" cy="457200"/>
            </a:xfrm>
            <a:prstGeom prst="rect">
              <a:avLst/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865453" y="6055042"/>
              <a:ext cx="64610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层级不是展示顺序，而是治理边界：每一层都有独立语义、来源与审核责任。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450907" y="655939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492A0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8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01015" y="372428"/>
            <a:ext cx="9794236" cy="680084"/>
            <a:chOff x="501015" y="372428"/>
            <a:chExt cx="9794236" cy="680084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72428"/>
              <a:ext cx="979423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全局架构以 Mirror KG 为安全中转，隔离自动提取与正式知识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065" y="839152"/>
              <a:ext cx="30090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六阶段治理漏斗 · 唯一正式写入口 · 全链路审计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400" y="1257300"/>
            <a:ext cx="8305800" cy="4762500"/>
            <a:chOff x="533400" y="1257300"/>
            <a:chExt cx="8305800" cy="4762500"/>
          </a:xfrm>
        </p:grpSpPr>
        <p:sp>
          <p:nvSpPr>
            <p:cNvPr id="6" name="Rectangle 6"/>
            <p:cNvSpPr/>
            <p:nvPr/>
          </p:nvSpPr>
          <p:spPr>
            <a:xfrm>
              <a:off x="533400" y="1257300"/>
              <a:ext cx="8305800" cy="4762500"/>
            </a:xfrm>
            <a:prstGeom prst="roundRect">
              <a:avLst>
                <a:gd name="adj" fmla="val 1600"/>
              </a:avLst>
            </a:prstGeom>
            <a:solidFill>
              <a:srgbClr val="F4F7FA"/>
            </a:solidFill>
            <a:ln w="9525">
              <a:solidFill>
                <a:srgbClr val="CBD5DF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28725" y="1333500"/>
              <a:ext cx="6915150" cy="4610100"/>
            </a:xfrm>
            <a:prstGeom prst="rect">
              <a:avLst/>
            </a:prstGeom>
          </p:spPr>
        </p:pic>
      </p:grpSp>
      <p:grpSp>
        <p:nvGrpSpPr>
          <p:cNvPr id="21" name="Group 21"/>
          <p:cNvGrpSpPr/>
          <p:nvPr/>
        </p:nvGrpSpPr>
        <p:grpSpPr>
          <a:xfrm>
            <a:off x="666750" y="1466850"/>
            <a:ext cx="7553325" cy="290512"/>
            <a:chOff x="666750" y="1466850"/>
            <a:chExt cx="7553325" cy="290512"/>
          </a:xfrm>
        </p:grpSpPr>
        <p:sp>
          <p:nvSpPr>
            <p:cNvPr id="9" name="Rectangle 9"/>
            <p:cNvSpPr/>
            <p:nvPr/>
          </p:nvSpPr>
          <p:spPr>
            <a:xfrm>
              <a:off x="666750" y="1466850"/>
              <a:ext cx="1123950" cy="266700"/>
            </a:xfrm>
            <a:prstGeom prst="roundRect">
              <a:avLst>
                <a:gd name="adj" fmla="val 28571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21353" y="15440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资源登记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952625" y="1466850"/>
              <a:ext cx="1123950" cy="266700"/>
            </a:xfrm>
            <a:prstGeom prst="roundRect">
              <a:avLst>
                <a:gd name="adj" fmla="val 28571"/>
              </a:avLst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207228" y="15440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批次导入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238500" y="1466850"/>
              <a:ext cx="1123950" cy="266700"/>
            </a:xfrm>
            <a:prstGeom prst="roundRect">
              <a:avLst>
                <a:gd name="adj" fmla="val 28571"/>
              </a:avLst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493103" y="15440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候选校验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524375" y="1466850"/>
              <a:ext cx="1123950" cy="266700"/>
            </a:xfrm>
            <a:prstGeom prst="roundRect">
              <a:avLst>
                <a:gd name="adj" fmla="val 28571"/>
              </a:avLst>
            </a:prstGeom>
            <a:solidFill>
              <a:srgbClr val="DD6B2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67952" y="1544002"/>
              <a:ext cx="6367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LLM 提取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810250" y="1466850"/>
              <a:ext cx="1123950" cy="266700"/>
            </a:xfrm>
            <a:prstGeom prst="roundRect">
              <a:avLst>
                <a:gd name="adj" fmla="val 28571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950914" y="1544002"/>
              <a:ext cx="8426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Mirror 治理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096125" y="1466850"/>
              <a:ext cx="1123950" cy="266700"/>
            </a:xfrm>
            <a:prstGeom prst="roundRect">
              <a:avLst>
                <a:gd name="adj" fmla="val 28571"/>
              </a:avLst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350728" y="15440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审核晋升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05900" y="1257300"/>
            <a:ext cx="2552700" cy="2228850"/>
            <a:chOff x="9105900" y="1257300"/>
            <a:chExt cx="2552700" cy="2228850"/>
          </a:xfrm>
        </p:grpSpPr>
        <p:sp>
          <p:nvSpPr>
            <p:cNvPr id="22" name="Rectangle 22"/>
            <p:cNvSpPr/>
            <p:nvPr/>
          </p:nvSpPr>
          <p:spPr>
            <a:xfrm>
              <a:off x="9105900" y="1257300"/>
              <a:ext cx="2552700" cy="2228850"/>
            </a:xfrm>
            <a:prstGeom prst="roundRect">
              <a:avLst>
                <a:gd name="adj" fmla="val 3419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36405" y="14925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写入边界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36405" y="1892618"/>
              <a:ext cx="17805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LLM 不得直接写 Final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36405" y="223551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不得自动审核或晋升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9353550" y="2647950"/>
              <a:ext cx="2057400" cy="9525"/>
            </a:xfrm>
            <a:custGeom>
              <a:avLst/>
              <a:gdLst/>
              <a:ahLst/>
              <a:cxnLst/>
              <a:rect l="l" t="t" r="r" b="b"/>
              <a:pathLst>
                <a:path w="2057400" h="9525">
                  <a:moveTo>
                    <a:pt x="0" y="0"/>
                  </a:moveTo>
                  <a:lnTo>
                    <a:pt x="2057400" y="0"/>
                  </a:lnTo>
                </a:path>
              </a:pathLst>
            </a:custGeom>
            <a:noFill/>
            <a:ln w="9525">
              <a:solidFill>
                <a:srgbClr val="CBD5D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336405" y="2883218"/>
              <a:ext cx="19623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8A169"/>
                  </a:solidFill>
                  <a:latin typeface="Arial"/>
                  <a:ea typeface="Microsoft YaHei"/>
                  <a:cs typeface="Arial"/>
                </a:rPr>
                <a:t>Promotion 是唯一入口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105900" y="3733800"/>
            <a:ext cx="2552700" cy="2286000"/>
            <a:chOff x="9105900" y="3733800"/>
            <a:chExt cx="2552700" cy="2286000"/>
          </a:xfrm>
        </p:grpSpPr>
        <p:sp>
          <p:nvSpPr>
            <p:cNvPr id="29" name="Rectangle 29"/>
            <p:cNvSpPr/>
            <p:nvPr/>
          </p:nvSpPr>
          <p:spPr>
            <a:xfrm>
              <a:off x="9105900" y="3733800"/>
              <a:ext cx="2552700" cy="2286000"/>
            </a:xfrm>
            <a:prstGeom prst="roundRect">
              <a:avLst>
                <a:gd name="adj" fmla="val 3333"/>
              </a:avLst>
            </a:prstGeom>
            <a:solidFill>
              <a:srgbClr val="F4F7FA"/>
            </a:solidFill>
            <a:ln w="9525">
              <a:solidFill>
                <a:srgbClr val="CBD5D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336405" y="3969068"/>
              <a:ext cx="13480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Final KG 消费端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36405" y="43691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图谱探索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36405" y="47120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症状查询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36405" y="50549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数据中心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36405" y="539781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离线导出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36" name="TextBox 36"/>
            <p:cNvSpPr txBox="1"/>
            <p:nvPr/>
          </p:nvSpPr>
          <p:spPr>
            <a:xfrm>
              <a:off x="522922" y="6483191"/>
              <a:ext cx="27327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Architecture semantics are editable SVG overlays.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/>
      <p:bldP spid="28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01015" y="391478"/>
            <a:ext cx="9205112" cy="680084"/>
            <a:chOff x="501015" y="391478"/>
            <a:chExt cx="9205112" cy="680084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91478"/>
              <a:ext cx="920511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Import Batch 统一追踪异构图谱，同时保留独立解析链路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065" y="858202"/>
              <a:ext cx="35271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资源差异被隔离在解析器内，候选对象进入统一治理语义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3400" y="1504950"/>
            <a:ext cx="2095500" cy="2933700"/>
            <a:chOff x="533400" y="1504950"/>
            <a:chExt cx="2095500" cy="2933700"/>
          </a:xfrm>
        </p:grpSpPr>
        <p:sp>
          <p:nvSpPr>
            <p:cNvPr id="6" name="Rectangle 6"/>
            <p:cNvSpPr/>
            <p:nvPr/>
          </p:nvSpPr>
          <p:spPr>
            <a:xfrm>
              <a:off x="533400" y="1504950"/>
              <a:ext cx="2095500" cy="1333500"/>
            </a:xfrm>
            <a:prstGeom prst="roundRect">
              <a:avLst>
                <a:gd name="adj" fmla="val 5714"/>
              </a:avLst>
            </a:prstGeom>
            <a:solidFill>
              <a:srgbClr val="F4F7FA"/>
            </a:solidFill>
            <a:ln w="9525">
              <a:solidFill>
                <a:srgbClr val="3182C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8190" y="1729740"/>
              <a:ext cx="6001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AAL3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3905" y="21593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XML · 166 ROI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7715" y="2477452"/>
              <a:ext cx="6007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Consolas"/>
                  <a:ea typeface="Microsoft YaHei"/>
                  <a:cs typeface="Consolas"/>
                </a:rPr>
                <a:t>aal3_xml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33400" y="3105150"/>
              <a:ext cx="2095500" cy="1333500"/>
            </a:xfrm>
            <a:prstGeom prst="roundRect">
              <a:avLst>
                <a:gd name="adj" fmla="val 5714"/>
              </a:avLst>
            </a:prstGeom>
            <a:solidFill>
              <a:srgbClr val="F4F7FA"/>
            </a:solidFill>
            <a:ln w="9525">
              <a:solidFill>
                <a:srgbClr val="DD6B2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8190" y="3329940"/>
              <a:ext cx="106644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Macro96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3905" y="3759518"/>
              <a:ext cx="13034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Excel · 96 脑区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7715" y="4077652"/>
              <a:ext cx="943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Consolas"/>
                  <a:ea typeface="Microsoft YaHei"/>
                  <a:cs typeface="Consolas"/>
                </a:rPr>
                <a:t>macro96_xlsx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238500" y="1866900"/>
            <a:ext cx="1809750" cy="2571750"/>
            <a:chOff x="3238500" y="1866900"/>
            <a:chExt cx="1809750" cy="2571750"/>
          </a:xfrm>
        </p:grpSpPr>
        <p:sp>
          <p:nvSpPr>
            <p:cNvPr id="15" name="Rectangle 15"/>
            <p:cNvSpPr/>
            <p:nvPr/>
          </p:nvSpPr>
          <p:spPr>
            <a:xfrm>
              <a:off x="3238500" y="1866900"/>
              <a:ext cx="1809750" cy="257175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9525">
              <a:solidFill>
                <a:srgbClr val="CBD5DF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3238500" y="1866900"/>
              <a:ext cx="1809750" cy="47625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639494" y="2025968"/>
              <a:ext cx="10077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 资源登记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51860" y="26517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版本与校验和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51860" y="30327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来源标识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51860" y="341376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格式适配器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467100" y="3867150"/>
              <a:ext cx="1352550" cy="342900"/>
            </a:xfrm>
            <a:prstGeom prst="roundRect">
              <a:avLst>
                <a:gd name="adj" fmla="val 22222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541966" y="3982402"/>
              <a:ext cx="12028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Resource Record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276850" y="1866900"/>
            <a:ext cx="1809750" cy="2571750"/>
            <a:chOff x="5276850" y="1866900"/>
            <a:chExt cx="1809750" cy="2571750"/>
          </a:xfrm>
        </p:grpSpPr>
        <p:sp>
          <p:nvSpPr>
            <p:cNvPr id="24" name="Rectangle 24"/>
            <p:cNvSpPr/>
            <p:nvPr/>
          </p:nvSpPr>
          <p:spPr>
            <a:xfrm>
              <a:off x="5276850" y="1866900"/>
              <a:ext cx="1809750" cy="257175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9525">
              <a:solidFill>
                <a:srgbClr val="CBD5DF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276850" y="1866900"/>
              <a:ext cx="1809750" cy="47625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436839" y="2025968"/>
              <a:ext cx="148977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 Import Batch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90210" y="26517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批次状态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90210" y="30327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幂等控制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90210" y="34137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错误审计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505450" y="3867150"/>
              <a:ext cx="1352550" cy="342900"/>
            </a:xfrm>
            <a:prstGeom prst="roundRect">
              <a:avLst>
                <a:gd name="adj" fmla="val 22222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705282" y="3982402"/>
              <a:ext cx="9528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Import Batch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315200" y="1866900"/>
            <a:ext cx="1809750" cy="2571750"/>
            <a:chOff x="7315200" y="1866900"/>
            <a:chExt cx="1809750" cy="2571750"/>
          </a:xfrm>
        </p:grpSpPr>
        <p:sp>
          <p:nvSpPr>
            <p:cNvPr id="33" name="Rectangle 33"/>
            <p:cNvSpPr/>
            <p:nvPr/>
          </p:nvSpPr>
          <p:spPr>
            <a:xfrm>
              <a:off x="7315200" y="1866900"/>
              <a:ext cx="1809750" cy="2571750"/>
            </a:xfrm>
            <a:prstGeom prst="roundRect">
              <a:avLst>
                <a:gd name="adj" fmla="val 4211"/>
              </a:avLst>
            </a:prstGeom>
            <a:solidFill>
              <a:srgbClr val="FFFFFF"/>
            </a:solidFill>
            <a:ln w="9525">
              <a:solidFill>
                <a:srgbClr val="CBD5DF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315200" y="1866900"/>
              <a:ext cx="1809750" cy="476250"/>
            </a:xfrm>
            <a:prstGeom prst="rect">
              <a:avLst/>
            </a:prstGeom>
            <a:solidFill>
              <a:srgbClr val="DD6B2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92566" y="2025968"/>
              <a:ext cx="1055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 独立解析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28560" y="26517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格式专属逻辑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28560" y="3032760"/>
              <a:ext cx="9025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语义 ID 生成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28560" y="34137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完整溯源字段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543800" y="3867150"/>
              <a:ext cx="1352550" cy="342900"/>
            </a:xfrm>
            <a:prstGeom prst="roundRect">
              <a:avLst>
                <a:gd name="adj" fmla="val 22222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65685" y="398240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D6B20"/>
                  </a:solidFill>
                  <a:latin typeface="Arial"/>
                  <a:ea typeface="Microsoft YaHei"/>
                  <a:cs typeface="Arial"/>
                </a:rPr>
                <a:t>Parsed Rows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353550" y="1866900"/>
            <a:ext cx="2305050" cy="2571750"/>
            <a:chOff x="9353550" y="1866900"/>
            <a:chExt cx="2305050" cy="2571750"/>
          </a:xfrm>
        </p:grpSpPr>
        <p:sp>
          <p:nvSpPr>
            <p:cNvPr id="42" name="Rectangle 42"/>
            <p:cNvSpPr/>
            <p:nvPr/>
          </p:nvSpPr>
          <p:spPr>
            <a:xfrm>
              <a:off x="9353550" y="1866900"/>
              <a:ext cx="2305050" cy="2571750"/>
            </a:xfrm>
            <a:prstGeom prst="roundRect">
              <a:avLst>
                <a:gd name="adj" fmla="val 3306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610165" y="2124075"/>
              <a:ext cx="17918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 Candidate Pool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85960" y="26898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跨批次统一候选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585960" y="307086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唯一索引与去重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85960" y="3451860"/>
              <a:ext cx="16226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面向 LLM Pack 批处理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601200" y="3886200"/>
              <a:ext cx="1809750" cy="342900"/>
            </a:xfrm>
            <a:prstGeom prst="roundRect">
              <a:avLst>
                <a:gd name="adj" fmla="val 22222"/>
              </a:avLst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845859" y="4001452"/>
              <a:ext cx="1320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Candidate Objects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2628900" y="2171700"/>
            <a:ext cx="6667500" cy="1600200"/>
            <a:chOff x="2628900" y="2171700"/>
            <a:chExt cx="6667500" cy="1600200"/>
          </a:xfrm>
        </p:grpSpPr>
        <p:sp>
          <p:nvSpPr>
            <p:cNvPr id="50" name="Line 50"/>
            <p:cNvSpPr/>
            <p:nvPr/>
          </p:nvSpPr>
          <p:spPr>
            <a:xfrm>
              <a:off x="2628900" y="2171700"/>
              <a:ext cx="552450" cy="685800"/>
            </a:xfrm>
            <a:prstGeom prst="line">
              <a:avLst/>
            </a:prstGeom>
            <a:noFill/>
            <a:ln w="28575">
              <a:solidFill>
                <a:srgbClr val="3182CE"/>
              </a:solidFill>
              <a:tailEnd type="triangle" w="lg" len="lg"/>
            </a:ln>
          </p:spPr>
        </p:sp>
        <p:sp>
          <p:nvSpPr>
            <p:cNvPr id="51" name="Line 51"/>
            <p:cNvSpPr/>
            <p:nvPr/>
          </p:nvSpPr>
          <p:spPr>
            <a:xfrm flipV="1">
              <a:off x="2628900" y="3333750"/>
              <a:ext cx="552450" cy="438150"/>
            </a:xfrm>
            <a:prstGeom prst="line">
              <a:avLst/>
            </a:prstGeom>
            <a:noFill/>
            <a:ln w="28575">
              <a:solidFill>
                <a:srgbClr val="3182CE"/>
              </a:solidFill>
              <a:tailEnd type="triangle" w="lg" len="lg"/>
            </a:ln>
          </p:spPr>
        </p:sp>
        <p:sp>
          <p:nvSpPr>
            <p:cNvPr id="52" name="Line 52"/>
            <p:cNvSpPr/>
            <p:nvPr/>
          </p:nvSpPr>
          <p:spPr>
            <a:xfrm>
              <a:off x="5048250" y="3143250"/>
              <a:ext cx="171450" cy="1"/>
            </a:xfrm>
            <a:prstGeom prst="line">
              <a:avLst/>
            </a:prstGeom>
            <a:noFill/>
            <a:ln w="28575">
              <a:solidFill>
                <a:srgbClr val="3182CE"/>
              </a:solidFill>
              <a:tailEnd type="triangle" w="lg" len="lg"/>
            </a:ln>
          </p:spPr>
        </p:sp>
        <p:sp>
          <p:nvSpPr>
            <p:cNvPr id="53" name="Line 53"/>
            <p:cNvSpPr/>
            <p:nvPr/>
          </p:nvSpPr>
          <p:spPr>
            <a:xfrm>
              <a:off x="7086600" y="3143250"/>
              <a:ext cx="171450" cy="1"/>
            </a:xfrm>
            <a:prstGeom prst="line">
              <a:avLst/>
            </a:prstGeom>
            <a:noFill/>
            <a:ln w="28575">
              <a:solidFill>
                <a:srgbClr val="3182CE"/>
              </a:solidFill>
              <a:tailEnd type="triangle" w="lg" len="lg"/>
            </a:ln>
          </p:spPr>
        </p:sp>
        <p:sp>
          <p:nvSpPr>
            <p:cNvPr id="54" name="Line 54"/>
            <p:cNvSpPr/>
            <p:nvPr/>
          </p:nvSpPr>
          <p:spPr>
            <a:xfrm>
              <a:off x="9124950" y="3143250"/>
              <a:ext cx="171450" cy="1"/>
            </a:xfrm>
            <a:prstGeom prst="line">
              <a:avLst/>
            </a:prstGeom>
            <a:noFill/>
            <a:ln w="28575">
              <a:solidFill>
                <a:srgbClr val="3182CE"/>
              </a:solidFill>
              <a:tailEnd type="triangle" w="lg" len="lg"/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3238500" y="4857750"/>
            <a:ext cx="8420100" cy="952500"/>
            <a:chOff x="3238500" y="4857750"/>
            <a:chExt cx="8420100" cy="952500"/>
          </a:xfrm>
        </p:grpSpPr>
        <p:sp>
          <p:nvSpPr>
            <p:cNvPr id="56" name="Rectangle 56"/>
            <p:cNvSpPr/>
            <p:nvPr/>
          </p:nvSpPr>
          <p:spPr>
            <a:xfrm>
              <a:off x="3238500" y="4857750"/>
              <a:ext cx="8420100" cy="952500"/>
            </a:xfrm>
            <a:prstGeom prst="roundRect">
              <a:avLst>
                <a:gd name="adj" fmla="val 8000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507105" y="50930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关键设计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507105" y="5426392"/>
              <a:ext cx="50749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解析链路可以不同，但批次、候选、溯源和幂等语义必须统一。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60" name="TextBox 60"/>
            <p:cNvSpPr txBox="1"/>
            <p:nvPr/>
          </p:nvSpPr>
          <p:spPr>
            <a:xfrm>
              <a:off x="522922" y="6483191"/>
              <a:ext cx="26612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Source: import pipeline implementation inventory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  <p:bldP spid="32" grpId="0"/>
      <p:bldP spid="41" grpId="0"/>
      <p:bldP spid="49" grpId="0"/>
      <p:bldP spid="55" grpId="0"/>
      <p:bldP spid="5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01015" y="391478"/>
            <a:ext cx="8633841" cy="680084"/>
            <a:chOff x="501015" y="391478"/>
            <a:chExt cx="8633841" cy="680084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91478"/>
              <a:ext cx="863384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确定性规则先拦截硬错误，再将疑难问题交给受控增强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065" y="858202"/>
              <a:ext cx="29880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规则负责判定，LLM 只生成建议，人工负责采纳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1333500"/>
            <a:ext cx="5905500" cy="4476750"/>
            <a:chOff x="533400" y="1333500"/>
            <a:chExt cx="5905500" cy="4476750"/>
          </a:xfrm>
        </p:grpSpPr>
        <p:sp>
          <p:nvSpPr>
            <p:cNvPr id="6" name="Rectangle 6"/>
            <p:cNvSpPr/>
            <p:nvPr/>
          </p:nvSpPr>
          <p:spPr>
            <a:xfrm>
              <a:off x="533400" y="1333500"/>
              <a:ext cx="5905500" cy="4476750"/>
            </a:xfrm>
            <a:prstGeom prst="roundRect">
              <a:avLst>
                <a:gd name="adj" fmla="val 1702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8190" y="1539240"/>
              <a:ext cx="184774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12 条确定性规则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81050" y="1924050"/>
              <a:ext cx="5410200" cy="9525"/>
            </a:xfrm>
            <a:custGeom>
              <a:avLst/>
              <a:gdLst/>
              <a:ahLst/>
              <a:cxnLst/>
              <a:rect l="l" t="t" r="r" b="b"/>
              <a:pathLst>
                <a:path w="5410200" h="9525">
                  <a:moveTo>
                    <a:pt x="0" y="0"/>
                  </a:moveTo>
                  <a:lnTo>
                    <a:pt x="5410200" y="0"/>
                  </a:lnTo>
                </a:path>
              </a:pathLst>
            </a:custGeom>
            <a:noFill/>
            <a:ln w="9525">
              <a:solidFill>
                <a:srgbClr val="CBD5D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1055" y="22164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完整性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78355" y="2216468"/>
              <a:ext cx="16814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必填字段 · 数据类型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1055" y="2730818"/>
              <a:ext cx="6297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语义 ID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78355" y="2730818"/>
              <a:ext cx="18615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命名规范 · 可重复生成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1055" y="32451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唯一性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78355" y="3245168"/>
              <a:ext cx="15014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候选键 · 重复记录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1055" y="37595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拓扑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78355" y="3759518"/>
              <a:ext cx="18885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自环 · 孤立 · 关系端点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1055" y="42738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溯源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078355" y="4273868"/>
              <a:ext cx="18885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资源 · 批次 · 原始定位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1055" y="47882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证据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78355" y="4788218"/>
              <a:ext cx="22485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引用 · 原始响应 · 模型信息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81050" y="5238750"/>
              <a:ext cx="5410200" cy="381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862109" y="5356860"/>
              <a:ext cx="32480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Blocker 必须修复 · Warning 可带标记继续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762750" y="1333500"/>
            <a:ext cx="4895850" cy="1714500"/>
            <a:chOff x="6762750" y="1333500"/>
            <a:chExt cx="4895850" cy="1714500"/>
          </a:xfrm>
        </p:grpSpPr>
        <p:sp>
          <p:nvSpPr>
            <p:cNvPr id="24" name="Rectangle 24"/>
            <p:cNvSpPr/>
            <p:nvPr/>
          </p:nvSpPr>
          <p:spPr>
            <a:xfrm>
              <a:off x="6762750" y="1333500"/>
              <a:ext cx="4895850" cy="17145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>
              <a:solidFill>
                <a:srgbClr val="CBD5D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06590" y="1520190"/>
              <a:ext cx="170912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Quality Score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12305" y="1987868"/>
              <a:ext cx="27616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完整性 30% · 溯源 20% · 拓扑 20%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12305" y="2330768"/>
              <a:ext cx="16184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证据 20% · 关联 10%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029450" y="2686050"/>
              <a:ext cx="4362450" cy="171450"/>
            </a:xfrm>
            <a:prstGeom prst="rect">
              <a:avLst/>
            </a:prstGeom>
            <a:solidFill>
              <a:srgbClr val="CBD5DF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029450" y="2686050"/>
              <a:ext cx="3486150" cy="171450"/>
            </a:xfrm>
            <a:prstGeom prst="rect">
              <a:avLst/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502265" y="2534602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8A169"/>
                  </a:solidFill>
                  <a:latin typeface="Arial"/>
                  <a:ea typeface="Microsoft YaHei"/>
                  <a:cs typeface="Arial"/>
                </a:rPr>
                <a:t>80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762750" y="3333750"/>
            <a:ext cx="4895850" cy="2476500"/>
            <a:chOff x="6762750" y="3333750"/>
            <a:chExt cx="4895850" cy="2476500"/>
          </a:xfrm>
        </p:grpSpPr>
        <p:sp>
          <p:nvSpPr>
            <p:cNvPr id="32" name="Polygon 32"/>
            <p:cNvSpPr/>
            <p:nvPr/>
          </p:nvSpPr>
          <p:spPr>
            <a:xfrm>
              <a:off x="7334250" y="3333750"/>
              <a:ext cx="2286000" cy="1333500"/>
            </a:xfrm>
            <a:custGeom>
              <a:avLst/>
              <a:gdLst/>
              <a:ahLst/>
              <a:cxnLst/>
              <a:rect l="l" t="t" r="r" b="b"/>
              <a:pathLst>
                <a:path w="2286000" h="1333500">
                  <a:moveTo>
                    <a:pt x="1143000" y="0"/>
                  </a:moveTo>
                  <a:lnTo>
                    <a:pt x="2286000" y="666750"/>
                  </a:lnTo>
                  <a:lnTo>
                    <a:pt x="1143000" y="1333500"/>
                  </a:lnTo>
                  <a:lnTo>
                    <a:pt x="0" y="666750"/>
                  </a:lnTo>
                  <a:close/>
                </a:path>
              </a:pathLst>
            </a:custGeom>
            <a:solidFill>
              <a:srgbClr val="DD6B2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935564" y="3797618"/>
              <a:ext cx="10833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Score ≥ 80?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83880" y="40776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规则通过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953625" y="3562350"/>
              <a:ext cx="1704975" cy="876300"/>
            </a:xfrm>
            <a:prstGeom prst="roundRect">
              <a:avLst>
                <a:gd name="adj" fmla="val 8696"/>
              </a:avLst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595181" y="37595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通过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367962" y="407765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进入提取队列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762750" y="4953000"/>
              <a:ext cx="2266950" cy="857250"/>
            </a:xfrm>
            <a:prstGeom prst="roundRect">
              <a:avLst>
                <a:gd name="adj" fmla="val 8889"/>
              </a:avLst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38075" y="5140642"/>
              <a:ext cx="516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Tier 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80935" y="5442585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确定性修复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391650" y="4953000"/>
              <a:ext cx="2266950" cy="857250"/>
            </a:xfrm>
            <a:prstGeom prst="roundRect">
              <a:avLst>
                <a:gd name="adj" fmla="val 8889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243347" y="5140642"/>
              <a:ext cx="5635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Tier 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61766" y="5442585"/>
              <a:ext cx="19267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DeepSeek 建议 + 人工决策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45" name="TextBox 45"/>
            <p:cNvSpPr txBox="1"/>
            <p:nvPr/>
          </p:nvSpPr>
          <p:spPr>
            <a:xfrm>
              <a:off x="522922" y="6483191"/>
              <a:ext cx="25787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Source: validation and data enhancement engine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01015" y="391478"/>
            <a:ext cx="9205112" cy="680084"/>
            <a:chOff x="501015" y="391478"/>
            <a:chExt cx="9205112" cy="680084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91478"/>
              <a:ext cx="920511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Provider 抽象层统一双 LLM，七类能力均受粒度边界约束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065" y="858202"/>
              <a:ext cx="34150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DeepSeek 与 Kimi 共享接口，但不共享未经审核的结论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19250" y="1238250"/>
            <a:ext cx="7715250" cy="5143500"/>
            <a:chOff x="1619250" y="1238250"/>
            <a:chExt cx="7715250" cy="51435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9250" y="1238250"/>
              <a:ext cx="7715250" cy="5143500"/>
            </a:xfrm>
            <a:prstGeom prst="rect">
              <a:avLst/>
            </a:prstGeom>
          </p:spPr>
        </p:pic>
      </p:grpSp>
      <p:grpSp>
        <p:nvGrpSpPr>
          <p:cNvPr id="24" name="Group 24"/>
          <p:cNvGrpSpPr/>
          <p:nvPr/>
        </p:nvGrpSpPr>
        <p:grpSpPr>
          <a:xfrm>
            <a:off x="514350" y="1238250"/>
            <a:ext cx="9963150" cy="4991100"/>
            <a:chOff x="514350" y="1238250"/>
            <a:chExt cx="9963150" cy="4991100"/>
          </a:xfrm>
        </p:grpSpPr>
        <p:sp>
          <p:nvSpPr>
            <p:cNvPr id="8" name="Rectangle 8"/>
            <p:cNvSpPr/>
            <p:nvPr/>
          </p:nvSpPr>
          <p:spPr>
            <a:xfrm>
              <a:off x="4857750" y="1238250"/>
              <a:ext cx="2095500" cy="323850"/>
            </a:xfrm>
            <a:prstGeom prst="roundRect">
              <a:avLst>
                <a:gd name="adj" fmla="val 23529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017406" y="1343978"/>
              <a:ext cx="17761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DeepSeek / Kimi Provider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00100" y="1943100"/>
              <a:ext cx="161925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9525">
              <a:solidFill>
                <a:srgbClr val="3182C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02353" y="20488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连接提取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14350" y="3257550"/>
              <a:ext cx="161925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9525">
              <a:solidFill>
                <a:srgbClr val="3182CE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16603" y="33632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功能提取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143000" y="4762500"/>
              <a:ext cx="161925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9525">
              <a:solidFill>
                <a:srgbClr val="3182C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45253" y="48682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回路提取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733800" y="5905500"/>
              <a:ext cx="161925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9525">
              <a:solidFill>
                <a:srgbClr val="3182CE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236053" y="60112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投射功能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143750" y="5638800"/>
              <a:ext cx="161925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9525">
              <a:solidFill>
                <a:srgbClr val="3182C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46003" y="574452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回路功能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801100" y="4095750"/>
              <a:ext cx="161925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9525">
              <a:solidFill>
                <a:srgbClr val="3182CE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03353" y="42014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回路步骤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667750" y="2266950"/>
              <a:ext cx="1809750" cy="323850"/>
            </a:xfrm>
            <a:prstGeom prst="roundRect">
              <a:avLst>
                <a:gd name="adj" fmla="val 23529"/>
              </a:avLst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97707" y="2372678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三元组整合：确定性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096500" y="1428750"/>
            <a:ext cx="1640967" cy="4476750"/>
            <a:chOff x="10096500" y="1428750"/>
            <a:chExt cx="1640967" cy="4476750"/>
          </a:xfrm>
        </p:grpSpPr>
        <p:sp>
          <p:nvSpPr>
            <p:cNvPr id="25" name="Rectangle 25"/>
            <p:cNvSpPr/>
            <p:nvPr/>
          </p:nvSpPr>
          <p:spPr>
            <a:xfrm>
              <a:off x="10096500" y="1428750"/>
              <a:ext cx="1562100" cy="4476750"/>
            </a:xfrm>
            <a:prstGeom prst="roundRect">
              <a:avLst>
                <a:gd name="adj" fmla="val 4878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288905" y="16640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四条护栏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90810" y="213741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同粒度内提取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90810" y="2594610"/>
              <a:ext cx="10066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显式 Mapping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90810" y="3051810"/>
              <a:ext cx="10946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API Key 后端化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90810" y="3509010"/>
              <a:ext cx="14466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Raw Response 留存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10306050" y="4019550"/>
              <a:ext cx="1123950" cy="9525"/>
            </a:xfrm>
            <a:custGeom>
              <a:avLst/>
              <a:gdLst/>
              <a:ahLst/>
              <a:cxnLst/>
              <a:rect l="l" t="t" r="r" b="b"/>
              <a:pathLst>
                <a:path w="1123950" h="9525">
                  <a:moveTo>
                    <a:pt x="0" y="0"/>
                  </a:moveTo>
                  <a:lnTo>
                    <a:pt x="1123950" y="0"/>
                  </a:lnTo>
                </a:path>
              </a:pathLst>
            </a:custGeom>
            <a:noFill/>
            <a:ln w="9525">
              <a:solidFill>
                <a:srgbClr val="CBD5DF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290810" y="430911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D6B20"/>
                  </a:solidFill>
                  <a:latin typeface="Arial"/>
                  <a:ea typeface="Microsoft YaHei"/>
                  <a:cs typeface="Arial"/>
                </a:rPr>
                <a:t>模型输出是候选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90810" y="472821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8A169"/>
                  </a:solidFill>
                  <a:latin typeface="Arial"/>
                  <a:ea typeface="Microsoft YaHei"/>
                  <a:cs typeface="Arial"/>
                </a:rPr>
                <a:t>规则与审核定稿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35" name="TextBox 35"/>
            <p:cNvSpPr txBox="1"/>
            <p:nvPr/>
          </p:nvSpPr>
          <p:spPr>
            <a:xfrm>
              <a:off x="522922" y="6483191"/>
              <a:ext cx="378342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Seven extraction capabilities share one controlled provider boundary.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4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01015" y="391478"/>
            <a:ext cx="10079872" cy="680084"/>
            <a:chOff x="501015" y="391478"/>
            <a:chExt cx="10079872" cy="680084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91478"/>
              <a:ext cx="1007987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Pack 化编排控制成本与可恢复性，确定性转换负责写入 Mirror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065" y="858202"/>
              <a:ext cx="41011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LLM 生成 raw response；llm_to_mirror 承担结构化与写入责任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38162" y="1200150"/>
            <a:ext cx="8086725" cy="5391150"/>
            <a:chOff x="538162" y="1200150"/>
            <a:chExt cx="8086725" cy="539115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8162" y="1200150"/>
              <a:ext cx="8086725" cy="5391150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1066800" y="1504950"/>
            <a:ext cx="6915150" cy="323850"/>
            <a:chOff x="1066800" y="1504950"/>
            <a:chExt cx="6915150" cy="323850"/>
          </a:xfrm>
        </p:grpSpPr>
        <p:sp>
          <p:nvSpPr>
            <p:cNvPr id="8" name="Rectangle 8"/>
            <p:cNvSpPr/>
            <p:nvPr/>
          </p:nvSpPr>
          <p:spPr>
            <a:xfrm>
              <a:off x="1066800" y="1504950"/>
              <a:ext cx="1428750" cy="323850"/>
            </a:xfrm>
            <a:prstGeom prst="roundRect">
              <a:avLst>
                <a:gd name="adj" fmla="val 23529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89268" y="1610678"/>
              <a:ext cx="7838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连接 + 功能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95600" y="1504950"/>
              <a:ext cx="1428750" cy="323850"/>
            </a:xfrm>
            <a:prstGeom prst="roundRect">
              <a:avLst>
                <a:gd name="adj" fmla="val 23529"/>
              </a:avLst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218068" y="1610678"/>
              <a:ext cx="7838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回路 + 步骤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724400" y="1504950"/>
              <a:ext cx="1428750" cy="323850"/>
            </a:xfrm>
            <a:prstGeom prst="roundRect">
              <a:avLst>
                <a:gd name="adj" fmla="val 23529"/>
              </a:avLst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131403" y="1610678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投射提取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553200" y="1504950"/>
              <a:ext cx="1428750" cy="323850"/>
            </a:xfrm>
            <a:prstGeom prst="roundRect">
              <a:avLst>
                <a:gd name="adj" fmla="val 23529"/>
              </a:avLst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86694" y="161067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三元组整合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896350" y="1295400"/>
            <a:ext cx="2777157" cy="2343150"/>
            <a:chOff x="8896350" y="1295400"/>
            <a:chExt cx="2777157" cy="2343150"/>
          </a:xfrm>
        </p:grpSpPr>
        <p:sp>
          <p:nvSpPr>
            <p:cNvPr id="17" name="Rectangle 17"/>
            <p:cNvSpPr/>
            <p:nvPr/>
          </p:nvSpPr>
          <p:spPr>
            <a:xfrm>
              <a:off x="8896350" y="1295400"/>
              <a:ext cx="2762250" cy="2343150"/>
            </a:xfrm>
            <a:prstGeom prst="roundRect">
              <a:avLst>
                <a:gd name="adj" fmla="val 3252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44000" y="15144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运行控制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45905" y="1968818"/>
              <a:ext cx="17805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pairs_per_pack = 20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45905" y="2330768"/>
              <a:ext cx="25276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Dry Run：pack / token / 费用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145905" y="2692718"/>
              <a:ext cx="11414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Skip Existing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45905" y="3054668"/>
              <a:ext cx="15284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暂停 · 取消 · 恢复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896350" y="3905250"/>
            <a:ext cx="2762250" cy="2190750"/>
            <a:chOff x="8896350" y="3905250"/>
            <a:chExt cx="2762250" cy="2190750"/>
          </a:xfrm>
        </p:grpSpPr>
        <p:sp>
          <p:nvSpPr>
            <p:cNvPr id="24" name="Rectangle 24"/>
            <p:cNvSpPr/>
            <p:nvPr/>
          </p:nvSpPr>
          <p:spPr>
            <a:xfrm>
              <a:off x="8896350" y="3905250"/>
              <a:ext cx="2762250" cy="2190750"/>
            </a:xfrm>
            <a:prstGeom prst="roundRect">
              <a:avLst>
                <a:gd name="adj" fmla="val 3478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144000" y="4143375"/>
              <a:ext cx="14137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Mirror 写入链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49715" y="4649152"/>
              <a:ext cx="14128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llm_extraction_runs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49715" y="4992052"/>
              <a:ext cx="14828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llm_extraction_items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149715" y="5334952"/>
              <a:ext cx="9787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8A169"/>
                  </a:solidFill>
                  <a:latin typeface="Consolas"/>
                  <a:ea typeface="Microsoft YaHei"/>
                  <a:cs typeface="Consolas"/>
                </a:rPr>
                <a:t>llm_to_mirror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147810" y="5661660"/>
              <a:ext cx="12386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→ 8 张 Mirror 表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2922" y="6578441"/>
            <a:ext cx="11146155" cy="167640"/>
            <a:chOff x="522922" y="6578441"/>
            <a:chExt cx="11146155" cy="167640"/>
          </a:xfrm>
        </p:grpSpPr>
        <p:sp>
          <p:nvSpPr>
            <p:cNvPr id="31" name="TextBox 31"/>
            <p:cNvSpPr txBox="1"/>
            <p:nvPr/>
          </p:nvSpPr>
          <p:spPr>
            <a:xfrm>
              <a:off x="522922" y="6578441"/>
              <a:ext cx="354139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Raw responses remain auditable before deterministic conversion.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27107" y="657844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/>
      <p:bldP spid="23" grpId="0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01015" y="391478"/>
            <a:ext cx="10044167" cy="680084"/>
            <a:chOff x="501015" y="391478"/>
            <a:chExt cx="10044167" cy="680084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91478"/>
              <a:ext cx="1004416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Mirror KG 在正式知识之前完成去重、模型共识与结构交叉验证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065" y="858202"/>
              <a:ext cx="26870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它不是临时表，而是承担治理责任的安全域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400" y="1352550"/>
            <a:ext cx="11125200" cy="4552950"/>
            <a:chOff x="533400" y="1352550"/>
            <a:chExt cx="11125200" cy="4552950"/>
          </a:xfrm>
        </p:grpSpPr>
        <p:sp>
          <p:nvSpPr>
            <p:cNvPr id="6" name="Rectangle 6"/>
            <p:cNvSpPr/>
            <p:nvPr/>
          </p:nvSpPr>
          <p:spPr>
            <a:xfrm>
              <a:off x="533400" y="1352550"/>
              <a:ext cx="11125200" cy="4552950"/>
            </a:xfrm>
            <a:prstGeom prst="roundRect">
              <a:avLst>
                <a:gd name="adj" fmla="val 1674"/>
              </a:avLst>
            </a:prstGeom>
            <a:solidFill>
              <a:srgbClr val="F4F7FA"/>
            </a:solidFill>
            <a:ln w="19050">
              <a:solidFill>
                <a:srgbClr val="3182CE"/>
              </a:solidFill>
              <a:prstDash val="lgDash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854207" y="1546860"/>
              <a:ext cx="24835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MIRROR KG GOVERNANCE DOMAIN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19150" y="2000250"/>
            <a:ext cx="3238500" cy="3333750"/>
            <a:chOff x="819150" y="2000250"/>
            <a:chExt cx="3238500" cy="3333750"/>
          </a:xfrm>
        </p:grpSpPr>
        <p:sp>
          <p:nvSpPr>
            <p:cNvPr id="9" name="Rectangle 9"/>
            <p:cNvSpPr/>
            <p:nvPr/>
          </p:nvSpPr>
          <p:spPr>
            <a:xfrm>
              <a:off x="819150" y="2000250"/>
              <a:ext cx="3238500" cy="3333750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rgbClr val="CBD5DF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19150" y="2000250"/>
              <a:ext cx="3238500" cy="55245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12469" y="2174558"/>
              <a:ext cx="205186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Canonical Key 去重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87755" y="286416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写入时生成规范键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7755" y="328326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高置信度记录胜出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7755" y="370236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双溯源同时保留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104900" y="41719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rgbClr val="CBD5D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89660" y="4461510"/>
              <a:ext cx="19291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D6B20"/>
                  </a:solidFill>
                  <a:latin typeface="Arial"/>
                  <a:ea typeface="Microsoft YaHei"/>
                  <a:cs typeface="Arial"/>
                </a:rPr>
                <a:t>已审核 / 已晋升 / 跨粒度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9660" y="478536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D6B20"/>
                  </a:solidFill>
                  <a:latin typeface="Arial"/>
                  <a:ea typeface="Microsoft YaHei"/>
                  <a:cs typeface="Arial"/>
                </a:rPr>
                <a:t>永不自动合并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476750" y="2000250"/>
            <a:ext cx="3238500" cy="3333750"/>
            <a:chOff x="4476750" y="2000250"/>
            <a:chExt cx="3238500" cy="3333750"/>
          </a:xfrm>
        </p:grpSpPr>
        <p:sp>
          <p:nvSpPr>
            <p:cNvPr id="19" name="Rectangle 19"/>
            <p:cNvSpPr/>
            <p:nvPr/>
          </p:nvSpPr>
          <p:spPr>
            <a:xfrm>
              <a:off x="4476750" y="2000250"/>
              <a:ext cx="3238500" cy="3333750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rgbClr val="CBD5DF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76750" y="2000250"/>
              <a:ext cx="3238500" cy="552450"/>
            </a:xfrm>
            <a:prstGeom prst="rect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497473" y="2174558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双模型盲审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45355" y="2864168"/>
              <a:ext cx="160048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DeepSeek 独立复核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45355" y="3283268"/>
              <a:ext cx="115042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Kimi 独立复核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762500" y="3829050"/>
              <a:ext cx="1219200" cy="476250"/>
            </a:xfrm>
            <a:prstGeom prst="roundRect">
              <a:avLst>
                <a:gd name="adj" fmla="val 16000"/>
              </a:avLst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941008" y="4004310"/>
              <a:ext cx="8621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consensus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210300" y="3829050"/>
              <a:ext cx="1219200" cy="476250"/>
            </a:xfrm>
            <a:prstGeom prst="roundRect">
              <a:avLst>
                <a:gd name="adj" fmla="val 16000"/>
              </a:avLst>
            </a:prstGeom>
            <a:solidFill>
              <a:srgbClr val="DD6B2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77019" y="4004310"/>
              <a:ext cx="6857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conflict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47260" y="4632960"/>
              <a:ext cx="1542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8A169"/>
                  </a:solidFill>
                  <a:latin typeface="Arial"/>
                  <a:ea typeface="Microsoft YaHei"/>
                  <a:cs typeface="Arial"/>
                </a:rPr>
                <a:t>共识：加速人工审核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47260" y="4937760"/>
              <a:ext cx="1542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D6B20"/>
                  </a:solidFill>
                  <a:latin typeface="Arial"/>
                  <a:ea typeface="Microsoft YaHei"/>
                  <a:cs typeface="Arial"/>
                </a:rPr>
                <a:t>冲突：升级专家处理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134350" y="2000250"/>
            <a:ext cx="3238500" cy="3333750"/>
            <a:chOff x="8134350" y="2000250"/>
            <a:chExt cx="3238500" cy="3333750"/>
          </a:xfrm>
        </p:grpSpPr>
        <p:sp>
          <p:nvSpPr>
            <p:cNvPr id="31" name="Rectangle 31"/>
            <p:cNvSpPr/>
            <p:nvPr/>
          </p:nvSpPr>
          <p:spPr>
            <a:xfrm>
              <a:off x="8134350" y="2000250"/>
              <a:ext cx="3238500" cy="3333750"/>
            </a:xfrm>
            <a:prstGeom prst="roundRect">
              <a:avLst>
                <a:gd name="adj" fmla="val 2353"/>
              </a:avLst>
            </a:prstGeom>
            <a:solidFill>
              <a:srgbClr val="FFFFFF"/>
            </a:solidFill>
            <a:ln w="9525">
              <a:solidFill>
                <a:srgbClr val="CBD5DF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134350" y="2000250"/>
              <a:ext cx="3238500" cy="552450"/>
            </a:xfrm>
            <a:prstGeom prst="rect">
              <a:avLst/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39558" y="217455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结构交叉验证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02955" y="2864168"/>
              <a:ext cx="15284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回路 → 步骤 → 投射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02955" y="3283268"/>
              <a:ext cx="13214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投射 → 回路反查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8420100" y="377190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rgbClr val="CBD5D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402955" y="408336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检查顺序完整性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02955" y="448341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检查端点一致性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02955" y="4883468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检查跨表引用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33400" y="6096000"/>
            <a:ext cx="11125200" cy="381000"/>
            <a:chOff x="533400" y="6096000"/>
            <a:chExt cx="11125200" cy="381000"/>
          </a:xfrm>
        </p:grpSpPr>
        <p:sp>
          <p:nvSpPr>
            <p:cNvPr id="41" name="Rectangle 41"/>
            <p:cNvSpPr/>
            <p:nvPr/>
          </p:nvSpPr>
          <p:spPr>
            <a:xfrm>
              <a:off x="533400" y="6096000"/>
              <a:ext cx="11125200" cy="3810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884356" y="6197918"/>
              <a:ext cx="64232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Mirror 的价值：允许自动化高吞吐，同时把不可逆错误挡在 Final KG 之外。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1527107" y="663559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492A0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/>
      <p:bldP spid="30" grpId="0"/>
      <p:bldP spid="40" grpId="0"/>
      <p:bldP spid="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01015" y="391478"/>
            <a:ext cx="8276796" cy="680084"/>
            <a:chOff x="501015" y="391478"/>
            <a:chExt cx="8276796" cy="680084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91478"/>
              <a:ext cx="827679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三道闸门缺一不可：规则提效、模型复核、专家终审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065" y="858202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任何单点通过都不能替代完整治理链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33400" y="1298575"/>
            <a:ext cx="7620000" cy="5080000"/>
            <a:chOff x="533400" y="1298575"/>
            <a:chExt cx="7620000" cy="508000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1298575"/>
              <a:ext cx="7620000" cy="5080000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762000" y="1524000"/>
            <a:ext cx="6972300" cy="857250"/>
            <a:chOff x="762000" y="1524000"/>
            <a:chExt cx="6972300" cy="857250"/>
          </a:xfrm>
        </p:grpSpPr>
        <p:sp>
          <p:nvSpPr>
            <p:cNvPr id="8" name="Polygon 8"/>
            <p:cNvSpPr/>
            <p:nvPr/>
          </p:nvSpPr>
          <p:spPr>
            <a:xfrm>
              <a:off x="762000" y="1524000"/>
              <a:ext cx="2152650" cy="857250"/>
            </a:xfrm>
            <a:custGeom>
              <a:avLst/>
              <a:gdLst/>
              <a:ahLst/>
              <a:cxnLst/>
              <a:rect l="l" t="t" r="r" b="b"/>
              <a:pathLst>
                <a:path w="2152650" h="857250">
                  <a:moveTo>
                    <a:pt x="0" y="0"/>
                  </a:moveTo>
                  <a:lnTo>
                    <a:pt x="1809750" y="0"/>
                  </a:lnTo>
                  <a:lnTo>
                    <a:pt x="2152650" y="428625"/>
                  </a:lnTo>
                  <a:lnTo>
                    <a:pt x="1809750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1A365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01537" y="1740218"/>
              <a:ext cx="11211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闸门 1 · 规则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48227" y="2020252"/>
              <a:ext cx="1027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12 条确定性校验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2971800" y="152400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0" y="0"/>
                  </a:moveTo>
                  <a:lnTo>
                    <a:pt x="1943100" y="0"/>
                  </a:lnTo>
                  <a:lnTo>
                    <a:pt x="2286000" y="428625"/>
                  </a:lnTo>
                  <a:lnTo>
                    <a:pt x="1943100" y="857250"/>
                  </a:lnTo>
                  <a:lnTo>
                    <a:pt x="0" y="857250"/>
                  </a:lnTo>
                  <a:lnTo>
                    <a:pt x="342900" y="428625"/>
                  </a:lnTo>
                  <a:close/>
                </a:path>
              </a:pathLst>
            </a:custGeom>
            <a:solidFill>
              <a:srgbClr val="3182C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530584" y="17402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闸门 2 · 模型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51421" y="20202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双模型盲审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5314950" y="1524000"/>
              <a:ext cx="2419350" cy="857250"/>
            </a:xfrm>
            <a:custGeom>
              <a:avLst/>
              <a:gdLst/>
              <a:ahLst/>
              <a:cxnLst/>
              <a:rect l="l" t="t" r="r" b="b"/>
              <a:pathLst>
                <a:path w="2419350" h="857250">
                  <a:moveTo>
                    <a:pt x="0" y="0"/>
                  </a:moveTo>
                  <a:lnTo>
                    <a:pt x="2076450" y="0"/>
                  </a:lnTo>
                  <a:lnTo>
                    <a:pt x="2419350" y="428625"/>
                  </a:lnTo>
                  <a:lnTo>
                    <a:pt x="2076450" y="857250"/>
                  </a:lnTo>
                  <a:lnTo>
                    <a:pt x="0" y="857250"/>
                  </a:lnTo>
                  <a:lnTo>
                    <a:pt x="342900" y="428625"/>
                  </a:lnTo>
                  <a:close/>
                </a:path>
              </a:pathLst>
            </a:custGeom>
            <a:solidFill>
              <a:srgbClr val="38A16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40409" y="17402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闸门 3 · 专家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31255" y="20202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人工终审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458200" y="1333500"/>
            <a:ext cx="3200400" cy="4705350"/>
            <a:chOff x="8458200" y="1333500"/>
            <a:chExt cx="3200400" cy="4705350"/>
          </a:xfrm>
        </p:grpSpPr>
        <p:sp>
          <p:nvSpPr>
            <p:cNvPr id="18" name="Rectangle 18"/>
            <p:cNvSpPr/>
            <p:nvPr/>
          </p:nvSpPr>
          <p:spPr>
            <a:xfrm>
              <a:off x="8458200" y="1333500"/>
              <a:ext cx="3200400" cy="1428750"/>
            </a:xfrm>
            <a:prstGeom prst="roundRect">
              <a:avLst>
                <a:gd name="adj" fmla="val 5333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05850" y="15525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规则闸门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07755" y="1949768"/>
              <a:ext cx="17625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Blocker：修复后重试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07755" y="2292668"/>
              <a:ext cx="17985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Warning：带标记继续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458200" y="2971800"/>
              <a:ext cx="3200400" cy="1428750"/>
            </a:xfrm>
            <a:prstGeom prst="roundRect">
              <a:avLst>
                <a:gd name="adj" fmla="val 5333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705850" y="31908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模型闸门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07755" y="3588068"/>
              <a:ext cx="18255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consensus：绿色通道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07755" y="3930968"/>
              <a:ext cx="16364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conflict：升级处理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458200" y="4610100"/>
              <a:ext cx="3200400" cy="1428750"/>
            </a:xfrm>
            <a:prstGeom prst="roundRect">
              <a:avLst>
                <a:gd name="adj" fmla="val 5333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705850" y="48291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专家闸门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707755" y="5226368"/>
              <a:ext cx="14834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approve / reject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07755" y="5569268"/>
              <a:ext cx="15194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request_changes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2922" y="6578441"/>
            <a:ext cx="11146156" cy="167640"/>
            <a:chOff x="522922" y="6578441"/>
            <a:chExt cx="11146156" cy="167640"/>
          </a:xfrm>
        </p:grpSpPr>
        <p:sp>
          <p:nvSpPr>
            <p:cNvPr id="31" name="TextBox 31"/>
            <p:cNvSpPr txBox="1"/>
            <p:nvPr/>
          </p:nvSpPr>
          <p:spPr>
            <a:xfrm>
              <a:off x="522922" y="6578441"/>
              <a:ext cx="24192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All three gates must pass before promotion.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54611" y="6578441"/>
              <a:ext cx="1144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01015" y="391478"/>
            <a:ext cx="9704975" cy="680084"/>
            <a:chOff x="501015" y="391478"/>
            <a:chExt cx="9704975" cy="680084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91478"/>
              <a:ext cx="970497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Promotion 是唯一正式写入口，Schema 级隔离保护粒度语义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065" y="858202"/>
              <a:ext cx="28690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预览 → 强确认 → 执行；每次晋升都有审计记录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38162" y="1181100"/>
            <a:ext cx="8086725" cy="5391150"/>
            <a:chOff x="538162" y="1181100"/>
            <a:chExt cx="8086725" cy="539115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8162" y="1181100"/>
              <a:ext cx="8086725" cy="5391150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2266950" y="1333500"/>
            <a:ext cx="5981700" cy="3276600"/>
            <a:chOff x="2266950" y="1333500"/>
            <a:chExt cx="5981700" cy="3276600"/>
          </a:xfrm>
        </p:grpSpPr>
        <p:sp>
          <p:nvSpPr>
            <p:cNvPr id="8" name="Rectangle 8"/>
            <p:cNvSpPr/>
            <p:nvPr/>
          </p:nvSpPr>
          <p:spPr>
            <a:xfrm>
              <a:off x="2266950" y="1333500"/>
              <a:ext cx="5981700" cy="323850"/>
            </a:xfrm>
            <a:prstGeom prst="roundRect">
              <a:avLst>
                <a:gd name="adj" fmla="val 23529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197234" y="1439228"/>
              <a:ext cx="41211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实体：BrainRegion · Function · Circuit · Step · Projection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266950" y="2876550"/>
              <a:ext cx="5981700" cy="323850"/>
            </a:xfrm>
            <a:prstGeom prst="roundRect">
              <a:avLst>
                <a:gd name="adj" fmla="val 23529"/>
              </a:avLst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571856" y="2982278"/>
              <a:ext cx="13718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关系：12 种标准谓词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266950" y="4286250"/>
              <a:ext cx="5981700" cy="323850"/>
            </a:xfrm>
            <a:prstGeom prst="roundRect">
              <a:avLst>
                <a:gd name="adj" fmla="val 23529"/>
              </a:avLst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450566" y="4391978"/>
              <a:ext cx="16144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查询：final_kg_triples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896350" y="1295400"/>
            <a:ext cx="2762250" cy="1924050"/>
            <a:chOff x="8896350" y="1295400"/>
            <a:chExt cx="2762250" cy="1924050"/>
          </a:xfrm>
        </p:grpSpPr>
        <p:sp>
          <p:nvSpPr>
            <p:cNvPr id="15" name="Rectangle 15"/>
            <p:cNvSpPr/>
            <p:nvPr/>
          </p:nvSpPr>
          <p:spPr>
            <a:xfrm>
              <a:off x="8896350" y="1295400"/>
              <a:ext cx="2762250" cy="1924050"/>
            </a:xfrm>
            <a:prstGeom prst="roundRect">
              <a:avLst>
                <a:gd name="adj" fmla="val 3960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44000" y="1514475"/>
              <a:ext cx="106722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Promotion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145905" y="1949768"/>
              <a:ext cx="13214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1. 预览映射结果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145905" y="2311718"/>
              <a:ext cx="11864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2. 强确认写入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45905" y="2673668"/>
              <a:ext cx="14204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3. 写 8 表 + 审计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896350" y="3467100"/>
            <a:ext cx="2762250" cy="2628900"/>
            <a:chOff x="8896350" y="3467100"/>
            <a:chExt cx="2762250" cy="2628900"/>
          </a:xfrm>
        </p:grpSpPr>
        <p:sp>
          <p:nvSpPr>
            <p:cNvPr id="21" name="Rectangle 21"/>
            <p:cNvSpPr/>
            <p:nvPr/>
          </p:nvSpPr>
          <p:spPr>
            <a:xfrm>
              <a:off x="8896350" y="3467100"/>
              <a:ext cx="2762250" cy="2628900"/>
            </a:xfrm>
            <a:prstGeom prst="roundRect">
              <a:avLst>
                <a:gd name="adj" fmla="val 2899"/>
              </a:avLst>
            </a:prstGeom>
            <a:solidFill>
              <a:srgbClr val="F4F7FA"/>
            </a:solidFill>
            <a:ln w="9525">
              <a:solidFill>
                <a:srgbClr val="CBD5D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44000" y="3686175"/>
              <a:ext cx="12562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五层 Schema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47810" y="4137660"/>
              <a:ext cx="5025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Consolas"/>
                  <a:ea typeface="Microsoft YaHei"/>
                  <a:cs typeface="Consolas"/>
                </a:rPr>
                <a:t>macro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47810" y="4480560"/>
              <a:ext cx="4145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Consolas"/>
                  <a:ea typeface="Microsoft YaHei"/>
                  <a:cs typeface="Consolas"/>
                </a:rPr>
                <a:t>meso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47810" y="4823460"/>
              <a:ext cx="2945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Consolas"/>
                  <a:ea typeface="Microsoft YaHei"/>
                  <a:cs typeface="Consolas"/>
                </a:rPr>
                <a:t>sub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47810" y="5166360"/>
              <a:ext cx="3425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Consolas"/>
                  <a:ea typeface="Microsoft YaHei"/>
                  <a:cs typeface="Consolas"/>
                </a:rPr>
                <a:t>fine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147810" y="5509260"/>
              <a:ext cx="7745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43447"/>
                  </a:solidFill>
                  <a:latin typeface="Consolas"/>
                  <a:ea typeface="Microsoft YaHei"/>
                  <a:cs typeface="Consolas"/>
                </a:rPr>
                <a:t>molecular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0096500" y="4171950"/>
              <a:ext cx="1295400" cy="150495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9525">
              <a:solidFill>
                <a:srgbClr val="DD6B2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289810" y="442055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D6B20"/>
                  </a:solidFill>
                  <a:latin typeface="Arial"/>
                  <a:ea typeface="Microsoft YaHei"/>
                  <a:cs typeface="Arial"/>
                </a:rPr>
                <a:t>跨粒度仅允许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93310" y="4763452"/>
              <a:ext cx="9017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exact_match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61331" y="5068252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part_of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440329" y="5373052"/>
              <a:ext cx="6077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overlaps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22922" y="6578441"/>
            <a:ext cx="11146155" cy="167640"/>
            <a:chOff x="522922" y="6578441"/>
            <a:chExt cx="11146155" cy="167640"/>
          </a:xfrm>
        </p:grpSpPr>
        <p:sp>
          <p:nvSpPr>
            <p:cNvPr id="34" name="TextBox 34"/>
            <p:cNvSpPr txBox="1"/>
            <p:nvPr/>
          </p:nvSpPr>
          <p:spPr>
            <a:xfrm>
              <a:off x="522922" y="6578441"/>
              <a:ext cx="41024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Schema isolation is a semantic safety boundary, not a storage convenience.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82114" y="6578441"/>
              <a:ext cx="8696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20" grpId="0"/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01015" y="391478"/>
            <a:ext cx="8723102" cy="680084"/>
            <a:chOff x="501015" y="391478"/>
            <a:chExt cx="8723102" cy="680084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91478"/>
              <a:ext cx="872310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每个 Final KG 事实都能沿七步链路回到原始脑图谱资源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065" y="858202"/>
              <a:ext cx="2967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消费能力建立在可解释、可追责的数据血缘之上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257300"/>
            <a:ext cx="11125200" cy="990600"/>
            <a:chOff x="533400" y="1257300"/>
            <a:chExt cx="11125200" cy="990600"/>
          </a:xfrm>
        </p:grpSpPr>
        <p:sp>
          <p:nvSpPr>
            <p:cNvPr id="6" name="Rectangle 6"/>
            <p:cNvSpPr/>
            <p:nvPr/>
          </p:nvSpPr>
          <p:spPr>
            <a:xfrm>
              <a:off x="533400" y="1257300"/>
              <a:ext cx="11125200" cy="990600"/>
            </a:xfrm>
            <a:prstGeom prst="roundRect">
              <a:avLst>
                <a:gd name="adj" fmla="val 7692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3905" y="14925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知识消费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68855" y="14925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图谱探索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78605" y="1492568"/>
              <a:ext cx="7543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症状查询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88355" y="1492568"/>
              <a:ext cx="12944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四阶段数据中心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74355" y="1492568"/>
              <a:ext cx="21405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JSONL / CSV / Neo4j 导出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7715" y="1886902"/>
              <a:ext cx="21619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所有入口使用同一 Final KG 查询面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57250" y="3143250"/>
            <a:ext cx="10096500" cy="2667000"/>
            <a:chOff x="857250" y="3143250"/>
            <a:chExt cx="10096500" cy="2667000"/>
          </a:xfrm>
        </p:grpSpPr>
        <p:sp>
          <p:nvSpPr>
            <p:cNvPr id="14" name="Freeform 14"/>
            <p:cNvSpPr/>
            <p:nvPr/>
          </p:nvSpPr>
          <p:spPr>
            <a:xfrm>
              <a:off x="857250" y="3143250"/>
              <a:ext cx="10096500" cy="2667000"/>
            </a:xfrm>
            <a:custGeom>
              <a:avLst/>
              <a:gdLst/>
              <a:ahLst/>
              <a:cxnLst/>
              <a:rect l="l" t="t" r="r" b="b"/>
              <a:pathLst>
                <a:path w="10096500" h="2667000">
                  <a:moveTo>
                    <a:pt x="666750" y="0"/>
                  </a:moveTo>
                  <a:lnTo>
                    <a:pt x="9429750" y="0"/>
                  </a:lnTo>
                  <a:cubicBezTo>
                    <a:pt x="9797986" y="0"/>
                    <a:pt x="10096500" y="298514"/>
                    <a:pt x="10096500" y="666750"/>
                  </a:cubicBezTo>
                  <a:cubicBezTo>
                    <a:pt x="10096500" y="1034986"/>
                    <a:pt x="9797986" y="1333500"/>
                    <a:pt x="9429750" y="1333500"/>
                  </a:cubicBezTo>
                  <a:lnTo>
                    <a:pt x="666750" y="1333500"/>
                  </a:lnTo>
                  <a:cubicBezTo>
                    <a:pt x="298514" y="1333500"/>
                    <a:pt x="0" y="1632014"/>
                    <a:pt x="0" y="2000250"/>
                  </a:cubicBezTo>
                  <a:cubicBezTo>
                    <a:pt x="0" y="2368486"/>
                    <a:pt x="298514" y="2667000"/>
                    <a:pt x="666750" y="2667000"/>
                  </a:cubicBezTo>
                  <a:lnTo>
                    <a:pt x="9429750" y="2667000"/>
                  </a:lnTo>
                </a:path>
              </a:pathLst>
            </a:custGeom>
            <a:noFill/>
            <a:ln w="285750" cap="rnd">
              <a:solidFill>
                <a:srgbClr val="F4F7F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857250" y="3143250"/>
              <a:ext cx="10096500" cy="2667000"/>
            </a:xfrm>
            <a:custGeom>
              <a:avLst/>
              <a:gdLst/>
              <a:ahLst/>
              <a:cxnLst/>
              <a:rect l="l" t="t" r="r" b="b"/>
              <a:pathLst>
                <a:path w="10096500" h="2667000">
                  <a:moveTo>
                    <a:pt x="666750" y="0"/>
                  </a:moveTo>
                  <a:lnTo>
                    <a:pt x="9429750" y="0"/>
                  </a:lnTo>
                  <a:cubicBezTo>
                    <a:pt x="9797986" y="0"/>
                    <a:pt x="10096500" y="298514"/>
                    <a:pt x="10096500" y="666750"/>
                  </a:cubicBezTo>
                  <a:cubicBezTo>
                    <a:pt x="10096500" y="1034986"/>
                    <a:pt x="9797986" y="1333500"/>
                    <a:pt x="9429750" y="1333500"/>
                  </a:cubicBezTo>
                  <a:lnTo>
                    <a:pt x="666750" y="1333500"/>
                  </a:lnTo>
                  <a:cubicBezTo>
                    <a:pt x="298514" y="1333500"/>
                    <a:pt x="0" y="1632014"/>
                    <a:pt x="0" y="2000250"/>
                  </a:cubicBezTo>
                  <a:cubicBezTo>
                    <a:pt x="0" y="2368486"/>
                    <a:pt x="298514" y="2667000"/>
                    <a:pt x="666750" y="2667000"/>
                  </a:cubicBezTo>
                  <a:lnTo>
                    <a:pt x="9429750" y="2667000"/>
                  </a:lnTo>
                </a:path>
              </a:pathLst>
            </a:custGeom>
            <a:noFill/>
            <a:ln w="28575" cap="rnd">
              <a:solidFill>
                <a:srgbClr val="3182CE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109710" y="2594610"/>
            <a:ext cx="828580" cy="834390"/>
            <a:chOff x="1109710" y="2594610"/>
            <a:chExt cx="828580" cy="834390"/>
          </a:xfrm>
        </p:grpSpPr>
        <p:sp>
          <p:nvSpPr>
            <p:cNvPr id="17" name="Ellipse 17"/>
            <p:cNvSpPr/>
            <p:nvPr/>
          </p:nvSpPr>
          <p:spPr>
            <a:xfrm>
              <a:off x="1238250" y="2857500"/>
              <a:ext cx="571500" cy="571500"/>
            </a:xfrm>
            <a:prstGeom prst="ellipse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78501" y="3073718"/>
              <a:ext cx="909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09710" y="2594610"/>
              <a:ext cx="828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Final fact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906984" y="2594610"/>
            <a:ext cx="853783" cy="834390"/>
            <a:chOff x="3906984" y="2594610"/>
            <a:chExt cx="853783" cy="834390"/>
          </a:xfrm>
        </p:grpSpPr>
        <p:sp>
          <p:nvSpPr>
            <p:cNvPr id="21" name="Ellipse 21"/>
            <p:cNvSpPr/>
            <p:nvPr/>
          </p:nvSpPr>
          <p:spPr>
            <a:xfrm>
              <a:off x="4048125" y="2857500"/>
              <a:ext cx="571500" cy="57150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264749" y="30737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06984" y="2594610"/>
              <a:ext cx="8537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Promotion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855476" y="2594610"/>
            <a:ext cx="576548" cy="834390"/>
            <a:chOff x="6855476" y="2594610"/>
            <a:chExt cx="576548" cy="834390"/>
          </a:xfrm>
        </p:grpSpPr>
        <p:sp>
          <p:nvSpPr>
            <p:cNvPr id="25" name="Ellipse 25"/>
            <p:cNvSpPr/>
            <p:nvPr/>
          </p:nvSpPr>
          <p:spPr>
            <a:xfrm>
              <a:off x="6858000" y="2857500"/>
              <a:ext cx="571500" cy="57150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74624" y="30737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55476" y="2594610"/>
              <a:ext cx="5765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Review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810750" y="3048000"/>
            <a:ext cx="1575340" cy="571500"/>
            <a:chOff x="9810750" y="3048000"/>
            <a:chExt cx="1575340" cy="571500"/>
          </a:xfrm>
        </p:grpSpPr>
        <p:sp>
          <p:nvSpPr>
            <p:cNvPr id="29" name="Ellipse 29"/>
            <p:cNvSpPr/>
            <p:nvPr/>
          </p:nvSpPr>
          <p:spPr>
            <a:xfrm>
              <a:off x="9810750" y="3048000"/>
              <a:ext cx="571500" cy="571500"/>
            </a:xfrm>
            <a:prstGeom prst="ellipse">
              <a:avLst/>
            </a:prstGeom>
            <a:solidFill>
              <a:srgbClr val="DD6B2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027374" y="32642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557510" y="3251835"/>
              <a:ext cx="828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Validation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148379" y="4191000"/>
            <a:ext cx="1324242" cy="914400"/>
            <a:chOff x="7148379" y="4191000"/>
            <a:chExt cx="1324242" cy="914400"/>
          </a:xfrm>
        </p:grpSpPr>
        <p:sp>
          <p:nvSpPr>
            <p:cNvPr id="33" name="Ellipse 33"/>
            <p:cNvSpPr/>
            <p:nvPr/>
          </p:nvSpPr>
          <p:spPr>
            <a:xfrm>
              <a:off x="7524750" y="4191000"/>
              <a:ext cx="571500" cy="571500"/>
            </a:xfrm>
            <a:prstGeom prst="ellipse">
              <a:avLst/>
            </a:prstGeom>
            <a:solidFill>
              <a:srgbClr val="DD6B2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41374" y="44072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48379" y="4861560"/>
              <a:ext cx="13242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Extraction item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926681" y="4191000"/>
            <a:ext cx="1290637" cy="914400"/>
            <a:chOff x="3926681" y="4191000"/>
            <a:chExt cx="1290637" cy="914400"/>
          </a:xfrm>
        </p:grpSpPr>
        <p:sp>
          <p:nvSpPr>
            <p:cNvPr id="37" name="Ellipse 37"/>
            <p:cNvSpPr/>
            <p:nvPr/>
          </p:nvSpPr>
          <p:spPr>
            <a:xfrm>
              <a:off x="4286250" y="4191000"/>
              <a:ext cx="571500" cy="57150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502874" y="44072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926681" y="4861560"/>
              <a:ext cx="12906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Run / Candidate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45718" y="5524500"/>
            <a:ext cx="1509065" cy="895350"/>
            <a:chOff x="1245718" y="5524500"/>
            <a:chExt cx="1509065" cy="895350"/>
          </a:xfrm>
        </p:grpSpPr>
        <p:sp>
          <p:nvSpPr>
            <p:cNvPr id="41" name="Ellipse 41"/>
            <p:cNvSpPr/>
            <p:nvPr/>
          </p:nvSpPr>
          <p:spPr>
            <a:xfrm>
              <a:off x="1714500" y="5524500"/>
              <a:ext cx="571500" cy="571500"/>
            </a:xfrm>
            <a:prstGeom prst="ellipse">
              <a:avLst/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931124" y="57407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245718" y="6176010"/>
              <a:ext cx="15090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Import / Resource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429250" y="5429250"/>
            <a:ext cx="5619750" cy="762000"/>
            <a:chOff x="5429250" y="5429250"/>
            <a:chExt cx="5619750" cy="762000"/>
          </a:xfrm>
        </p:grpSpPr>
        <p:sp>
          <p:nvSpPr>
            <p:cNvPr id="45" name="Rectangle 45"/>
            <p:cNvSpPr/>
            <p:nvPr/>
          </p:nvSpPr>
          <p:spPr>
            <a:xfrm>
              <a:off x="5429250" y="5429250"/>
              <a:ext cx="5619750" cy="762000"/>
            </a:xfrm>
            <a:prstGeom prst="roundRect">
              <a:avLst>
                <a:gd name="adj" fmla="val 10000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697855" y="5607368"/>
              <a:ext cx="44007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保留：原始响应 · 模型 · Prompt · 批次 · 资源标识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701665" y="5925502"/>
              <a:ext cx="33870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DF"/>
                  </a:solidFill>
                  <a:latin typeface="Arial"/>
                  <a:ea typeface="Microsoft YaHei"/>
                  <a:cs typeface="Arial"/>
                </a:rPr>
                <a:t>溯源不是日志附属品，而是每个知识事实的组成部分。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554611" y="661654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492A0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20" grpId="0"/>
      <p:bldP spid="24" grpId="0"/>
      <p:bldP spid="28" grpId="0"/>
      <p:bldP spid="32" grpId="0"/>
      <p:bldP spid="36" grpId="0"/>
      <p:bldP spid="40" grpId="0"/>
      <p:bldP spid="44" grpId="0"/>
      <p:bldP spid="4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01015" y="391478"/>
            <a:ext cx="9222965" cy="680084"/>
            <a:chOff x="501015" y="391478"/>
            <a:chExt cx="9222965" cy="680084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91478"/>
              <a:ext cx="922296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六项创新共同把 LLM 从“知识裁判”降级为“受控提取工具”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065" y="858202"/>
              <a:ext cx="25469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可信来自系统治理，而不是单一模型能力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85900" y="1371600"/>
            <a:ext cx="9525" cy="4686300"/>
            <a:chOff x="1485900" y="1371600"/>
            <a:chExt cx="9525" cy="4686300"/>
          </a:xfrm>
        </p:grpSpPr>
        <p:sp>
          <p:nvSpPr>
            <p:cNvPr id="6" name="Line 6"/>
            <p:cNvSpPr/>
            <p:nvPr/>
          </p:nvSpPr>
          <p:spPr>
            <a:xfrm>
              <a:off x="1485900" y="1371600"/>
              <a:ext cx="9525" cy="4686300"/>
            </a:xfrm>
            <a:custGeom>
              <a:avLst/>
              <a:gdLst/>
              <a:ahLst/>
              <a:cxnLst/>
              <a:rect l="l" t="t" r="r" b="b"/>
              <a:pathLst>
                <a:path w="9525" h="4686300">
                  <a:moveTo>
                    <a:pt x="0" y="0"/>
                  </a:moveTo>
                  <a:lnTo>
                    <a:pt x="0" y="4686300"/>
                  </a:lnTo>
                </a:path>
              </a:pathLst>
            </a:custGeom>
            <a:noFill/>
            <a:ln w="38100">
              <a:solidFill>
                <a:srgbClr val="3182CE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257300" y="1390650"/>
            <a:ext cx="4368546" cy="590550"/>
            <a:chOff x="1257300" y="1390650"/>
            <a:chExt cx="4368546" cy="590550"/>
          </a:xfrm>
        </p:grpSpPr>
        <p:sp>
          <p:nvSpPr>
            <p:cNvPr id="8" name="Ellipse 8"/>
            <p:cNvSpPr/>
            <p:nvPr/>
          </p:nvSpPr>
          <p:spPr>
            <a:xfrm>
              <a:off x="1257300" y="1390650"/>
              <a:ext cx="457200" cy="457200"/>
            </a:xfrm>
            <a:prstGeom prst="ellipse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45457" y="1556385"/>
              <a:ext cx="808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41195" y="14220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分层漏斗治理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46910" y="1737360"/>
              <a:ext cx="36789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候选、校验、提取、Mirror、审核、Final 各司其职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57300" y="2247900"/>
            <a:ext cx="3648320" cy="590550"/>
            <a:chOff x="1257300" y="2247900"/>
            <a:chExt cx="3648320" cy="590550"/>
          </a:xfrm>
        </p:grpSpPr>
        <p:sp>
          <p:nvSpPr>
            <p:cNvPr id="13" name="Ellipse 13"/>
            <p:cNvSpPr/>
            <p:nvPr/>
          </p:nvSpPr>
          <p:spPr>
            <a:xfrm>
              <a:off x="1257300" y="2247900"/>
              <a:ext cx="457200" cy="45720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24454" y="2413635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41195" y="2279332"/>
              <a:ext cx="29644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Mirror KG 与 Canonical Key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46910" y="259461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把自动化高吞吐与正式知识安全隔离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57300" y="3105150"/>
            <a:ext cx="3440430" cy="590550"/>
            <a:chOff x="1257300" y="3105150"/>
            <a:chExt cx="3440430" cy="590550"/>
          </a:xfrm>
        </p:grpSpPr>
        <p:sp>
          <p:nvSpPr>
            <p:cNvPr id="18" name="Ellipse 18"/>
            <p:cNvSpPr/>
            <p:nvPr/>
          </p:nvSpPr>
          <p:spPr>
            <a:xfrm>
              <a:off x="1257300" y="3105150"/>
              <a:ext cx="457200" cy="457200"/>
            </a:xfrm>
            <a:prstGeom prst="ellipse">
              <a:avLst/>
            </a:prstGeom>
            <a:solidFill>
              <a:srgbClr val="DD6B2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24454" y="3270885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41195" y="31365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双模型盲审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46910" y="345186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共识加速、冲突升级，避免单模型自证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57300" y="3962400"/>
            <a:ext cx="4312539" cy="590550"/>
            <a:chOff x="1257300" y="3962400"/>
            <a:chExt cx="4312539" cy="590550"/>
          </a:xfrm>
        </p:grpSpPr>
        <p:sp>
          <p:nvSpPr>
            <p:cNvPr id="23" name="Ellipse 23"/>
            <p:cNvSpPr/>
            <p:nvPr/>
          </p:nvSpPr>
          <p:spPr>
            <a:xfrm>
              <a:off x="1257300" y="3962400"/>
              <a:ext cx="457200" cy="45720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424454" y="4128135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41195" y="3993832"/>
              <a:ext cx="207496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Tier 1 + Tier 2 增强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46910" y="4309110"/>
              <a:ext cx="362292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确定性修复与 LLM 建议分离，建议必须经人工采纳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57300" y="4819650"/>
            <a:ext cx="4240530" cy="590550"/>
            <a:chOff x="1257300" y="4819650"/>
            <a:chExt cx="4240530" cy="590550"/>
          </a:xfrm>
        </p:grpSpPr>
        <p:sp>
          <p:nvSpPr>
            <p:cNvPr id="28" name="Ellipse 28"/>
            <p:cNvSpPr/>
            <p:nvPr/>
          </p:nvSpPr>
          <p:spPr>
            <a:xfrm>
              <a:off x="1257300" y="4819650"/>
              <a:ext cx="457200" cy="457200"/>
            </a:xfrm>
            <a:prstGeom prst="ellipse">
              <a:avLst/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424454" y="4985385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41195" y="48510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七步全链路溯源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46910" y="5166360"/>
              <a:ext cx="35509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每个正式事实都可回到模型响应、候选与原始资源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57300" y="5676900"/>
            <a:ext cx="4224528" cy="590550"/>
            <a:chOff x="1257300" y="5676900"/>
            <a:chExt cx="4224528" cy="590550"/>
          </a:xfrm>
        </p:grpSpPr>
        <p:sp>
          <p:nvSpPr>
            <p:cNvPr id="33" name="Ellipse 33"/>
            <p:cNvSpPr/>
            <p:nvPr/>
          </p:nvSpPr>
          <p:spPr>
            <a:xfrm>
              <a:off x="1257300" y="5676900"/>
              <a:ext cx="457200" cy="457200"/>
            </a:xfrm>
            <a:prstGeom prst="ellipse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424454" y="5842635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941195" y="5708332"/>
              <a:ext cx="25832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365D"/>
                  </a:solidFill>
                  <a:latin typeface="Arial"/>
                  <a:ea typeface="Microsoft YaHei"/>
                  <a:cs typeface="Arial"/>
                </a:rPr>
                <a:t>五层粒度隔离与显式映射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46910" y="6023610"/>
              <a:ext cx="35349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Schema 防止语义串扰，Mapping 承担跨粒度责任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477250" y="1714500"/>
            <a:ext cx="3181350" cy="3333750"/>
            <a:chOff x="8477250" y="1714500"/>
            <a:chExt cx="3181350" cy="3333750"/>
          </a:xfrm>
        </p:grpSpPr>
        <p:sp>
          <p:nvSpPr>
            <p:cNvPr id="38" name="Rectangle 38"/>
            <p:cNvSpPr/>
            <p:nvPr/>
          </p:nvSpPr>
          <p:spPr>
            <a:xfrm>
              <a:off x="8477250" y="1714500"/>
              <a:ext cx="3181350" cy="3333750"/>
            </a:xfrm>
            <a:prstGeom prst="roundRect">
              <a:avLst>
                <a:gd name="adj" fmla="val 2395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189720" y="2000250"/>
              <a:ext cx="175641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Cambria"/>
                  <a:ea typeface="SimSun"/>
                  <a:cs typeface="Cambria"/>
                </a:rPr>
                <a:t>可信知识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248775" y="2733675"/>
              <a:ext cx="1638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CBD5DF"/>
                  </a:solidFill>
                  <a:latin typeface="Arial"/>
                  <a:ea typeface="Microsoft YaHei"/>
                  <a:cs typeface="Arial"/>
                </a:rPr>
                <a:t>不是模型一次答对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8991600" y="3276600"/>
              <a:ext cx="2152650" cy="9525"/>
            </a:xfrm>
            <a:custGeom>
              <a:avLst/>
              <a:gdLst/>
              <a:ahLst/>
              <a:cxnLst/>
              <a:rect l="l" t="t" r="r" b="b"/>
              <a:pathLst>
                <a:path w="2152650" h="9525">
                  <a:moveTo>
                    <a:pt x="0" y="0"/>
                  </a:moveTo>
                  <a:lnTo>
                    <a:pt x="2152650" y="0"/>
                  </a:lnTo>
                </a:path>
              </a:pathLst>
            </a:custGeom>
            <a:noFill/>
            <a:ln w="28575">
              <a:solidFill>
                <a:srgbClr val="3182CE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348788" y="3648075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而是错误可发现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48812" y="4067175"/>
              <a:ext cx="1038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决策可追责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48812" y="4486275"/>
              <a:ext cx="10382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结果可回溯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1554611" y="661654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492A0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7" grpId="0"/>
      <p:bldP spid="22" grpId="0"/>
      <p:bldP spid="27" grpId="0"/>
      <p:bldP spid="32" grpId="0"/>
      <p:bldP spid="37" grpId="0"/>
      <p:bldP spid="4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01015" y="391478"/>
            <a:ext cx="9704975" cy="680084"/>
            <a:chOff x="501015" y="391478"/>
            <a:chExt cx="9704975" cy="680084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91478"/>
              <a:ext cx="970497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端到端闭环已经形成，下一阶段聚焦更多粒度与图数据库协同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065" y="858202"/>
              <a:ext cx="38071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当前成果证明治理架构可运行；路线图扩展覆盖面与探索能力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1352550"/>
            <a:ext cx="7620000" cy="4686300"/>
            <a:chOff x="533400" y="1352550"/>
            <a:chExt cx="7620000" cy="4686300"/>
          </a:xfrm>
        </p:grpSpPr>
        <p:sp>
          <p:nvSpPr>
            <p:cNvPr id="6" name="Rectangle 6"/>
            <p:cNvSpPr/>
            <p:nvPr/>
          </p:nvSpPr>
          <p:spPr>
            <a:xfrm>
              <a:off x="533400" y="1352550"/>
              <a:ext cx="7620000" cy="4686300"/>
            </a:xfrm>
            <a:prstGeom prst="roundRect">
              <a:avLst>
                <a:gd name="adj" fmla="val 1626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33400" y="1352550"/>
              <a:ext cx="7620000" cy="609600"/>
            </a:xfrm>
            <a:prstGeom prst="rect">
              <a:avLst/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6290" y="1558290"/>
              <a:ext cx="395220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已实现 · End-to-End Closed Loop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1055" y="23117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提取与增强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78405" y="2311718"/>
              <a:ext cx="30586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7 类提取 · Tier 1 / Tier 2 · 12 条规则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38200" y="2743200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9525">
              <a:solidFill>
                <a:srgbClr val="CBD5D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1055" y="30546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治理与审核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78405" y="3054668"/>
              <a:ext cx="27886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双模型盲审 · 交叉验证 · 专家终审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38200" y="3486150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9525">
              <a:solidFill>
                <a:srgbClr val="CBD5D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1055" y="37976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正式知识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78405" y="3797618"/>
              <a:ext cx="28876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Promotion · Final KG · 三元组整合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38200" y="4229100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9525">
              <a:solidFill>
                <a:srgbClr val="CBD5D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1055" y="45405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工作台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78405" y="4540568"/>
              <a:ext cx="24195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14 页前端 · 42 路由 · 88 服务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38200" y="4972050"/>
              <a:ext cx="7010400" cy="9525"/>
            </a:xfrm>
            <a:custGeom>
              <a:avLst/>
              <a:gdLst/>
              <a:ahLst/>
              <a:cxnLst/>
              <a:rect l="l" t="t" r="r" b="b"/>
              <a:pathLst>
                <a:path w="7010400" h="9525">
                  <a:moveTo>
                    <a:pt x="0" y="0"/>
                  </a:moveTo>
                  <a:lnTo>
                    <a:pt x="7010400" y="0"/>
                  </a:lnTo>
                </a:path>
              </a:pathLst>
            </a:custGeom>
            <a:noFill/>
            <a:ln w="9525">
              <a:solidFill>
                <a:srgbClr val="CBD5D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1055" y="5283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8A169"/>
                  </a:solidFill>
                  <a:latin typeface="Arial"/>
                  <a:ea typeface="Microsoft YaHei"/>
                  <a:cs typeface="Arial"/>
                </a:rPr>
                <a:t>质量保障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78405" y="5283518"/>
              <a:ext cx="23925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43447"/>
                  </a:solidFill>
                  <a:latin typeface="Arial"/>
                  <a:ea typeface="Microsoft YaHei"/>
                  <a:cs typeface="Arial"/>
                </a:rPr>
                <a:t>1,173 测试函数 · 59 数据迁移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439150" y="1352550"/>
            <a:ext cx="3219450" cy="4686300"/>
            <a:chOff x="8439150" y="1352550"/>
            <a:chExt cx="3219450" cy="4686300"/>
          </a:xfrm>
        </p:grpSpPr>
        <p:sp>
          <p:nvSpPr>
            <p:cNvPr id="24" name="Rectangle 24"/>
            <p:cNvSpPr/>
            <p:nvPr/>
          </p:nvSpPr>
          <p:spPr>
            <a:xfrm>
              <a:off x="8439150" y="1352550"/>
              <a:ext cx="3219450" cy="4686300"/>
            </a:xfrm>
            <a:prstGeom prst="roundRect">
              <a:avLst>
                <a:gd name="adj" fmla="val 2367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02040" y="1558290"/>
              <a:ext cx="8018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下一步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8686800" y="2266950"/>
              <a:ext cx="190500" cy="19050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31605" y="2283142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更多粒度资源接入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8782050" y="2457450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9525">
              <a:solidFill>
                <a:srgbClr val="CBD5DF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8686800" y="3181350"/>
              <a:ext cx="190500" cy="190500"/>
            </a:xfrm>
            <a:prstGeom prst="ellipse">
              <a:avLst/>
            </a:prstGeom>
            <a:solidFill>
              <a:srgbClr val="3182C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31605" y="3197542"/>
              <a:ext cx="11144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图数据库同步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782050" y="3371850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9525">
              <a:solidFill>
                <a:srgbClr val="CBD5DF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686800" y="4095750"/>
              <a:ext cx="190500" cy="190500"/>
            </a:xfrm>
            <a:prstGeom prst="ellipse">
              <a:avLst/>
            </a:prstGeom>
            <a:solidFill>
              <a:srgbClr val="DD6B2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031605" y="4111942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跨粒度映射自动化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8782050" y="4286250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9525">
              <a:solidFill>
                <a:srgbClr val="CBD5DF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8686800" y="5010150"/>
              <a:ext cx="190500" cy="190500"/>
            </a:xfrm>
            <a:prstGeom prst="ellipse">
              <a:avLst/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031605" y="5026342"/>
              <a:ext cx="17445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Graph Explorer 增强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11565" y="556355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BD5DF"/>
                  </a:solidFill>
                  <a:latin typeface="Arial"/>
                  <a:ea typeface="Microsoft YaHei"/>
                  <a:cs typeface="Arial"/>
                </a:rPr>
                <a:t>扩展能力，不放松治理边界。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22922" y="6483191"/>
            <a:ext cx="11146156" cy="167640"/>
            <a:chOff x="522922" y="6483191"/>
            <a:chExt cx="11146156" cy="167640"/>
          </a:xfrm>
        </p:grpSpPr>
        <p:sp>
          <p:nvSpPr>
            <p:cNvPr id="39" name="TextBox 39"/>
            <p:cNvSpPr txBox="1"/>
            <p:nvPr/>
          </p:nvSpPr>
          <p:spPr>
            <a:xfrm>
              <a:off x="522922" y="6483191"/>
              <a:ext cx="252926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Source: implementation inventory and roadmap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54611" y="6483191"/>
              <a:ext cx="11446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492A0"/>
                  </a:solidFill>
                  <a:latin typeface="Arial"/>
                  <a:ea typeface="Microsoft YaHei"/>
                  <a:cs typeface="Arial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18519" t="0" r="18519" b="0"/>
            <a:stretch>
              <a:fillRect/>
            </a:stretch>
          </p:blipFill>
          <p:spPr>
            <a:xfrm>
              <a:off x="5715000" y="0"/>
              <a:ext cx="6477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5334000" y="0"/>
              <a:ext cx="6858000" cy="6858000"/>
            </a:xfrm>
            <a:prstGeom prst="rect">
              <a:avLst/>
            </a:prstGeom>
            <a:solidFill>
              <a:srgbClr val="FFFFFF">
                <a:alpha val="72000"/>
              </a:srgbClr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914400" y="1790700"/>
            <a:ext cx="5758624" cy="2381250"/>
            <a:chOff x="914400" y="1790700"/>
            <a:chExt cx="5758624" cy="2381250"/>
          </a:xfrm>
        </p:grpSpPr>
        <p:sp>
          <p:nvSpPr>
            <p:cNvPr id="6" name="Line 6"/>
            <p:cNvSpPr/>
            <p:nvPr/>
          </p:nvSpPr>
          <p:spPr>
            <a:xfrm>
              <a:off x="914400" y="1790700"/>
              <a:ext cx="9525" cy="2190750"/>
            </a:xfrm>
            <a:custGeom>
              <a:avLst/>
              <a:gdLst/>
              <a:ahLst/>
              <a:cxnLst/>
              <a:rect l="l" t="t" r="r" b="b"/>
              <a:pathLst>
                <a:path w="9525" h="2190750">
                  <a:moveTo>
                    <a:pt x="0" y="0"/>
                  </a:moveTo>
                  <a:lnTo>
                    <a:pt x="0" y="2190750"/>
                  </a:lnTo>
                </a:path>
              </a:pathLst>
            </a:custGeom>
            <a:noFill/>
            <a:ln w="76200">
              <a:solidFill>
                <a:srgbClr val="3182C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74445" y="2222182"/>
              <a:ext cx="1420273" cy="944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b="1" dirty="0">
                  <a:solidFill>
                    <a:srgbClr val="1A365D"/>
                  </a:solidFill>
                  <a:latin typeface="Cambria"/>
                  <a:ea typeface="SimSun"/>
                  <a:cs typeface="Cambria"/>
                </a:rPr>
                <a:t>谢谢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95400" y="3048000"/>
              <a:ext cx="110532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243447"/>
                  </a:solidFill>
                  <a:latin typeface="Cambria"/>
                  <a:ea typeface="SimSun"/>
                  <a:cs typeface="Cambria"/>
                </a:rPr>
                <a:t>Q &amp; 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10640" y="3806190"/>
              <a:ext cx="536238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F6F7F"/>
                  </a:solidFill>
                  <a:latin typeface="Arial"/>
                  <a:ea typeface="Microsoft YaHei"/>
                  <a:cs typeface="Arial"/>
                </a:rPr>
                <a:t>欢迎围绕数据治理、LLM 可信性与多粒度映射交流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18260" y="4842510"/>
            <a:ext cx="6576727" cy="243840"/>
            <a:chOff x="1318260" y="4842510"/>
            <a:chExt cx="6576727" cy="243840"/>
          </a:xfrm>
        </p:grpSpPr>
        <p:sp>
          <p:nvSpPr>
            <p:cNvPr id="11" name="TextBox 11"/>
            <p:cNvSpPr txBox="1"/>
            <p:nvPr/>
          </p:nvSpPr>
          <p:spPr>
            <a:xfrm>
              <a:off x="1318260" y="4842510"/>
              <a:ext cx="14082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182CE"/>
                  </a:solidFill>
                  <a:latin typeface="Arial"/>
                  <a:ea typeface="Microsoft YaHei"/>
                  <a:cs typeface="Arial"/>
                </a:rPr>
                <a:t>DATA GOVERNANCE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04260" y="4842510"/>
              <a:ext cx="14754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D6B20"/>
                  </a:solidFill>
                  <a:latin typeface="Arial"/>
                  <a:ea typeface="Microsoft YaHei"/>
                  <a:cs typeface="Arial"/>
                </a:rPr>
                <a:t>TRUSTWORTHY LLM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90260" y="4842510"/>
              <a:ext cx="20047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8A169"/>
                  </a:solidFill>
                  <a:latin typeface="Arial"/>
                  <a:ea typeface="Microsoft YaHei"/>
                  <a:cs typeface="Arial"/>
                </a:rPr>
                <a:t>MULTI-GRANULAR MAPPING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20165" y="6077902"/>
            <a:ext cx="18048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492A0"/>
                </a:solidFill>
                <a:latin typeface="Arial"/>
                <a:ea typeface="Microsoft YaHei"/>
                <a:cs typeface="Arial"/>
              </a:rPr>
              <a:t>NeuroGraphIQ KG V3 · 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