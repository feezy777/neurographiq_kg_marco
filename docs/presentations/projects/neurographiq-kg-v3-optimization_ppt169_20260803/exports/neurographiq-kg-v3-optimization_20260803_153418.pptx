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5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各位老师、同事，大家好。今天汇报 NeuroGraphIQ KG V3 的多粒度脑区知识图谱构建过程。核心命题一句话：让 LLM 成为受控提取工具，而不是知识终审者。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先谈问题。多源脑图谱难统一接入，跨粒度命名冲突易诱发隐式合并，LLM 又可能带来幻觉，审核若成黑盒就无法追责。因此我们设下硬边界：LLM 不写 final_*，Final 只收经审核知识，跨粒度只允许显式 mapping。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项目定位是多粒度脑区知识基础设施。目标是多粒度图谱，任务是全链路构建与治理，架构是五级粒度 Schema 隔离。当前已落地宏观临床层，接入 AAL3 与 Macro96。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九项硬约束构成底线：LLM 隔离、统一入口、双重审核、正式库纯净、全链路溯源，以及粒度隔离、显式映射、输出留痕、全程日志。没有审核记录，就不得进入下一环节。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知识组织采用七层：实体、连接、回路、功能、证据、三元组、映射。自下而上构建，避免结构功能证据混在同一平面。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构建漏斗五阶段：导入解析、候选生成、校验增强、LLM 提取、审核晋升。这一页合并了原版重复的流水线说明。自动化解决规模，人工把关解决可信。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全局架构是生产—治理—消费闭环。Raw/Staging 到 Candidate，再到 LLM/Mirror，经 Review 进入 Final，最后服务消费侧。Mirror 是唯一预正式缓冲层，晋升必须预览确认后执行。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导入与候选：资源登记、双轨文件、批次审计、单向解析、溯源候选。输出是带 provenance 的标准化候选记录。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规则校验在前：12 条确定性规则，BLOCKER 直接熔断，并给出 0–100 质量分。增强分两层：Tier1 规则自动修复，Tier2 LLM 建议必须人工复核。增强不等于入库。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LLM 侧：Provider 抽象、七类关系提取、异步编排与调用日志。Mirror 侧：写入去重、双模型盲审、回路投射交叉验证。所有提取结果先入 Mirror。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三道闸门：规则校验、模型盲审、专家终审。通过后进入晋升：预览变更、人工确认、系统执行，并写入标准三元组与 12 种谓词。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消费侧四入口：数据中心、图谱探索、症状查询、知识导出。它们共用同一 Final KG 查询面。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原版写“七步”，实际是八个节点：Final fact、Promotion、Review、Validation、Extraction、Candidate、Import batch、Resource file。证据链保留原文、LLM 输出、规则日志与审核意见。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技术栈是 FastAPI、React+TypeScript、PostgreSQL Schema 隔离。工程规模指标来自仓库统计：5 粒度、AAL3/Macro96、12 规则、7 类提取、42 路由、88 服务、1173 测试。这里不做“零故障”或“响应极快”这类不可核验承诺。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三点结论：受控 LLM 加 Mirror 是关键；八步溯源保证可追责；宏观临床层已落地并可继续扩展。我的汇报到此，欢迎提问。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20132c60cfdbcd5e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f23ee62ad36cae4.pn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a567d6b6c4e0061c.png"/>
  <Relationship Id="rId3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AFC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rcRect l="20370" t="0" r="20370" b="0"/>
            <a:stretch>
              <a:fillRect/>
            </a:stretch>
          </p:blipFill>
          <p:spPr>
            <a:xfrm>
              <a:off x="6096000" y="0"/>
              <a:ext cx="6096000" cy="68580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0" y="0"/>
              <a:ext cx="6858000" cy="6858000"/>
            </a:xfrm>
            <a:prstGeom prst="rect">
              <a:avLst/>
            </a:prstGeom>
            <a:solidFill>
              <a:srgbClr val="F7FAFC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6667500" y="0"/>
              <a:ext cx="381000" cy="6858000"/>
            </a:xfrm>
            <a:prstGeom prst="rect">
              <a:avLst/>
            </a:prstGeom>
            <a:solidFill>
              <a:srgbClr val="F7FAFC"/>
            </a:soli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487680" y="1200150"/>
            <a:ext cx="5379720" cy="3295650"/>
            <a:chOff x="487680" y="1200150"/>
            <a:chExt cx="5379720" cy="3295650"/>
          </a:xfrm>
        </p:grpSpPr>
        <p:grpSp>
          <p:nvGrpSpPr>
            <p:cNvPr id="13" name="Group 13"/>
            <p:cNvGrpSpPr/>
            <p:nvPr/>
          </p:nvGrpSpPr>
          <p:grpSpPr>
            <a:xfrm>
              <a:off x="590550" y="1200150"/>
              <a:ext cx="342900" cy="342900"/>
              <a:chOff x="590550" y="1200150"/>
              <a:chExt cx="342900" cy="3429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762000" y="1390650"/>
                <a:ext cx="1333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52400">
                    <a:moveTo>
                      <a:pt x="66675" y="0"/>
                    </a:moveTo>
                    <a:cubicBezTo>
                      <a:pt x="29851" y="0"/>
                      <a:pt x="0" y="29851"/>
                      <a:pt x="0" y="66675"/>
                    </a:cubicBezTo>
                    <a:lnTo>
                      <a:pt x="0" y="85725"/>
                    </a:lnTo>
                    <a:cubicBezTo>
                      <a:pt x="0" y="122549"/>
                      <a:pt x="29851" y="152400"/>
                      <a:pt x="66675" y="152400"/>
                    </a:cubicBezTo>
                    <a:cubicBezTo>
                      <a:pt x="103499" y="152400"/>
                      <a:pt x="133350" y="122549"/>
                      <a:pt x="133350" y="85725"/>
                    </a:cubicBezTo>
                    <a:lnTo>
                      <a:pt x="133350" y="51435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28650" y="1390650"/>
                <a:ext cx="1333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52400">
                    <a:moveTo>
                      <a:pt x="66675" y="0"/>
                    </a:moveTo>
                    <a:cubicBezTo>
                      <a:pt x="103499" y="0"/>
                      <a:pt x="133350" y="29851"/>
                      <a:pt x="133350" y="66675"/>
                    </a:cubicBezTo>
                    <a:lnTo>
                      <a:pt x="133350" y="85725"/>
                    </a:lnTo>
                    <a:cubicBezTo>
                      <a:pt x="133350" y="122549"/>
                      <a:pt x="103499" y="152400"/>
                      <a:pt x="66675" y="152400"/>
                    </a:cubicBezTo>
                    <a:cubicBezTo>
                      <a:pt x="29851" y="152400"/>
                      <a:pt x="0" y="122549"/>
                      <a:pt x="0" y="85725"/>
                    </a:cubicBezTo>
                    <a:lnTo>
                      <a:pt x="0" y="51435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57250" y="1314450"/>
                <a:ext cx="762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33350">
                    <a:moveTo>
                      <a:pt x="9525" y="133350"/>
                    </a:moveTo>
                    <a:cubicBezTo>
                      <a:pt x="46349" y="133350"/>
                      <a:pt x="76200" y="103499"/>
                      <a:pt x="76200" y="66675"/>
                    </a:cubicBezTo>
                    <a:cubicBezTo>
                      <a:pt x="76200" y="29851"/>
                      <a:pt x="46349" y="0"/>
                      <a:pt x="9525" y="0"/>
                    </a:cubicBez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62000" y="1200150"/>
                <a:ext cx="133350" cy="12001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20015">
                    <a:moveTo>
                      <a:pt x="133350" y="120015"/>
                    </a:moveTo>
                    <a:lnTo>
                      <a:pt x="133350" y="66675"/>
                    </a:lnTo>
                    <a:cubicBezTo>
                      <a:pt x="133350" y="29851"/>
                      <a:pt x="103499" y="0"/>
                      <a:pt x="66675" y="0"/>
                    </a:cubicBezTo>
                    <a:cubicBezTo>
                      <a:pt x="29851" y="0"/>
                      <a:pt x="0" y="29851"/>
                      <a:pt x="0" y="66675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590550" y="1314450"/>
                <a:ext cx="762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33350">
                    <a:moveTo>
                      <a:pt x="66675" y="133350"/>
                    </a:moveTo>
                    <a:cubicBezTo>
                      <a:pt x="29851" y="133350"/>
                      <a:pt x="0" y="103499"/>
                      <a:pt x="0" y="66675"/>
                    </a:cubicBezTo>
                    <a:cubicBezTo>
                      <a:pt x="0" y="29851"/>
                      <a:pt x="29851" y="0"/>
                      <a:pt x="66675" y="0"/>
                    </a:cubicBezTo>
                    <a:lnTo>
                      <a:pt x="7620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628650" y="1200150"/>
                <a:ext cx="133350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257175">
                    <a:moveTo>
                      <a:pt x="0" y="120015"/>
                    </a:moveTo>
                    <a:lnTo>
                      <a:pt x="0" y="66675"/>
                    </a:lnTo>
                    <a:cubicBezTo>
                      <a:pt x="0" y="29851"/>
                      <a:pt x="29851" y="0"/>
                      <a:pt x="66675" y="0"/>
                    </a:cubicBezTo>
                    <a:cubicBezTo>
                      <a:pt x="103499" y="0"/>
                      <a:pt x="133350" y="29851"/>
                      <a:pt x="133350" y="66675"/>
                    </a:cubicBezTo>
                    <a:lnTo>
                      <a:pt x="133350" y="257175"/>
                    </a:ln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487680" y="1897380"/>
              <a:ext cx="480442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NeuroGraphIQ KG V3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06730" y="2630805"/>
              <a:ext cx="387581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多粒度脑区知识图谱构建过程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238500"/>
              <a:ext cx="5334000" cy="19050"/>
            </a:xfrm>
            <a:prstGeom prst="rect">
              <a:avLst/>
            </a:prstGeom>
            <a:solidFill>
              <a:srgbClr val="1F9FB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14350" y="3648075"/>
              <a:ext cx="51287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A7A"/>
                  </a:solidFill>
                  <a:latin typeface="Arial"/>
                  <a:ea typeface="Microsoft YaHei"/>
                  <a:cs typeface="Arial"/>
                </a:rPr>
                <a:t>核心命题：让 LLM 成为受控提取工具，而不是知识终审者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8160" y="4251960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492A0"/>
                  </a:solidFill>
                  <a:latin typeface="Arial"/>
                  <a:ea typeface="Microsoft YaHei"/>
                  <a:cs typeface="Arial"/>
                </a:rPr>
                <a:t>学术汇报，信任构建与治理闭环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1611166" y="6532245"/>
            <a:ext cx="588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492A0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00050"/>
            <a:ext cx="5616654" cy="704850"/>
            <a:chOff x="533400" y="400050"/>
            <a:chExt cx="5616654" cy="704850"/>
          </a:xfrm>
        </p:grpSpPr>
        <p:sp>
          <p:nvSpPr>
            <p:cNvPr id="3" name="Rectangle 3"/>
            <p:cNvSpPr/>
            <p:nvPr/>
          </p:nvSpPr>
          <p:spPr>
            <a:xfrm>
              <a:off x="533400" y="400050"/>
              <a:ext cx="76200" cy="381000"/>
            </a:xfrm>
            <a:prstGeom prst="rect">
              <a:avLst/>
            </a:prstGeom>
            <a:solidFill>
              <a:srgbClr val="1F9FB5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29615" y="410528"/>
              <a:ext cx="542043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多源脑图谱知识为何难以可信沉淀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6760" y="861060"/>
              <a:ext cx="29108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A7A"/>
                  </a:solidFill>
                  <a:latin typeface="Arial"/>
                  <a:ea typeface="Microsoft YaHei"/>
                  <a:cs typeface="Arial"/>
                </a:rPr>
                <a:t>问题先于方案：接入、合并、幻觉与追责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33400" y="1333500"/>
            <a:ext cx="5334000" cy="4762500"/>
            <a:chOff x="533400" y="1333500"/>
            <a:chExt cx="5334000" cy="4762500"/>
          </a:xfrm>
        </p:grpSpPr>
        <p:sp>
          <p:nvSpPr>
            <p:cNvPr id="7" name="Rectangle 7"/>
            <p:cNvSpPr/>
            <p:nvPr/>
          </p:nvSpPr>
          <p:spPr>
            <a:xfrm>
              <a:off x="533400" y="1333500"/>
              <a:ext cx="5334000" cy="476250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824419" y="1634081"/>
              <a:ext cx="256152" cy="220068"/>
              <a:chOff x="824419" y="1634081"/>
              <a:chExt cx="256152" cy="220068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952500" y="1714500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24419" y="1634081"/>
                <a:ext cx="256152" cy="220068"/>
              </a:xfrm>
              <a:custGeom>
                <a:avLst/>
                <a:gdLst/>
                <a:ahLst/>
                <a:cxnLst/>
                <a:rect l="l" t="t" r="r" b="b"/>
                <a:pathLst>
                  <a:path w="256152" h="220068">
                    <a:moveTo>
                      <a:pt x="107291" y="11725"/>
                    </a:moveTo>
                    <a:lnTo>
                      <a:pt x="4345" y="183607"/>
                    </a:lnTo>
                    <a:cubicBezTo>
                      <a:pt x="26" y="191085"/>
                      <a:pt x="0" y="200294"/>
                      <a:pt x="4276" y="207797"/>
                    </a:cubicBezTo>
                    <a:cubicBezTo>
                      <a:pt x="8551" y="215300"/>
                      <a:pt x="16487" y="219971"/>
                      <a:pt x="25122" y="220068"/>
                    </a:cubicBezTo>
                    <a:lnTo>
                      <a:pt x="231040" y="220068"/>
                    </a:lnTo>
                    <a:cubicBezTo>
                      <a:pt x="239671" y="219969"/>
                      <a:pt x="247602" y="215299"/>
                      <a:pt x="251877" y="207800"/>
                    </a:cubicBezTo>
                    <a:cubicBezTo>
                      <a:pt x="256152" y="200301"/>
                      <a:pt x="256129" y="191097"/>
                      <a:pt x="251817" y="183619"/>
                    </a:cubicBezTo>
                    <a:lnTo>
                      <a:pt x="148871" y="11712"/>
                    </a:lnTo>
                    <a:cubicBezTo>
                      <a:pt x="144466" y="4441"/>
                      <a:pt x="136582" y="0"/>
                      <a:pt x="128081" y="0"/>
                    </a:cubicBezTo>
                    <a:cubicBezTo>
                      <a:pt x="119580" y="0"/>
                      <a:pt x="111696" y="4441"/>
                      <a:pt x="107291" y="11712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52500" y="18034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236345" y="16506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核心问题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819150" y="2190750"/>
              <a:ext cx="266700" cy="266700"/>
            </a:xfrm>
            <a:prstGeom prst="ellipse">
              <a:avLst/>
            </a:prstGeom>
            <a:solidFill>
              <a:srgbClr val="EDF2F7"/>
            </a:solidFill>
            <a:ln w="9525">
              <a:solidFill>
                <a:srgbClr val="C0564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3068" y="2274570"/>
              <a:ext cx="588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05640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40155" y="223551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多源脑图谱难统一接入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819150" y="2857500"/>
              <a:ext cx="266700" cy="266700"/>
            </a:xfrm>
            <a:prstGeom prst="ellipse">
              <a:avLst/>
            </a:prstGeom>
            <a:solidFill>
              <a:srgbClr val="EDF2F7"/>
            </a:solidFill>
            <a:ln w="9525">
              <a:solidFill>
                <a:srgbClr val="C0564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8066" y="2941320"/>
              <a:ext cx="888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05640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40155" y="2902268"/>
              <a:ext cx="25546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跨粒度命名冲突易诱发隐式合并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819150" y="3524250"/>
              <a:ext cx="266700" cy="266700"/>
            </a:xfrm>
            <a:prstGeom prst="ellipse">
              <a:avLst/>
            </a:prstGeom>
            <a:solidFill>
              <a:srgbClr val="EDF2F7"/>
            </a:solidFill>
            <a:ln w="9525">
              <a:solidFill>
                <a:srgbClr val="C0564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8066" y="3608070"/>
              <a:ext cx="888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05640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40155" y="3569018"/>
              <a:ext cx="25816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LLM 可能带来幻觉与不稳定输出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819150" y="4191000"/>
              <a:ext cx="266700" cy="266700"/>
            </a:xfrm>
            <a:prstGeom prst="ellipse">
              <a:avLst/>
            </a:prstGeom>
            <a:solidFill>
              <a:srgbClr val="EDF2F7"/>
            </a:solidFill>
            <a:ln w="9525">
              <a:solidFill>
                <a:srgbClr val="C05640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8066" y="4274820"/>
              <a:ext cx="888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05640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40155" y="4235768"/>
              <a:ext cx="20145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审核若成黑盒则无法追责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324600" y="1333500"/>
            <a:ext cx="5334000" cy="4762500"/>
            <a:chOff x="6324600" y="1333500"/>
            <a:chExt cx="5334000" cy="4762500"/>
          </a:xfrm>
        </p:grpSpPr>
        <p:sp>
          <p:nvSpPr>
            <p:cNvPr id="26" name="Rectangle 26"/>
            <p:cNvSpPr/>
            <p:nvPr/>
          </p:nvSpPr>
          <p:spPr>
            <a:xfrm>
              <a:off x="6324600" y="1333500"/>
              <a:ext cx="5334000" cy="476250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6654800" y="1638300"/>
              <a:ext cx="177800" cy="228600"/>
              <a:chOff x="6654800" y="1638300"/>
              <a:chExt cx="177800" cy="2286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6654800" y="1739900"/>
                <a:ext cx="1778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270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52400" y="0"/>
                    </a:lnTo>
                    <a:cubicBezTo>
                      <a:pt x="166428" y="0"/>
                      <a:pt x="177800" y="11372"/>
                      <a:pt x="177800" y="25400"/>
                    </a:cubicBezTo>
                    <a:lnTo>
                      <a:pt x="177800" y="101600"/>
                    </a:lnTo>
                    <a:cubicBezTo>
                      <a:pt x="177800" y="115628"/>
                      <a:pt x="166428" y="127000"/>
                      <a:pt x="152400" y="127000"/>
                    </a:cubicBezTo>
                    <a:lnTo>
                      <a:pt x="25400" y="127000"/>
                    </a:lnTo>
                    <a:cubicBezTo>
                      <a:pt x="11372" y="127000"/>
                      <a:pt x="0" y="115628"/>
                      <a:pt x="0" y="101600"/>
                    </a:cubicBezTo>
                    <a:lnTo>
                      <a:pt x="0" y="2540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731000" y="179070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692900" y="1638300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101600"/>
                    </a:move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cubicBezTo>
                      <a:pt x="78856" y="0"/>
                      <a:pt x="101600" y="22744"/>
                      <a:pt x="101600" y="50800"/>
                    </a:cubicBezTo>
                    <a:lnTo>
                      <a:pt x="101600" y="101600"/>
                    </a:ln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7027545" y="1650682"/>
              <a:ext cx="189014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核心命题与硬边界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591300" y="2114550"/>
              <a:ext cx="4762500" cy="495300"/>
            </a:xfrm>
            <a:prstGeom prst="roundRect">
              <a:avLst>
                <a:gd name="adj" fmla="val 15385"/>
              </a:avLst>
            </a:prstGeom>
            <a:solidFill>
              <a:srgbClr val="EDF2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803708" y="2281714"/>
              <a:ext cx="135855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LLM 不写 final_*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591300" y="2781300"/>
              <a:ext cx="4762500" cy="495300"/>
            </a:xfrm>
            <a:prstGeom prst="roundRect">
              <a:avLst>
                <a:gd name="adj" fmla="val 15385"/>
              </a:avLst>
            </a:prstGeom>
            <a:solidFill>
              <a:srgbClr val="EDF2F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803708" y="2948464"/>
              <a:ext cx="165608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Final 只收经审核知识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591300" y="3448050"/>
              <a:ext cx="4762500" cy="495300"/>
            </a:xfrm>
            <a:prstGeom prst="roundRect">
              <a:avLst>
                <a:gd name="adj" fmla="val 15385"/>
              </a:avLst>
            </a:prstGeom>
            <a:solidFill>
              <a:srgbClr val="EDF2F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03708" y="3615214"/>
              <a:ext cx="208964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跨粒度只允许显式 mapping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591300" y="4114800"/>
              <a:ext cx="4762500" cy="495300"/>
            </a:xfrm>
            <a:prstGeom prst="roundRect">
              <a:avLst>
                <a:gd name="adj" fmla="val 15385"/>
              </a:avLst>
            </a:prstGeom>
            <a:solidFill>
              <a:srgbClr val="EDF2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803708" y="4281964"/>
              <a:ext cx="216615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Mirror 是唯一预正式缓冲层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1581162" y="6532245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492A0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4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00050"/>
            <a:ext cx="5973699" cy="704850"/>
            <a:chOff x="533400" y="400050"/>
            <a:chExt cx="5973699" cy="704850"/>
          </a:xfrm>
        </p:grpSpPr>
        <p:sp>
          <p:nvSpPr>
            <p:cNvPr id="3" name="Rectangle 3"/>
            <p:cNvSpPr/>
            <p:nvPr/>
          </p:nvSpPr>
          <p:spPr>
            <a:xfrm>
              <a:off x="533400" y="400050"/>
              <a:ext cx="76200" cy="381000"/>
            </a:xfrm>
            <a:prstGeom prst="rect">
              <a:avLst/>
            </a:prstGeom>
            <a:solidFill>
              <a:srgbClr val="1F9FB5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29615" y="410528"/>
              <a:ext cx="577748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项目定位：多粒度脑区知识基础设施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6760" y="861060"/>
              <a:ext cx="32308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A7A"/>
                  </a:solidFill>
                  <a:latin typeface="Arial"/>
                  <a:ea typeface="Microsoft YaHei"/>
                  <a:cs typeface="Arial"/>
                </a:rPr>
                <a:t>三列定位＋五级粒度隔离（宏观临床已落地）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33400" y="1333500"/>
            <a:ext cx="3505200" cy="2095500"/>
            <a:chOff x="533400" y="1333500"/>
            <a:chExt cx="3505200" cy="2095500"/>
          </a:xfrm>
        </p:grpSpPr>
        <p:sp>
          <p:nvSpPr>
            <p:cNvPr id="7" name="Rectangle 7"/>
            <p:cNvSpPr/>
            <p:nvPr/>
          </p:nvSpPr>
          <p:spPr>
            <a:xfrm>
              <a:off x="533400" y="1333500"/>
              <a:ext cx="3505200" cy="20955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850900" y="1651000"/>
              <a:ext cx="203200" cy="203200"/>
              <a:chOff x="850900" y="1651000"/>
              <a:chExt cx="203200" cy="2032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850900" y="18034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50800" y="25400"/>
                    </a:move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03300" y="16510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50800" y="25400"/>
                    </a:move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50900" y="16510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50800" y="25400"/>
                    </a:move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03300" y="18034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50800" y="25400"/>
                    </a:move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27100" y="17272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50800" y="25400"/>
                    </a:move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95350" y="169545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0"/>
                    </a:moveTo>
                    <a:lnTo>
                      <a:pt x="38100" y="3810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95350" y="177165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38100"/>
                    </a:moveTo>
                    <a:lnTo>
                      <a:pt x="3810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971550" y="177165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0"/>
                    </a:moveTo>
                    <a:lnTo>
                      <a:pt x="38100" y="3810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971550" y="169545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38100" y="0"/>
                    </a:moveTo>
                    <a:lnTo>
                      <a:pt x="0" y="38100"/>
                    </a:ln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238250" y="166687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目标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9145" y="229838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多粒度图谱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267200" y="1333500"/>
            <a:ext cx="3505200" cy="2095500"/>
            <a:chOff x="4267200" y="1333500"/>
            <a:chExt cx="3505200" cy="2095500"/>
          </a:xfrm>
        </p:grpSpPr>
        <p:sp>
          <p:nvSpPr>
            <p:cNvPr id="21" name="Rectangle 21"/>
            <p:cNvSpPr/>
            <p:nvPr/>
          </p:nvSpPr>
          <p:spPr>
            <a:xfrm>
              <a:off x="4267200" y="1333500"/>
              <a:ext cx="3505200" cy="20955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4572000" y="1638300"/>
              <a:ext cx="228600" cy="228600"/>
              <a:chOff x="4572000" y="1638300"/>
              <a:chExt cx="228600" cy="2286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4572000" y="18161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749800" y="16383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25400" y="50800"/>
                    </a:move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  <a:cubicBezTo>
                      <a:pt x="0" y="39428"/>
                      <a:pt x="11372" y="50800"/>
                      <a:pt x="25400" y="50800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597400" y="1663700"/>
                <a:ext cx="1905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77800">
                    <a:moveTo>
                      <a:pt x="76200" y="177800"/>
                    </a:moveTo>
                    <a:lnTo>
                      <a:pt x="146050" y="177800"/>
                    </a:lnTo>
                    <a:cubicBezTo>
                      <a:pt x="170599" y="177800"/>
                      <a:pt x="190500" y="157899"/>
                      <a:pt x="190500" y="133350"/>
                    </a:cubicBezTo>
                    <a:cubicBezTo>
                      <a:pt x="190500" y="108801"/>
                      <a:pt x="170599" y="88900"/>
                      <a:pt x="146050" y="88900"/>
                    </a:cubicBezTo>
                    <a:lnTo>
                      <a:pt x="44450" y="88900"/>
                    </a:lnTo>
                    <a:cubicBezTo>
                      <a:pt x="19901" y="88900"/>
                      <a:pt x="0" y="68999"/>
                      <a:pt x="0" y="44450"/>
                    </a:cubicBezTo>
                    <a:cubicBezTo>
                      <a:pt x="0" y="19901"/>
                      <a:pt x="19901" y="0"/>
                      <a:pt x="44450" y="0"/>
                    </a:cubicBezTo>
                    <a:lnTo>
                      <a:pt x="101600" y="0"/>
                    </a:ln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4972050" y="166687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任务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12945" y="2298382"/>
              <a:ext cx="189014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全链路构建与治理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001000" y="1333500"/>
            <a:ext cx="3505200" cy="2095500"/>
            <a:chOff x="8001000" y="1333500"/>
            <a:chExt cx="3505200" cy="2095500"/>
          </a:xfrm>
        </p:grpSpPr>
        <p:sp>
          <p:nvSpPr>
            <p:cNvPr id="29" name="Rectangle 29"/>
            <p:cNvSpPr/>
            <p:nvPr/>
          </p:nvSpPr>
          <p:spPr>
            <a:xfrm>
              <a:off x="8001000" y="1333500"/>
              <a:ext cx="3505200" cy="20955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8318500" y="1651000"/>
              <a:ext cx="203200" cy="203200"/>
              <a:chOff x="8318500" y="1651000"/>
              <a:chExt cx="203200" cy="2032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8318500" y="1651000"/>
                <a:ext cx="2032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101600">
                    <a:moveTo>
                      <a:pt x="101600" y="0"/>
                    </a:moveTo>
                    <a:lnTo>
                      <a:pt x="0" y="50800"/>
                    </a:lnTo>
                    <a:lnTo>
                      <a:pt x="101600" y="101600"/>
                    </a:lnTo>
                    <a:lnTo>
                      <a:pt x="203200" y="50800"/>
                    </a:lnTo>
                    <a:lnTo>
                      <a:pt x="10160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318500" y="1752600"/>
                <a:ext cx="203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50800">
                    <a:moveTo>
                      <a:pt x="0" y="0"/>
                    </a:moveTo>
                    <a:lnTo>
                      <a:pt x="101600" y="50800"/>
                    </a:lnTo>
                    <a:lnTo>
                      <a:pt x="20320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318500" y="1803400"/>
                <a:ext cx="203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50800">
                    <a:moveTo>
                      <a:pt x="0" y="0"/>
                    </a:moveTo>
                    <a:lnTo>
                      <a:pt x="101600" y="50800"/>
                    </a:lnTo>
                    <a:lnTo>
                      <a:pt x="203200" y="0"/>
                    </a:ln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8705850" y="166687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架构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46745" y="2298382"/>
              <a:ext cx="237530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五级粒度 Schema 隔离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16255" y="3854768"/>
            <a:ext cx="10913745" cy="1955482"/>
            <a:chOff x="516255" y="3854768"/>
            <a:chExt cx="10913745" cy="1955482"/>
          </a:xfrm>
        </p:grpSpPr>
        <p:sp>
          <p:nvSpPr>
            <p:cNvPr id="37" name="TextBox 37"/>
            <p:cNvSpPr txBox="1"/>
            <p:nvPr/>
          </p:nvSpPr>
          <p:spPr>
            <a:xfrm>
              <a:off x="516255" y="38547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五级粒度条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286250"/>
              <a:ext cx="2057400" cy="1524000"/>
            </a:xfrm>
            <a:prstGeom prst="roundRect">
              <a:avLst>
                <a:gd name="adj" fmla="val 6250"/>
              </a:avLst>
            </a:prstGeom>
            <a:solidFill>
              <a:srgbClr val="2F855A"/>
            </a:solidFill>
            <a:ln w="9525">
              <a:solidFill>
                <a:srgbClr val="CBD5E0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166908" y="47120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宏观临床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30700" y="5077778"/>
              <a:ext cx="10628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AAL3 / Macro96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338739" y="5411152"/>
              <a:ext cx="4467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已落地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2743200" y="4286250"/>
              <a:ext cx="2057400" cy="1524000"/>
            </a:xfrm>
            <a:prstGeom prst="roundRect">
              <a:avLst>
                <a:gd name="adj" fmla="val 6250"/>
              </a:avLst>
            </a:prstGeom>
            <a:solidFill>
              <a:srgbClr val="EDF2F7"/>
            </a:solidFill>
            <a:ln w="9525">
              <a:solidFill>
                <a:srgbClr val="CBD5E0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376708" y="47120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介观解剖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461028" y="5077778"/>
              <a:ext cx="621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HCP-MMP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618548" y="5411152"/>
              <a:ext cx="3067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规划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4953000" y="4286250"/>
              <a:ext cx="2057400" cy="1524000"/>
            </a:xfrm>
            <a:prstGeom prst="roundRect">
              <a:avLst>
                <a:gd name="adj" fmla="val 6250"/>
              </a:avLst>
            </a:prstGeom>
            <a:solidFill>
              <a:srgbClr val="EDF2F7"/>
            </a:solidFill>
            <a:ln w="9525">
              <a:solidFill>
                <a:srgbClr val="CBD5E0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586508" y="47120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亚区连接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548312" y="5077778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Brainnetome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828348" y="5411152"/>
              <a:ext cx="3067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规划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162800" y="4286250"/>
              <a:ext cx="2057400" cy="1524000"/>
            </a:xfrm>
            <a:prstGeom prst="roundRect">
              <a:avLst>
                <a:gd name="adj" fmla="val 6250"/>
              </a:avLst>
            </a:prstGeom>
            <a:solidFill>
              <a:srgbClr val="EDF2F7"/>
            </a:solidFill>
            <a:ln w="9525">
              <a:solidFill>
                <a:srgbClr val="CBD5E0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796308" y="47120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细胞构筑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982140" y="5077778"/>
              <a:ext cx="4187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Julich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038148" y="5411152"/>
              <a:ext cx="3067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规划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9372600" y="4286250"/>
              <a:ext cx="2057400" cy="1524000"/>
            </a:xfrm>
            <a:prstGeom prst="roundRect">
              <a:avLst>
                <a:gd name="adj" fmla="val 6250"/>
              </a:avLst>
            </a:prstGeom>
            <a:solidFill>
              <a:srgbClr val="EDF2F7"/>
            </a:solidFill>
            <a:ln w="9525">
              <a:solidFill>
                <a:srgbClr val="CBD5E0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006108" y="47120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分子属性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230445" y="5077778"/>
              <a:ext cx="3417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Allen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247947" y="5411152"/>
              <a:ext cx="3067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规划</a:t>
              </a:r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11581162" y="6532245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492A0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00050"/>
            <a:ext cx="2804160" cy="704850"/>
            <a:chOff x="533400" y="400050"/>
            <a:chExt cx="2804160" cy="704850"/>
          </a:xfrm>
        </p:grpSpPr>
        <p:sp>
          <p:nvSpPr>
            <p:cNvPr id="3" name="Rectangle 3"/>
            <p:cNvSpPr/>
            <p:nvPr/>
          </p:nvSpPr>
          <p:spPr>
            <a:xfrm>
              <a:off x="533400" y="400050"/>
              <a:ext cx="76200" cy="381000"/>
            </a:xfrm>
            <a:prstGeom prst="rect">
              <a:avLst/>
            </a:prstGeom>
            <a:solidFill>
              <a:srgbClr val="1F9FB5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29615" y="410528"/>
              <a:ext cx="1849993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九项硬约束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6760" y="861060"/>
              <a:ext cx="25908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A7A"/>
                  </a:solidFill>
                  <a:latin typeface="Arial"/>
                  <a:ea typeface="Microsoft YaHei"/>
                  <a:cs typeface="Arial"/>
                </a:rPr>
                <a:t>没有审核记录，就不得进入下一环节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33400" y="1333500"/>
            <a:ext cx="5334000" cy="4762500"/>
            <a:chOff x="533400" y="1333500"/>
            <a:chExt cx="5334000" cy="4762500"/>
          </a:xfrm>
        </p:grpSpPr>
        <p:sp>
          <p:nvSpPr>
            <p:cNvPr id="7" name="Rectangle 7"/>
            <p:cNvSpPr/>
            <p:nvPr/>
          </p:nvSpPr>
          <p:spPr>
            <a:xfrm>
              <a:off x="533400" y="1333500"/>
              <a:ext cx="5334000" cy="476250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800100" y="1524000"/>
              <a:ext cx="4800600" cy="533400"/>
            </a:xfrm>
            <a:prstGeom prst="roundRect">
              <a:avLst>
                <a:gd name="adj" fmla="val 14286"/>
              </a:avLst>
            </a:prstGeom>
            <a:solidFill>
              <a:srgbClr val="EDF2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09650" y="1704975"/>
              <a:ext cx="21662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9FB5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1150" y="1704975"/>
              <a:ext cx="86820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LLM 隔离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00100" y="2286000"/>
              <a:ext cx="4800600" cy="533400"/>
            </a:xfrm>
            <a:prstGeom prst="roundRect">
              <a:avLst>
                <a:gd name="adj" fmla="val 14286"/>
              </a:avLst>
            </a:prstGeom>
            <a:solidFill>
              <a:srgbClr val="EDF2F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9650" y="246697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9FB5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81150" y="2466975"/>
              <a:ext cx="838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统一入口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00100" y="3048000"/>
              <a:ext cx="4800600" cy="533400"/>
            </a:xfrm>
            <a:prstGeom prst="roundRect">
              <a:avLst>
                <a:gd name="adj" fmla="val 14286"/>
              </a:avLst>
            </a:prstGeom>
            <a:solidFill>
              <a:srgbClr val="EDF2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09650" y="322897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9FB5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81150" y="3228975"/>
              <a:ext cx="838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双重审核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00100" y="3810000"/>
              <a:ext cx="4800600" cy="533400"/>
            </a:xfrm>
            <a:prstGeom prst="roundRect">
              <a:avLst>
                <a:gd name="adj" fmla="val 14286"/>
              </a:avLst>
            </a:prstGeom>
            <a:solidFill>
              <a:srgbClr val="EDF2F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09650" y="399097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9FB5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81150" y="3990975"/>
              <a:ext cx="10382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正式库纯净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00100" y="4572000"/>
              <a:ext cx="4800600" cy="533400"/>
            </a:xfrm>
            <a:prstGeom prst="roundRect">
              <a:avLst>
                <a:gd name="adj" fmla="val 14286"/>
              </a:avLst>
            </a:prstGeom>
            <a:solidFill>
              <a:srgbClr val="EDF2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09650" y="475297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9FB5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81150" y="4752975"/>
              <a:ext cx="10382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全链路溯源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324600" y="1333500"/>
            <a:ext cx="5334000" cy="4762500"/>
            <a:chOff x="6324600" y="1333500"/>
            <a:chExt cx="5334000" cy="4762500"/>
          </a:xfrm>
        </p:grpSpPr>
        <p:sp>
          <p:nvSpPr>
            <p:cNvPr id="24" name="Rectangle 24"/>
            <p:cNvSpPr/>
            <p:nvPr/>
          </p:nvSpPr>
          <p:spPr>
            <a:xfrm>
              <a:off x="6324600" y="1333500"/>
              <a:ext cx="5334000" cy="476250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591300" y="1524000"/>
              <a:ext cx="4800600" cy="533400"/>
            </a:xfrm>
            <a:prstGeom prst="roundRect">
              <a:avLst>
                <a:gd name="adj" fmla="val 14286"/>
              </a:avLst>
            </a:prstGeom>
            <a:solidFill>
              <a:srgbClr val="EDF2F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800850" y="170497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9FB5"/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72350" y="1704975"/>
              <a:ext cx="838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粒度隔离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591300" y="2286000"/>
              <a:ext cx="4800600" cy="533400"/>
            </a:xfrm>
            <a:prstGeom prst="roundRect">
              <a:avLst>
                <a:gd name="adj" fmla="val 14286"/>
              </a:avLst>
            </a:prstGeom>
            <a:solidFill>
              <a:srgbClr val="EDF2F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800850" y="246697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9FB5"/>
                  </a:solidFill>
                  <a:latin typeface="Arial"/>
                  <a:ea typeface="Microsoft YaHei"/>
                  <a:cs typeface="Arial"/>
                </a:rPr>
                <a:t>07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72350" y="2466975"/>
              <a:ext cx="838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显式映射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591300" y="3048000"/>
              <a:ext cx="4800600" cy="533400"/>
            </a:xfrm>
            <a:prstGeom prst="roundRect">
              <a:avLst>
                <a:gd name="adj" fmla="val 14286"/>
              </a:avLst>
            </a:prstGeom>
            <a:solidFill>
              <a:srgbClr val="EDF2F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00850" y="322897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9FB5"/>
                  </a:solidFill>
                  <a:latin typeface="Arial"/>
                  <a:ea typeface="Microsoft YaHei"/>
                  <a:cs typeface="Arial"/>
                </a:rPr>
                <a:t>08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72350" y="3228975"/>
              <a:ext cx="838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输出留痕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591300" y="3810000"/>
              <a:ext cx="4800600" cy="533400"/>
            </a:xfrm>
            <a:prstGeom prst="roundRect">
              <a:avLst>
                <a:gd name="adj" fmla="val 14286"/>
              </a:avLst>
            </a:prstGeom>
            <a:solidFill>
              <a:srgbClr val="EDF2F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800850" y="399097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9FB5"/>
                  </a:solidFill>
                  <a:latin typeface="Arial"/>
                  <a:ea typeface="Microsoft YaHei"/>
                  <a:cs typeface="Arial"/>
                </a:rPr>
                <a:t>09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72350" y="3990975"/>
              <a:ext cx="838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全程日志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1581162" y="6532245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492A0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00050"/>
            <a:ext cx="2964180" cy="704850"/>
            <a:chOff x="533400" y="400050"/>
            <a:chExt cx="2964180" cy="704850"/>
          </a:xfrm>
        </p:grpSpPr>
        <p:sp>
          <p:nvSpPr>
            <p:cNvPr id="3" name="Rectangle 3"/>
            <p:cNvSpPr/>
            <p:nvPr/>
          </p:nvSpPr>
          <p:spPr>
            <a:xfrm>
              <a:off x="533400" y="400050"/>
              <a:ext cx="76200" cy="381000"/>
            </a:xfrm>
            <a:prstGeom prst="rect">
              <a:avLst/>
            </a:prstGeom>
            <a:solidFill>
              <a:srgbClr val="1F9FB5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29615" y="410528"/>
              <a:ext cx="220703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七层知识阶梯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6760" y="861060"/>
              <a:ext cx="2750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A7A"/>
                  </a:solidFill>
                  <a:latin typeface="Arial"/>
                  <a:ea typeface="Microsoft YaHei"/>
                  <a:cs typeface="Arial"/>
                </a:rPr>
                <a:t>自下而上：结构与证据分层，避免混平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524000" y="1333500"/>
            <a:ext cx="9144000" cy="4533900"/>
            <a:chOff x="1524000" y="1333500"/>
            <a:chExt cx="9144000" cy="4533900"/>
          </a:xfrm>
        </p:grpSpPr>
        <p:sp>
          <p:nvSpPr>
            <p:cNvPr id="7" name="Rectangle 7"/>
            <p:cNvSpPr/>
            <p:nvPr/>
          </p:nvSpPr>
          <p:spPr>
            <a:xfrm>
              <a:off x="4095750" y="1333500"/>
              <a:ext cx="4000500" cy="533400"/>
            </a:xfrm>
            <a:prstGeom prst="roundRect">
              <a:avLst>
                <a:gd name="adj" fmla="val 14286"/>
              </a:avLst>
            </a:prstGeom>
            <a:solidFill>
              <a:srgbClr val="1F9FB5"/>
            </a:solidFill>
            <a:ln w="9525">
              <a:solidFill>
                <a:srgbClr val="CBD5E0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66924" y="151447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映射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667125" y="2000250"/>
              <a:ext cx="4857750" cy="533400"/>
            </a:xfrm>
            <a:prstGeom prst="roundRect">
              <a:avLst>
                <a:gd name="adj" fmla="val 14286"/>
              </a:avLst>
            </a:prstGeom>
            <a:solidFill>
              <a:srgbClr val="17324D"/>
            </a:solidFill>
            <a:ln w="9525">
              <a:solidFill>
                <a:srgbClr val="CBD5E0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761911" y="218122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三元组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238500" y="2667000"/>
              <a:ext cx="5715000" cy="533400"/>
            </a:xfrm>
            <a:prstGeom prst="roundRect">
              <a:avLst>
                <a:gd name="adj" fmla="val 14286"/>
              </a:avLst>
            </a:prstGeom>
            <a:solidFill>
              <a:srgbClr val="17324D"/>
            </a:solidFill>
            <a:ln w="9525">
              <a:solidFill>
                <a:srgbClr val="CBD5E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866924" y="284797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证据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809875" y="3333750"/>
              <a:ext cx="6572250" cy="533400"/>
            </a:xfrm>
            <a:prstGeom prst="roundRect">
              <a:avLst>
                <a:gd name="adj" fmla="val 14286"/>
              </a:avLst>
            </a:prstGeom>
            <a:solidFill>
              <a:srgbClr val="EDF2F7"/>
            </a:solidFill>
            <a:ln w="9525">
              <a:solidFill>
                <a:srgbClr val="CBD5E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66924" y="351472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功能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381250" y="4000500"/>
              <a:ext cx="7429500" cy="533400"/>
            </a:xfrm>
            <a:prstGeom prst="roundRect">
              <a:avLst>
                <a:gd name="adj" fmla="val 14286"/>
              </a:avLst>
            </a:prstGeom>
            <a:solidFill>
              <a:srgbClr val="EDF2F7"/>
            </a:solidFill>
            <a:ln w="9525">
              <a:solidFill>
                <a:srgbClr val="CBD5E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866924" y="418147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回路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952625" y="4667250"/>
              <a:ext cx="8286750" cy="533400"/>
            </a:xfrm>
            <a:prstGeom prst="roundRect">
              <a:avLst>
                <a:gd name="adj" fmla="val 14286"/>
              </a:avLst>
            </a:prstGeom>
            <a:solidFill>
              <a:srgbClr val="EDF2F7"/>
            </a:solidFill>
            <a:ln w="9525">
              <a:solidFill>
                <a:srgbClr val="CBD5E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866924" y="484822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连接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524000" y="5334000"/>
              <a:ext cx="9144000" cy="533400"/>
            </a:xfrm>
            <a:prstGeom prst="roundRect">
              <a:avLst>
                <a:gd name="adj" fmla="val 14286"/>
              </a:avLst>
            </a:prstGeom>
            <a:solidFill>
              <a:srgbClr val="EDF2F7"/>
            </a:solidFill>
            <a:ln w="9525">
              <a:solidFill>
                <a:srgbClr val="CBD5E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66924" y="551497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实体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1581162" y="6532245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492A0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00050"/>
            <a:ext cx="3117342" cy="704850"/>
            <a:chOff x="533400" y="400050"/>
            <a:chExt cx="3117342" cy="704850"/>
          </a:xfrm>
        </p:grpSpPr>
        <p:sp>
          <p:nvSpPr>
            <p:cNvPr id="3" name="Rectangle 3"/>
            <p:cNvSpPr/>
            <p:nvPr/>
          </p:nvSpPr>
          <p:spPr>
            <a:xfrm>
              <a:off x="533400" y="400050"/>
              <a:ext cx="76200" cy="381000"/>
            </a:xfrm>
            <a:prstGeom prst="rect">
              <a:avLst/>
            </a:prstGeom>
            <a:solidFill>
              <a:srgbClr val="1F9FB5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29615" y="410528"/>
              <a:ext cx="292112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构建漏斗：五阶段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6760" y="861060"/>
              <a:ext cx="25908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A7A"/>
                  </a:solidFill>
                  <a:latin typeface="Arial"/>
                  <a:ea typeface="Microsoft YaHei"/>
                  <a:cs typeface="Arial"/>
                </a:rPr>
                <a:t>自动化解决规模，人工把关解决可信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428750" y="1428750"/>
            <a:ext cx="9334500" cy="4419600"/>
            <a:chOff x="1428750" y="1428750"/>
            <a:chExt cx="9334500" cy="4419600"/>
          </a:xfrm>
        </p:grpSpPr>
        <p:sp>
          <p:nvSpPr>
            <p:cNvPr id="7" name="Rectangle 7"/>
            <p:cNvSpPr/>
            <p:nvPr/>
          </p:nvSpPr>
          <p:spPr>
            <a:xfrm>
              <a:off x="1428750" y="1428750"/>
              <a:ext cx="9334500" cy="762000"/>
            </a:xfrm>
            <a:prstGeom prst="roundRect">
              <a:avLst>
                <a:gd name="adj" fmla="val 12500"/>
              </a:avLst>
            </a:prstGeom>
            <a:solidFill>
              <a:srgbClr val="1F9FB5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746250" y="1695450"/>
              <a:ext cx="228600" cy="241300"/>
              <a:chOff x="1746250" y="1695450"/>
              <a:chExt cx="228600" cy="2413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746250" y="1695450"/>
                <a:ext cx="203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76200">
                    <a:moveTo>
                      <a:pt x="0" y="38100"/>
                    </a:moveTo>
                    <a:cubicBezTo>
                      <a:pt x="0" y="59144"/>
                      <a:pt x="45491" y="76200"/>
                      <a:pt x="101600" y="76200"/>
                    </a:cubicBezTo>
                    <a:cubicBezTo>
                      <a:pt x="157709" y="76200"/>
                      <a:pt x="203200" y="59144"/>
                      <a:pt x="203200" y="38100"/>
                    </a:cubicBezTo>
                    <a:cubicBezTo>
                      <a:pt x="203200" y="17056"/>
                      <a:pt x="157709" y="0"/>
                      <a:pt x="101600" y="0"/>
                    </a:cubicBezTo>
                    <a:cubicBezTo>
                      <a:pt x="45491" y="0"/>
                      <a:pt x="0" y="17056"/>
                      <a:pt x="0" y="38100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746250" y="1733550"/>
                <a:ext cx="203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4"/>
                      <a:pt x="45491" y="114300"/>
                      <a:pt x="101600" y="114300"/>
                    </a:cubicBezTo>
                    <a:cubicBezTo>
                      <a:pt x="112471" y="114300"/>
                      <a:pt x="122936" y="113665"/>
                      <a:pt x="132766" y="112471"/>
                    </a:cubicBezTo>
                    <a:moveTo>
                      <a:pt x="203200" y="76200"/>
                    </a:moveTo>
                    <a:lnTo>
                      <a:pt x="20320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746250" y="1809750"/>
                <a:ext cx="108077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08077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4"/>
                      <a:pt x="45491" y="114300"/>
                      <a:pt x="101600" y="114300"/>
                    </a:cubicBezTo>
                    <a:cubicBezTo>
                      <a:pt x="103772" y="114300"/>
                      <a:pt x="105931" y="114275"/>
                      <a:pt x="108077" y="114224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936750" y="1860550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76200"/>
                    </a:move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898650" y="1860550"/>
                <a:ext cx="762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38100">
                    <a:moveTo>
                      <a:pt x="76200" y="38100"/>
                    </a:moveTo>
                    <a:lnTo>
                      <a:pt x="38100" y="0"/>
                    </a:lnTo>
                    <a:lnTo>
                      <a:pt x="0" y="38100"/>
                    </a:ln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5612987" y="17268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导入解析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000250" y="2343150"/>
              <a:ext cx="8191500" cy="762000"/>
            </a:xfrm>
            <a:prstGeom prst="roundRect">
              <a:avLst>
                <a:gd name="adj" fmla="val 12500"/>
              </a:avLst>
            </a:prstGeom>
            <a:solidFill>
              <a:srgbClr val="1F9FB5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2317750" y="2622550"/>
              <a:ext cx="203200" cy="215900"/>
            </a:xfrm>
            <a:custGeom>
              <a:avLst/>
              <a:gdLst/>
              <a:ahLst/>
              <a:cxnLst/>
              <a:rect l="l" t="t" r="r" b="b"/>
              <a:pathLst>
                <a:path w="203200" h="215900">
                  <a:moveTo>
                    <a:pt x="0" y="0"/>
                  </a:moveTo>
                  <a:lnTo>
                    <a:pt x="203200" y="0"/>
                  </a:lnTo>
                  <a:lnTo>
                    <a:pt x="203200" y="27584"/>
                  </a:lnTo>
                  <a:cubicBezTo>
                    <a:pt x="203199" y="34320"/>
                    <a:pt x="200522" y="40780"/>
                    <a:pt x="195758" y="45542"/>
                  </a:cubicBezTo>
                  <a:lnTo>
                    <a:pt x="139700" y="101600"/>
                  </a:lnTo>
                  <a:lnTo>
                    <a:pt x="139700" y="190500"/>
                  </a:lnTo>
                  <a:lnTo>
                    <a:pt x="63500" y="215900"/>
                  </a:lnTo>
                  <a:lnTo>
                    <a:pt x="63500" y="107950"/>
                  </a:lnTo>
                  <a:lnTo>
                    <a:pt x="6604" y="45364"/>
                  </a:lnTo>
                  <a:cubicBezTo>
                    <a:pt x="2355" y="40690"/>
                    <a:pt x="1" y="34600"/>
                    <a:pt x="0" y="28283"/>
                  </a:cubicBez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12987" y="26412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候选生成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571750" y="3257550"/>
              <a:ext cx="7048500" cy="762000"/>
            </a:xfrm>
            <a:prstGeom prst="roundRect">
              <a:avLst>
                <a:gd name="adj" fmla="val 12500"/>
              </a:avLst>
            </a:prstGeom>
            <a:solidFill>
              <a:srgbClr val="1F9FB5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2859411" y="3524250"/>
              <a:ext cx="248008" cy="228600"/>
              <a:chOff x="2859411" y="3524250"/>
              <a:chExt cx="248008" cy="2286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2859411" y="3524250"/>
                <a:ext cx="248008" cy="226644"/>
              </a:xfrm>
              <a:custGeom>
                <a:avLst/>
                <a:gdLst/>
                <a:ahLst/>
                <a:cxnLst/>
                <a:rect l="l" t="t" r="r" b="b"/>
                <a:pathLst>
                  <a:path w="248008" h="226644">
                    <a:moveTo>
                      <a:pt x="124581" y="226644"/>
                    </a:moveTo>
                    <a:cubicBezTo>
                      <a:pt x="45022" y="201982"/>
                      <a:pt x="0" y="118014"/>
                      <a:pt x="23489" y="38100"/>
                    </a:cubicBezTo>
                    <a:cubicBezTo>
                      <a:pt x="63057" y="39911"/>
                      <a:pt x="101774" y="26246"/>
                      <a:pt x="131439" y="0"/>
                    </a:cubicBezTo>
                    <a:cubicBezTo>
                      <a:pt x="161104" y="26246"/>
                      <a:pt x="199822" y="39911"/>
                      <a:pt x="239389" y="38100"/>
                    </a:cubicBezTo>
                    <a:cubicBezTo>
                      <a:pt x="248008" y="67426"/>
                      <a:pt x="247610" y="98666"/>
                      <a:pt x="238246" y="127762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028950" y="370205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5612987" y="35556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校验增强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143250" y="4171950"/>
              <a:ext cx="5905500" cy="762000"/>
            </a:xfrm>
            <a:prstGeom prst="roundRect">
              <a:avLst>
                <a:gd name="adj" fmla="val 12500"/>
              </a:avLst>
            </a:prstGeom>
            <a:solidFill>
              <a:srgbClr val="17324D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3473450" y="4425950"/>
              <a:ext cx="177800" cy="241300"/>
              <a:chOff x="3473450" y="4425950"/>
              <a:chExt cx="177800" cy="2413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3486150" y="4451350"/>
                <a:ext cx="1524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016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76200"/>
                    </a:lnTo>
                    <a:cubicBezTo>
                      <a:pt x="152400" y="90228"/>
                      <a:pt x="141028" y="101600"/>
                      <a:pt x="127000" y="101600"/>
                    </a:cubicBezTo>
                    <a:lnTo>
                      <a:pt x="25400" y="101600"/>
                    </a:lnTo>
                    <a:cubicBezTo>
                      <a:pt x="11372" y="101600"/>
                      <a:pt x="0" y="90228"/>
                      <a:pt x="0" y="76200"/>
                    </a:cubicBezTo>
                    <a:lnTo>
                      <a:pt x="0" y="2540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3562350" y="442595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0"/>
                    </a:moveTo>
                    <a:lnTo>
                      <a:pt x="0" y="2540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3524250" y="455295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3600450" y="455295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3473450" y="4578350"/>
                <a:ext cx="50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5400">
                    <a:moveTo>
                      <a:pt x="0" y="25400"/>
                    </a:moveTo>
                    <a:lnTo>
                      <a:pt x="5080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3600450" y="4578350"/>
                <a:ext cx="50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5400">
                    <a:moveTo>
                      <a:pt x="0" y="0"/>
                    </a:moveTo>
                    <a:lnTo>
                      <a:pt x="50800" y="2540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3524250" y="462915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3536950" y="45021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3587750" y="45021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5595660" y="4470082"/>
              <a:ext cx="100068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LLM 提取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714750" y="5086350"/>
              <a:ext cx="4762500" cy="762000"/>
            </a:xfrm>
            <a:prstGeom prst="roundRect">
              <a:avLst>
                <a:gd name="adj" fmla="val 12500"/>
              </a:avLst>
            </a:prstGeom>
            <a:solidFill>
              <a:srgbClr val="2F855A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4057650" y="5353050"/>
              <a:ext cx="190500" cy="228600"/>
              <a:chOff x="4057650" y="5353050"/>
              <a:chExt cx="190500" cy="2286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4083050" y="5353050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4057650" y="5505450"/>
                <a:ext cx="1016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76200">
                    <a:moveTo>
                      <a:pt x="0" y="76200"/>
                    </a:move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lnTo>
                      <a:pt x="10160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4171950" y="553085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5612987" y="53844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审核晋升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1581162" y="6532245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492A0"/>
                </a:solidFill>
                <a:latin typeface="Arial"/>
                <a:ea typeface="Microsoft YaHei"/>
                <a:cs typeface="Arial"/>
              </a:rPr>
              <a:t>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AFC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rcRect l="13889" t="0" r="13889" b="0"/>
            <a:stretch>
              <a:fillRect/>
            </a:stretch>
          </p:blipFill>
          <p:spPr>
            <a:xfrm>
              <a:off x="6858000" y="1524000"/>
              <a:ext cx="4953000" cy="45720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6667500" y="1524000"/>
              <a:ext cx="381000" cy="4572000"/>
            </a:xfrm>
            <a:prstGeom prst="rect">
              <a:avLst/>
            </a:prstGeom>
            <a:solidFill>
              <a:srgbClr val="F7FAFC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33400" y="400050"/>
            <a:ext cx="5009679" cy="704850"/>
            <a:chOff x="533400" y="400050"/>
            <a:chExt cx="5009679" cy="704850"/>
          </a:xfrm>
        </p:grpSpPr>
        <p:sp>
          <p:nvSpPr>
            <p:cNvPr id="6" name="Rectangle 6"/>
            <p:cNvSpPr/>
            <p:nvPr/>
          </p:nvSpPr>
          <p:spPr>
            <a:xfrm>
              <a:off x="533400" y="400050"/>
              <a:ext cx="76200" cy="381000"/>
            </a:xfrm>
            <a:prstGeom prst="rect">
              <a:avLst/>
            </a:prstGeom>
            <a:solidFill>
              <a:srgbClr val="1F9FB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9615" y="410528"/>
              <a:ext cx="481346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全局架构：生产 - 治理 - 消费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6760" y="861060"/>
              <a:ext cx="34789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A7A"/>
                  </a:solidFill>
                  <a:latin typeface="Arial"/>
                  <a:ea typeface="Microsoft YaHei"/>
                  <a:cs typeface="Arial"/>
                </a:rPr>
                <a:t>Mirror 是唯一预正式缓冲层；晋升必须预览确认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533400" y="2667000"/>
            <a:ext cx="10858500" cy="1143000"/>
            <a:chOff x="533400" y="2667000"/>
            <a:chExt cx="10858500" cy="1143000"/>
          </a:xfrm>
        </p:grpSpPr>
        <p:sp>
          <p:nvSpPr>
            <p:cNvPr id="10" name="Rectangle 10"/>
            <p:cNvSpPr/>
            <p:nvPr/>
          </p:nvSpPr>
          <p:spPr>
            <a:xfrm>
              <a:off x="533400" y="2667000"/>
              <a:ext cx="1524000" cy="11430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9050">
              <a:solidFill>
                <a:srgbClr val="1F9FB5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193800" y="2895600"/>
              <a:ext cx="203200" cy="228600"/>
              <a:chOff x="1193800" y="2895600"/>
              <a:chExt cx="203200" cy="2286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193800" y="2895600"/>
                <a:ext cx="203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76200">
                    <a:moveTo>
                      <a:pt x="0" y="38100"/>
                    </a:moveTo>
                    <a:cubicBezTo>
                      <a:pt x="0" y="59142"/>
                      <a:pt x="45488" y="76200"/>
                      <a:pt x="101600" y="76200"/>
                    </a:cubicBezTo>
                    <a:cubicBezTo>
                      <a:pt x="157712" y="76200"/>
                      <a:pt x="203200" y="59142"/>
                      <a:pt x="203200" y="38100"/>
                    </a:cubicBezTo>
                    <a:cubicBezTo>
                      <a:pt x="203200" y="17058"/>
                      <a:pt x="157712" y="0"/>
                      <a:pt x="101600" y="0"/>
                    </a:cubicBezTo>
                    <a:cubicBezTo>
                      <a:pt x="45488" y="0"/>
                      <a:pt x="0" y="17058"/>
                      <a:pt x="0" y="38100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93800" y="2933700"/>
                <a:ext cx="203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200" y="97242"/>
                      <a:pt x="203200" y="76200"/>
                    </a:cubicBezTo>
                    <a:lnTo>
                      <a:pt x="20320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193800" y="3009900"/>
                <a:ext cx="203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200" y="97242"/>
                      <a:pt x="203200" y="76200"/>
                    </a:cubicBezTo>
                    <a:lnTo>
                      <a:pt x="203200" y="0"/>
                    </a:ln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124741" y="3394710"/>
              <a:ext cx="34131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Raw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2057400" y="3238500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28575">
              <a:solidFill>
                <a:srgbClr val="1F9FB5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2143125" y="3181350"/>
              <a:ext cx="133350" cy="114300"/>
              <a:chOff x="2143125" y="3181350"/>
              <a:chExt cx="133350" cy="1143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2143125" y="3238500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2219325" y="32385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57150"/>
                    </a:moveTo>
                    <a:lnTo>
                      <a:pt x="5715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2219325" y="31813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0"/>
                    </a:moveTo>
                    <a:lnTo>
                      <a:pt x="57150" y="57150"/>
                    </a:ln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21" name="Rectangle 21"/>
            <p:cNvSpPr/>
            <p:nvPr/>
          </p:nvSpPr>
          <p:spPr>
            <a:xfrm>
              <a:off x="2400300" y="2667000"/>
              <a:ext cx="1524000" cy="11430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9050">
              <a:solidFill>
                <a:srgbClr val="1F9FB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060700" y="2908300"/>
              <a:ext cx="203200" cy="215900"/>
            </a:xfrm>
            <a:custGeom>
              <a:avLst/>
              <a:gdLst/>
              <a:ahLst/>
              <a:cxnLst/>
              <a:rect l="l" t="t" r="r" b="b"/>
              <a:pathLst>
                <a:path w="203200" h="215900">
                  <a:moveTo>
                    <a:pt x="0" y="0"/>
                  </a:moveTo>
                  <a:lnTo>
                    <a:pt x="203200" y="0"/>
                  </a:lnTo>
                  <a:lnTo>
                    <a:pt x="203200" y="27584"/>
                  </a:lnTo>
                  <a:cubicBezTo>
                    <a:pt x="203199" y="34320"/>
                    <a:pt x="200522" y="40780"/>
                    <a:pt x="195758" y="45542"/>
                  </a:cubicBezTo>
                  <a:lnTo>
                    <a:pt x="139700" y="101600"/>
                  </a:lnTo>
                  <a:lnTo>
                    <a:pt x="139700" y="190500"/>
                  </a:lnTo>
                  <a:lnTo>
                    <a:pt x="63500" y="215900"/>
                  </a:lnTo>
                  <a:lnTo>
                    <a:pt x="63500" y="107950"/>
                  </a:lnTo>
                  <a:lnTo>
                    <a:pt x="6604" y="45364"/>
                  </a:lnTo>
                  <a:cubicBezTo>
                    <a:pt x="2355" y="40690"/>
                    <a:pt x="1" y="34600"/>
                    <a:pt x="0" y="28283"/>
                  </a:cubicBez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752211" y="3394710"/>
              <a:ext cx="82017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Candidate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3924300" y="3238500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28575">
              <a:solidFill>
                <a:srgbClr val="1F9FB5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4010025" y="3181350"/>
              <a:ext cx="133350" cy="114300"/>
              <a:chOff x="4010025" y="3181350"/>
              <a:chExt cx="133350" cy="1143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4010025" y="3238500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086225" y="32385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57150"/>
                    </a:moveTo>
                    <a:lnTo>
                      <a:pt x="5715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4086225" y="31813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0"/>
                    </a:moveTo>
                    <a:lnTo>
                      <a:pt x="57150" y="57150"/>
                    </a:ln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29" name="Rectangle 29"/>
            <p:cNvSpPr/>
            <p:nvPr/>
          </p:nvSpPr>
          <p:spPr>
            <a:xfrm>
              <a:off x="4267200" y="2667000"/>
              <a:ext cx="1524000" cy="11430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9050">
              <a:solidFill>
                <a:srgbClr val="1F9FB5"/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4940300" y="2882900"/>
              <a:ext cx="177800" cy="241300"/>
              <a:chOff x="4940300" y="2882900"/>
              <a:chExt cx="177800" cy="2413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4953000" y="2908300"/>
                <a:ext cx="1524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016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76200"/>
                    </a:lnTo>
                    <a:cubicBezTo>
                      <a:pt x="152400" y="90228"/>
                      <a:pt x="141028" y="101600"/>
                      <a:pt x="127000" y="101600"/>
                    </a:cubicBezTo>
                    <a:lnTo>
                      <a:pt x="25400" y="101600"/>
                    </a:lnTo>
                    <a:cubicBezTo>
                      <a:pt x="11372" y="101600"/>
                      <a:pt x="0" y="90228"/>
                      <a:pt x="0" y="76200"/>
                    </a:cubicBezTo>
                    <a:lnTo>
                      <a:pt x="0" y="2540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5029200" y="288290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0"/>
                    </a:moveTo>
                    <a:lnTo>
                      <a:pt x="0" y="2540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4991100" y="30099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5067300" y="30099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4940300" y="3035300"/>
                <a:ext cx="50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5400">
                    <a:moveTo>
                      <a:pt x="0" y="25400"/>
                    </a:moveTo>
                    <a:lnTo>
                      <a:pt x="5080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5067300" y="3035300"/>
                <a:ext cx="50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5400">
                    <a:moveTo>
                      <a:pt x="0" y="0"/>
                    </a:moveTo>
                    <a:lnTo>
                      <a:pt x="50800" y="2540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4991100" y="308610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5003800" y="29591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5054600" y="29591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4539301" y="3394710"/>
              <a:ext cx="97979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LLM/Mirror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5791200" y="3238500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28575">
              <a:solidFill>
                <a:srgbClr val="1F9FB5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5876925" y="3181350"/>
              <a:ext cx="133350" cy="114300"/>
              <a:chOff x="5876925" y="3181350"/>
              <a:chExt cx="133350" cy="1143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5876925" y="3238500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5953125" y="32385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57150"/>
                    </a:moveTo>
                    <a:lnTo>
                      <a:pt x="5715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5953125" y="31813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0"/>
                    </a:moveTo>
                    <a:lnTo>
                      <a:pt x="57150" y="57150"/>
                    </a:ln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46" name="Rectangle 46"/>
            <p:cNvSpPr/>
            <p:nvPr/>
          </p:nvSpPr>
          <p:spPr>
            <a:xfrm>
              <a:off x="6134100" y="2667000"/>
              <a:ext cx="1524000" cy="11430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9050">
              <a:solidFill>
                <a:srgbClr val="17324D"/>
              </a:solidFill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6819900" y="2895600"/>
              <a:ext cx="190500" cy="228600"/>
              <a:chOff x="6819900" y="2895600"/>
              <a:chExt cx="190500" cy="2286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845300" y="2895600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819900" y="3048000"/>
                <a:ext cx="1016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76200">
                    <a:moveTo>
                      <a:pt x="0" y="76200"/>
                    </a:move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lnTo>
                      <a:pt x="10160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934200" y="307340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6607826" y="3394710"/>
              <a:ext cx="57654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Review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7658100" y="3238500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28575">
              <a:solidFill>
                <a:srgbClr val="1F9FB5"/>
              </a:solidFill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743825" y="3181350"/>
              <a:ext cx="133350" cy="114300"/>
              <a:chOff x="7743825" y="3181350"/>
              <a:chExt cx="133350" cy="11430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743825" y="3238500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820025" y="32385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57150"/>
                    </a:moveTo>
                    <a:lnTo>
                      <a:pt x="5715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820025" y="31813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0"/>
                    </a:moveTo>
                    <a:lnTo>
                      <a:pt x="57150" y="57150"/>
                    </a:ln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57" name="Rectangle 57"/>
            <p:cNvSpPr/>
            <p:nvPr/>
          </p:nvSpPr>
          <p:spPr>
            <a:xfrm>
              <a:off x="8001000" y="2667000"/>
              <a:ext cx="1524000" cy="11430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9050">
              <a:solidFill>
                <a:srgbClr val="2F855A"/>
              </a:solidFill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8648700" y="2895600"/>
              <a:ext cx="228600" cy="228600"/>
              <a:chOff x="8648700" y="2895600"/>
              <a:chExt cx="228600" cy="22860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8648700" y="28956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114300"/>
                    </a:moveTo>
                    <a:cubicBezTo>
                      <a:pt x="0" y="177426"/>
                      <a:pt x="51174" y="228600"/>
                      <a:pt x="114300" y="228600"/>
                    </a:cubicBezTo>
                    <a:cubicBezTo>
                      <a:pt x="177426" y="228600"/>
                      <a:pt x="228600" y="177426"/>
                      <a:pt x="228600" y="114300"/>
                    </a:cubicBezTo>
                    <a:cubicBezTo>
                      <a:pt x="228600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724900" y="298450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8558736" y="3394710"/>
              <a:ext cx="4085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Final</a:t>
              </a:r>
            </a:p>
          </p:txBody>
        </p:sp>
        <p:sp>
          <p:nvSpPr>
            <p:cNvPr id="62" name="Line 62"/>
            <p:cNvSpPr/>
            <p:nvPr/>
          </p:nvSpPr>
          <p:spPr>
            <a:xfrm>
              <a:off x="9525000" y="3238500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28575">
              <a:solidFill>
                <a:srgbClr val="1F9FB5"/>
              </a:solidFill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9610725" y="3181350"/>
              <a:ext cx="133350" cy="114300"/>
              <a:chOff x="9610725" y="3181350"/>
              <a:chExt cx="133350" cy="11430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9610725" y="3238500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9686925" y="32385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57150"/>
                    </a:moveTo>
                    <a:lnTo>
                      <a:pt x="5715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9686925" y="31813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0"/>
                    </a:moveTo>
                    <a:lnTo>
                      <a:pt x="57150" y="57150"/>
                    </a:ln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67" name="Rectangle 67"/>
            <p:cNvSpPr/>
            <p:nvPr/>
          </p:nvSpPr>
          <p:spPr>
            <a:xfrm>
              <a:off x="9867900" y="2667000"/>
              <a:ext cx="1524000" cy="11430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9050">
              <a:solidFill>
                <a:srgbClr val="17324D"/>
              </a:solidFill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10528300" y="2895600"/>
              <a:ext cx="228600" cy="241300"/>
              <a:chOff x="10528300" y="2895600"/>
              <a:chExt cx="228600" cy="241300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10528300" y="2895600"/>
                <a:ext cx="203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76200">
                    <a:moveTo>
                      <a:pt x="0" y="38100"/>
                    </a:moveTo>
                    <a:cubicBezTo>
                      <a:pt x="0" y="59144"/>
                      <a:pt x="45491" y="76200"/>
                      <a:pt x="101600" y="76200"/>
                    </a:cubicBezTo>
                    <a:cubicBezTo>
                      <a:pt x="157709" y="76200"/>
                      <a:pt x="203200" y="59144"/>
                      <a:pt x="203200" y="38100"/>
                    </a:cubicBezTo>
                    <a:cubicBezTo>
                      <a:pt x="203200" y="17056"/>
                      <a:pt x="157709" y="0"/>
                      <a:pt x="101600" y="0"/>
                    </a:cubicBezTo>
                    <a:cubicBezTo>
                      <a:pt x="45491" y="0"/>
                      <a:pt x="0" y="17056"/>
                      <a:pt x="0" y="38100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10528300" y="2933700"/>
                <a:ext cx="14160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41605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4"/>
                      <a:pt x="45491" y="114300"/>
                      <a:pt x="101600" y="114300"/>
                    </a:cubicBezTo>
                    <a:cubicBezTo>
                      <a:pt x="115799" y="114300"/>
                      <a:pt x="129324" y="113208"/>
                      <a:pt x="141605" y="111239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10731500" y="2933700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76200"/>
                    </a:move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10528300" y="3009900"/>
                <a:ext cx="107518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07518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4"/>
                      <a:pt x="45491" y="114300"/>
                      <a:pt x="101600" y="114300"/>
                    </a:cubicBezTo>
                    <a:cubicBezTo>
                      <a:pt x="103594" y="114300"/>
                      <a:pt x="105562" y="114275"/>
                      <a:pt x="107518" y="114237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10680700" y="309880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10718800" y="3060700"/>
                <a:ext cx="381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6200">
                    <a:moveTo>
                      <a:pt x="0" y="0"/>
                    </a:moveTo>
                    <a:lnTo>
                      <a:pt x="38100" y="38100"/>
                    </a:lnTo>
                    <a:lnTo>
                      <a:pt x="0" y="76200"/>
                    </a:ln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0446639" y="339471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消费</a:t>
              </a:r>
            </a:p>
          </p:txBody>
        </p:sp>
      </p:grpSp>
      <p:sp>
        <p:nvSpPr>
          <p:cNvPr id="77" name="Rectangle 77"/>
          <p:cNvSpPr/>
          <p:nvPr/>
        </p:nvSpPr>
        <p:spPr>
          <a:xfrm>
            <a:off x="533400" y="4381500"/>
            <a:ext cx="111252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C05640"/>
            </a:solidFill>
          </a:ln>
        </p:spPr>
      </p:sp>
      <p:grpSp>
        <p:nvGrpSpPr>
          <p:cNvPr id="81" name="Group 81"/>
          <p:cNvGrpSpPr/>
          <p:nvPr/>
        </p:nvGrpSpPr>
        <p:grpSpPr>
          <a:xfrm>
            <a:off x="863600" y="4800600"/>
            <a:ext cx="177800" cy="228600"/>
            <a:chOff x="863600" y="4800600"/>
            <a:chExt cx="177800" cy="228600"/>
          </a:xfrm>
        </p:grpSpPr>
        <p:sp>
          <p:nvSpPr>
            <p:cNvPr id="78" name="Freeform 78"/>
            <p:cNvSpPr/>
            <p:nvPr/>
          </p:nvSpPr>
          <p:spPr>
            <a:xfrm>
              <a:off x="863600" y="4902200"/>
              <a:ext cx="177800" cy="127000"/>
            </a:xfrm>
            <a:custGeom>
              <a:avLst/>
              <a:gdLst/>
              <a:ahLst/>
              <a:cxnLst/>
              <a:rect l="l" t="t" r="r" b="b"/>
              <a:pathLst>
                <a:path w="177800" h="127000">
                  <a:moveTo>
                    <a:pt x="0" y="25400"/>
                  </a:moveTo>
                  <a:cubicBezTo>
                    <a:pt x="0" y="11372"/>
                    <a:pt x="11372" y="0"/>
                    <a:pt x="25400" y="0"/>
                  </a:cubicBezTo>
                  <a:lnTo>
                    <a:pt x="152400" y="0"/>
                  </a:lnTo>
                  <a:cubicBezTo>
                    <a:pt x="166428" y="0"/>
                    <a:pt x="177800" y="11372"/>
                    <a:pt x="177800" y="25400"/>
                  </a:cubicBezTo>
                  <a:lnTo>
                    <a:pt x="177800" y="101600"/>
                  </a:lnTo>
                  <a:cubicBezTo>
                    <a:pt x="177800" y="115628"/>
                    <a:pt x="166428" y="127000"/>
                    <a:pt x="152400" y="127000"/>
                  </a:cubicBezTo>
                  <a:lnTo>
                    <a:pt x="25400" y="127000"/>
                  </a:lnTo>
                  <a:cubicBezTo>
                    <a:pt x="11372" y="127000"/>
                    <a:pt x="0" y="115628"/>
                    <a:pt x="0" y="101600"/>
                  </a:cubicBezTo>
                  <a:lnTo>
                    <a:pt x="0" y="25400"/>
                  </a:lnTo>
                </a:path>
              </a:pathLst>
            </a:custGeom>
            <a:noFill/>
            <a:ln>
              <a:noFill/>
            </a:ln>
          </p:spPr>
        </p:sp>
        <p:sp>
          <p:nvSpPr>
            <p:cNvPr id="79" name="Freeform 79"/>
            <p:cNvSpPr/>
            <p:nvPr/>
          </p:nvSpPr>
          <p:spPr>
            <a:xfrm>
              <a:off x="939800" y="495300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0" y="12700"/>
                  </a:moveTo>
                  <a:cubicBezTo>
                    <a:pt x="0" y="19714"/>
                    <a:pt x="5686" y="25400"/>
                    <a:pt x="12700" y="25400"/>
                  </a:cubicBezTo>
                  <a:cubicBezTo>
                    <a:pt x="19714" y="25400"/>
                    <a:pt x="25400" y="19714"/>
                    <a:pt x="25400" y="12700"/>
                  </a:cubicBezTo>
                  <a:cubicBezTo>
                    <a:pt x="25400" y="5686"/>
                    <a:pt x="19714" y="0"/>
                    <a:pt x="12700" y="0"/>
                  </a:cubicBezTo>
                  <a:cubicBezTo>
                    <a:pt x="5686" y="0"/>
                    <a:pt x="0" y="5686"/>
                    <a:pt x="0" y="12700"/>
                  </a:cubicBezTo>
                </a:path>
              </a:pathLst>
            </a:custGeom>
            <a:noFill/>
            <a:ln>
              <a:noFill/>
            </a:ln>
          </p:spPr>
        </p:sp>
        <p:sp>
          <p:nvSpPr>
            <p:cNvPr id="80" name="Freeform 80"/>
            <p:cNvSpPr/>
            <p:nvPr/>
          </p:nvSpPr>
          <p:spPr>
            <a:xfrm>
              <a:off x="901700" y="4800600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0" y="101600"/>
                  </a:move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101600"/>
                  </a:lnTo>
                </a:path>
              </a:pathLst>
            </a:custGeom>
            <a:noFill/>
            <a:ln>
              <a:noFill/>
            </a:ln>
          </p:spPr>
        </p:sp>
      </p:grpSp>
      <p:sp>
        <p:nvSpPr>
          <p:cNvPr id="82" name="TextBox 82"/>
          <p:cNvSpPr txBox="1"/>
          <p:nvPr/>
        </p:nvSpPr>
        <p:spPr>
          <a:xfrm>
            <a:off x="1276350" y="4838700"/>
            <a:ext cx="54147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7324D"/>
                </a:solidFill>
                <a:latin typeface="Arial"/>
                <a:ea typeface="Microsoft YaHei"/>
                <a:cs typeface="Arial"/>
              </a:rPr>
              <a:t>硬边界 | LLM 不写 final_* | 人工审核必经 | 显式 mapping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1581162" y="6532245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492A0"/>
                </a:solidFill>
                <a:latin typeface="Arial"/>
                <a:ea typeface="Microsoft YaHei"/>
                <a:cs typeface="Arial"/>
              </a:rPr>
              <a:t>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00050"/>
            <a:ext cx="4902565" cy="704850"/>
            <a:chOff x="533400" y="400050"/>
            <a:chExt cx="4902565" cy="704850"/>
          </a:xfrm>
        </p:grpSpPr>
        <p:sp>
          <p:nvSpPr>
            <p:cNvPr id="3" name="Rectangle 3"/>
            <p:cNvSpPr/>
            <p:nvPr/>
          </p:nvSpPr>
          <p:spPr>
            <a:xfrm>
              <a:off x="533400" y="400050"/>
              <a:ext cx="76200" cy="381000"/>
            </a:xfrm>
            <a:prstGeom prst="rect">
              <a:avLst/>
            </a:prstGeom>
            <a:solidFill>
              <a:srgbClr val="1F9FB5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29615" y="410528"/>
              <a:ext cx="470635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导入与候选：五步确定性链路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6760" y="861060"/>
              <a:ext cx="27668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A7A"/>
                  </a:solidFill>
                  <a:latin typeface="Arial"/>
                  <a:ea typeface="Microsoft YaHei"/>
                  <a:cs typeface="Arial"/>
                </a:rPr>
                <a:t>输出带 provenance 的标准化候选记录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33400" y="2095500"/>
            <a:ext cx="10744200" cy="2667000"/>
            <a:chOff x="533400" y="2095500"/>
            <a:chExt cx="10744200" cy="2667000"/>
          </a:xfrm>
        </p:grpSpPr>
        <p:sp>
          <p:nvSpPr>
            <p:cNvPr id="7" name="Rectangle 7"/>
            <p:cNvSpPr/>
            <p:nvPr/>
          </p:nvSpPr>
          <p:spPr>
            <a:xfrm>
              <a:off x="533400" y="2095500"/>
              <a:ext cx="1905000" cy="2667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219200" y="2400300"/>
              <a:ext cx="533400" cy="533400"/>
            </a:xfrm>
            <a:prstGeom prst="ellipse">
              <a:avLst/>
            </a:prstGeom>
            <a:solidFill>
              <a:srgbClr val="1F9FB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435346" y="2581275"/>
              <a:ext cx="10110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1397000" y="3287966"/>
              <a:ext cx="204459" cy="205867"/>
              <a:chOff x="1397000" y="3287966"/>
              <a:chExt cx="204459" cy="205867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397000" y="3289300"/>
                <a:ext cx="50800" cy="2032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032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38100" y="0"/>
                    </a:lnTo>
                    <a:cubicBezTo>
                      <a:pt x="45114" y="0"/>
                      <a:pt x="50800" y="5686"/>
                      <a:pt x="50800" y="12700"/>
                    </a:cubicBezTo>
                    <a:lnTo>
                      <a:pt x="50800" y="190500"/>
                    </a:lnTo>
                    <a:cubicBezTo>
                      <a:pt x="50800" y="197514"/>
                      <a:pt x="45114" y="203200"/>
                      <a:pt x="38100" y="203200"/>
                    </a:cubicBezTo>
                    <a:lnTo>
                      <a:pt x="12700" y="203200"/>
                    </a:lnTo>
                    <a:cubicBezTo>
                      <a:pt x="5686" y="203200"/>
                      <a:pt x="0" y="197514"/>
                      <a:pt x="0" y="190500"/>
                    </a:cubicBezTo>
                    <a:lnTo>
                      <a:pt x="0" y="1270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447800" y="3289300"/>
                <a:ext cx="50800" cy="2032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032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38100" y="0"/>
                    </a:lnTo>
                    <a:cubicBezTo>
                      <a:pt x="45114" y="0"/>
                      <a:pt x="50800" y="5686"/>
                      <a:pt x="50800" y="12700"/>
                    </a:cubicBezTo>
                    <a:lnTo>
                      <a:pt x="50800" y="190500"/>
                    </a:lnTo>
                    <a:cubicBezTo>
                      <a:pt x="50800" y="197514"/>
                      <a:pt x="45114" y="203200"/>
                      <a:pt x="38100" y="203200"/>
                    </a:cubicBezTo>
                    <a:lnTo>
                      <a:pt x="12700" y="203200"/>
                    </a:lnTo>
                    <a:cubicBezTo>
                      <a:pt x="5686" y="203200"/>
                      <a:pt x="0" y="197514"/>
                      <a:pt x="0" y="190500"/>
                    </a:cubicBezTo>
                    <a:lnTo>
                      <a:pt x="0" y="1270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397000" y="3340100"/>
                <a:ext cx="50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9525">
                    <a:moveTo>
                      <a:pt x="0" y="0"/>
                    </a:moveTo>
                    <a:lnTo>
                      <a:pt x="5080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447800" y="3441700"/>
                <a:ext cx="50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9525">
                    <a:moveTo>
                      <a:pt x="0" y="0"/>
                    </a:moveTo>
                    <a:lnTo>
                      <a:pt x="5080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497342" y="3287966"/>
                <a:ext cx="104117" cy="205867"/>
              </a:xfrm>
              <a:custGeom>
                <a:avLst/>
                <a:gdLst/>
                <a:ahLst/>
                <a:cxnLst/>
                <a:rect l="l" t="t" r="r" b="b"/>
                <a:pathLst>
                  <a:path w="104117" h="205867">
                    <a:moveTo>
                      <a:pt x="11457" y="8445"/>
                    </a:moveTo>
                    <a:lnTo>
                      <a:pt x="39193" y="1715"/>
                    </a:lnTo>
                    <a:cubicBezTo>
                      <a:pt x="46331" y="0"/>
                      <a:pt x="53582" y="4128"/>
                      <a:pt x="55475" y="11011"/>
                    </a:cubicBezTo>
                    <a:lnTo>
                      <a:pt x="102401" y="181420"/>
                    </a:lnTo>
                    <a:cubicBezTo>
                      <a:pt x="104117" y="187885"/>
                      <a:pt x="100628" y="194593"/>
                      <a:pt x="94349" y="196901"/>
                    </a:cubicBezTo>
                    <a:lnTo>
                      <a:pt x="92660" y="197422"/>
                    </a:lnTo>
                    <a:lnTo>
                      <a:pt x="64924" y="204153"/>
                    </a:lnTo>
                    <a:cubicBezTo>
                      <a:pt x="57786" y="205867"/>
                      <a:pt x="50534" y="201740"/>
                      <a:pt x="48642" y="194856"/>
                    </a:cubicBezTo>
                    <a:lnTo>
                      <a:pt x="1716" y="24447"/>
                    </a:lnTo>
                    <a:cubicBezTo>
                      <a:pt x="0" y="17982"/>
                      <a:pt x="3489" y="11274"/>
                      <a:pt x="9767" y="8966"/>
                    </a:cubicBezTo>
                    <a:lnTo>
                      <a:pt x="11457" y="8445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511300" y="3340100"/>
                <a:ext cx="50800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12700">
                    <a:moveTo>
                      <a:pt x="0" y="12700"/>
                    </a:moveTo>
                    <a:lnTo>
                      <a:pt x="5080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536700" y="3429254"/>
                <a:ext cx="49822" cy="12446"/>
              </a:xfrm>
              <a:custGeom>
                <a:avLst/>
                <a:gdLst/>
                <a:ahLst/>
                <a:cxnLst/>
                <a:rect l="l" t="t" r="r" b="b"/>
                <a:pathLst>
                  <a:path w="49822" h="12446">
                    <a:moveTo>
                      <a:pt x="0" y="12446"/>
                    </a:moveTo>
                    <a:lnTo>
                      <a:pt x="49822" y="0"/>
                    </a:ln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6798" y="38385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资源登记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2438400" y="342900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28575">
              <a:solidFill>
                <a:srgbClr val="1F9FB5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743200" y="2095500"/>
              <a:ext cx="1905000" cy="2667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3429000" y="2400300"/>
              <a:ext cx="533400" cy="533400"/>
            </a:xfrm>
            <a:prstGeom prst="ellipse">
              <a:avLst/>
            </a:prstGeom>
            <a:solidFill>
              <a:srgbClr val="1F9FB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618893" y="2581275"/>
              <a:ext cx="153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3594100" y="3276600"/>
              <a:ext cx="203200" cy="228600"/>
              <a:chOff x="3594100" y="3276600"/>
              <a:chExt cx="203200" cy="2286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3594100" y="3276600"/>
                <a:ext cx="203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76200">
                    <a:moveTo>
                      <a:pt x="0" y="38100"/>
                    </a:moveTo>
                    <a:cubicBezTo>
                      <a:pt x="0" y="59142"/>
                      <a:pt x="45488" y="76200"/>
                      <a:pt x="101600" y="76200"/>
                    </a:cubicBezTo>
                    <a:cubicBezTo>
                      <a:pt x="157712" y="76200"/>
                      <a:pt x="203200" y="59142"/>
                      <a:pt x="203200" y="38100"/>
                    </a:cubicBezTo>
                    <a:cubicBezTo>
                      <a:pt x="203200" y="17058"/>
                      <a:pt x="157712" y="0"/>
                      <a:pt x="101600" y="0"/>
                    </a:cubicBezTo>
                    <a:cubicBezTo>
                      <a:pt x="45488" y="0"/>
                      <a:pt x="0" y="17058"/>
                      <a:pt x="0" y="38100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3594100" y="3314700"/>
                <a:ext cx="203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200" y="97242"/>
                      <a:pt x="203200" y="76200"/>
                    </a:cubicBezTo>
                    <a:lnTo>
                      <a:pt x="20320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3594100" y="3390900"/>
                <a:ext cx="203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200" y="97242"/>
                      <a:pt x="203200" y="76200"/>
                    </a:cubicBezTo>
                    <a:lnTo>
                      <a:pt x="203200" y="0"/>
                    </a:ln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3256598" y="38385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双轨文件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4648200" y="342900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28575">
              <a:solidFill>
                <a:srgbClr val="1F9FB5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4953000" y="2095500"/>
              <a:ext cx="1905000" cy="2667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5638800" y="2400300"/>
              <a:ext cx="533400" cy="533400"/>
            </a:xfrm>
            <a:prstGeom prst="ellipse">
              <a:avLst/>
            </a:prstGeom>
            <a:solidFill>
              <a:srgbClr val="1F9FB5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828693" y="2581275"/>
              <a:ext cx="153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5816600" y="3289300"/>
              <a:ext cx="190500" cy="215900"/>
              <a:chOff x="5816600" y="3289300"/>
              <a:chExt cx="190500" cy="2159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5816600" y="3289300"/>
                <a:ext cx="152400" cy="2032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203200">
                    <a:moveTo>
                      <a:pt x="58611" y="203200"/>
                    </a:moveTo>
                    <a:lnTo>
                      <a:pt x="25400" y="203200"/>
                    </a:lnTo>
                    <a:cubicBezTo>
                      <a:pt x="11372" y="203200"/>
                      <a:pt x="0" y="191828"/>
                      <a:pt x="0" y="1778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12700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5930900" y="345440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5867400" y="3340100"/>
                <a:ext cx="50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9525">
                    <a:moveTo>
                      <a:pt x="0" y="0"/>
                    </a:moveTo>
                    <a:lnTo>
                      <a:pt x="5080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5867400" y="339090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0" y="0"/>
                    </a:moveTo>
                    <a:lnTo>
                      <a:pt x="25400" y="0"/>
                    </a:ln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5466398" y="38385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批次审计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6858000" y="342900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28575">
              <a:solidFill>
                <a:srgbClr val="1F9FB5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162800" y="2095500"/>
              <a:ext cx="1905000" cy="2667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7848600" y="2400300"/>
              <a:ext cx="533400" cy="533400"/>
            </a:xfrm>
            <a:prstGeom prst="ellipse">
              <a:avLst/>
            </a:prstGeom>
            <a:solidFill>
              <a:srgbClr val="1F9FB5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038493" y="2581275"/>
              <a:ext cx="153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8013700" y="3276600"/>
              <a:ext cx="228600" cy="241300"/>
              <a:chOff x="8013700" y="3276600"/>
              <a:chExt cx="228600" cy="2413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8013700" y="3276600"/>
                <a:ext cx="203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76200">
                    <a:moveTo>
                      <a:pt x="0" y="38100"/>
                    </a:moveTo>
                    <a:cubicBezTo>
                      <a:pt x="0" y="59144"/>
                      <a:pt x="45491" y="76200"/>
                      <a:pt x="101600" y="76200"/>
                    </a:cubicBezTo>
                    <a:cubicBezTo>
                      <a:pt x="157709" y="76200"/>
                      <a:pt x="203200" y="59144"/>
                      <a:pt x="203200" y="38100"/>
                    </a:cubicBezTo>
                    <a:cubicBezTo>
                      <a:pt x="203200" y="17056"/>
                      <a:pt x="157709" y="0"/>
                      <a:pt x="101600" y="0"/>
                    </a:cubicBezTo>
                    <a:cubicBezTo>
                      <a:pt x="45491" y="0"/>
                      <a:pt x="0" y="17056"/>
                      <a:pt x="0" y="38100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013700" y="3314700"/>
                <a:ext cx="203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4"/>
                      <a:pt x="45491" y="114300"/>
                      <a:pt x="101600" y="114300"/>
                    </a:cubicBezTo>
                    <a:cubicBezTo>
                      <a:pt x="112471" y="114300"/>
                      <a:pt x="122936" y="113665"/>
                      <a:pt x="132766" y="112471"/>
                    </a:cubicBezTo>
                    <a:moveTo>
                      <a:pt x="203200" y="76200"/>
                    </a:moveTo>
                    <a:lnTo>
                      <a:pt x="20320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013700" y="3390900"/>
                <a:ext cx="108077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08077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4"/>
                      <a:pt x="45491" y="114300"/>
                      <a:pt x="101600" y="114300"/>
                    </a:cubicBezTo>
                    <a:cubicBezTo>
                      <a:pt x="103772" y="114300"/>
                      <a:pt x="105931" y="114275"/>
                      <a:pt x="108077" y="114224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204200" y="3441700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76200"/>
                    </a:move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166100" y="3441700"/>
                <a:ext cx="762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38100">
                    <a:moveTo>
                      <a:pt x="76200" y="38100"/>
                    </a:moveTo>
                    <a:lnTo>
                      <a:pt x="38100" y="0"/>
                    </a:lnTo>
                    <a:lnTo>
                      <a:pt x="0" y="38100"/>
                    </a:ln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7676198" y="38385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单向解析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9067800" y="342900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28575">
              <a:solidFill>
                <a:srgbClr val="1F9FB5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9372600" y="2095500"/>
              <a:ext cx="1905000" cy="2667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10058400" y="2400300"/>
              <a:ext cx="533400" cy="533400"/>
            </a:xfrm>
            <a:prstGeom prst="ellipse">
              <a:avLst/>
            </a:prstGeom>
            <a:solidFill>
              <a:srgbClr val="1F9FB5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248293" y="2581275"/>
              <a:ext cx="153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grpSp>
          <p:nvGrpSpPr>
            <p:cNvPr id="59" name="Group 59"/>
            <p:cNvGrpSpPr/>
            <p:nvPr/>
          </p:nvGrpSpPr>
          <p:grpSpPr>
            <a:xfrm>
              <a:off x="10236200" y="3289300"/>
              <a:ext cx="190500" cy="203200"/>
              <a:chOff x="10236200" y="3289300"/>
              <a:chExt cx="190500" cy="20320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10236200" y="34417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10236200" y="32893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10363200" y="32893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0261600" y="3340100"/>
                <a:ext cx="9525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1600">
                    <a:moveTo>
                      <a:pt x="0" y="0"/>
                    </a:moveTo>
                    <a:lnTo>
                      <a:pt x="0" y="10160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10287000" y="3378200"/>
                <a:ext cx="1016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88900">
                    <a:moveTo>
                      <a:pt x="0" y="88900"/>
                    </a:moveTo>
                    <a:lnTo>
                      <a:pt x="76200" y="88900"/>
                    </a:lnTo>
                    <a:cubicBezTo>
                      <a:pt x="90228" y="88900"/>
                      <a:pt x="101600" y="77528"/>
                      <a:pt x="101600" y="63500"/>
                    </a:cubicBezTo>
                    <a:lnTo>
                      <a:pt x="10160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10350500" y="3378200"/>
                <a:ext cx="762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38100">
                    <a:moveTo>
                      <a:pt x="0" y="38100"/>
                    </a:moveTo>
                    <a:lnTo>
                      <a:pt x="38100" y="0"/>
                    </a:lnTo>
                    <a:lnTo>
                      <a:pt x="76200" y="38100"/>
                    </a:ln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9885998" y="38385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溯源候选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11581162" y="6532245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492A0"/>
                </a:solidFill>
                <a:latin typeface="Arial"/>
                <a:ea typeface="Microsoft YaHei"/>
                <a:cs typeface="Arial"/>
              </a:rPr>
              <a:t>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00050"/>
            <a:ext cx="2760297" cy="704850"/>
            <a:chOff x="533400" y="400050"/>
            <a:chExt cx="2760297" cy="704850"/>
          </a:xfrm>
        </p:grpSpPr>
        <p:sp>
          <p:nvSpPr>
            <p:cNvPr id="3" name="Rectangle 3"/>
            <p:cNvSpPr/>
            <p:nvPr/>
          </p:nvSpPr>
          <p:spPr>
            <a:xfrm>
              <a:off x="533400" y="400050"/>
              <a:ext cx="76200" cy="381000"/>
            </a:xfrm>
            <a:prstGeom prst="rect">
              <a:avLst/>
            </a:prstGeom>
            <a:solidFill>
              <a:srgbClr val="1F9FB5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29615" y="410528"/>
              <a:ext cx="256408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规则校验与增强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6760" y="86106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A7A"/>
                  </a:solidFill>
                  <a:latin typeface="Arial"/>
                  <a:ea typeface="Microsoft YaHei"/>
                  <a:cs typeface="Arial"/>
                </a:rPr>
                <a:t>增强不等于入库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33400" y="1333500"/>
            <a:ext cx="5334000" cy="4762500"/>
            <a:chOff x="533400" y="1333500"/>
            <a:chExt cx="5334000" cy="4762500"/>
          </a:xfrm>
        </p:grpSpPr>
        <p:sp>
          <p:nvSpPr>
            <p:cNvPr id="7" name="Rectangle 7"/>
            <p:cNvSpPr/>
            <p:nvPr/>
          </p:nvSpPr>
          <p:spPr>
            <a:xfrm>
              <a:off x="533400" y="1333500"/>
              <a:ext cx="5334000" cy="476250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821061" y="1638300"/>
              <a:ext cx="248008" cy="228600"/>
              <a:chOff x="821061" y="1638300"/>
              <a:chExt cx="248008" cy="2286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821061" y="1638300"/>
                <a:ext cx="248008" cy="226644"/>
              </a:xfrm>
              <a:custGeom>
                <a:avLst/>
                <a:gdLst/>
                <a:ahLst/>
                <a:cxnLst/>
                <a:rect l="l" t="t" r="r" b="b"/>
                <a:pathLst>
                  <a:path w="248008" h="226644">
                    <a:moveTo>
                      <a:pt x="124581" y="226644"/>
                    </a:moveTo>
                    <a:cubicBezTo>
                      <a:pt x="45022" y="201982"/>
                      <a:pt x="0" y="118014"/>
                      <a:pt x="23489" y="38100"/>
                    </a:cubicBezTo>
                    <a:cubicBezTo>
                      <a:pt x="63057" y="39911"/>
                      <a:pt x="101774" y="26246"/>
                      <a:pt x="131439" y="0"/>
                    </a:cubicBezTo>
                    <a:cubicBezTo>
                      <a:pt x="161104" y="26246"/>
                      <a:pt x="199822" y="39911"/>
                      <a:pt x="239389" y="38100"/>
                    </a:cubicBezTo>
                    <a:cubicBezTo>
                      <a:pt x="248008" y="67426"/>
                      <a:pt x="247610" y="98666"/>
                      <a:pt x="238246" y="127762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90600" y="181610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236345" y="165068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确定性校验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1050" y="2314575"/>
              <a:ext cx="86820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12 条规则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1050" y="2790825"/>
              <a:ext cx="119824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质量分 0-100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00100" y="3333750"/>
              <a:ext cx="4762500" cy="762000"/>
            </a:xfrm>
            <a:prstGeom prst="roundRect">
              <a:avLst>
                <a:gd name="adj" fmla="val 10000"/>
              </a:avLst>
            </a:prstGeom>
            <a:solidFill>
              <a:srgbClr val="EDF2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07745" y="3631882"/>
              <a:ext cx="97757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C05640"/>
                  </a:solidFill>
                  <a:latin typeface="Arial"/>
                  <a:ea typeface="Microsoft YaHei"/>
                  <a:cs typeface="Arial"/>
                </a:rPr>
                <a:t>BLOCKER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59355" y="366426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直接熔断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84860" y="463296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A7A"/>
                  </a:solidFill>
                  <a:latin typeface="Arial"/>
                  <a:ea typeface="Microsoft YaHei"/>
                  <a:cs typeface="Arial"/>
                </a:rPr>
                <a:t>规则在前，模型在后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324600" y="1333500"/>
            <a:ext cx="5334000" cy="4762500"/>
            <a:chOff x="6324600" y="1333500"/>
            <a:chExt cx="5334000" cy="4762500"/>
          </a:xfrm>
        </p:grpSpPr>
        <p:sp>
          <p:nvSpPr>
            <p:cNvPr id="19" name="Rectangle 19"/>
            <p:cNvSpPr/>
            <p:nvPr/>
          </p:nvSpPr>
          <p:spPr>
            <a:xfrm>
              <a:off x="6324600" y="1333500"/>
              <a:ext cx="5334000" cy="476250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6623825" y="1632725"/>
              <a:ext cx="239751" cy="239751"/>
              <a:chOff x="6623825" y="1632725"/>
              <a:chExt cx="239751" cy="239751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6623825" y="1632725"/>
                <a:ext cx="239751" cy="239751"/>
              </a:xfrm>
              <a:custGeom>
                <a:avLst/>
                <a:gdLst/>
                <a:ahLst/>
                <a:cxnLst/>
                <a:rect l="l" t="t" r="r" b="b"/>
                <a:pathLst>
                  <a:path w="239751" h="239751">
                    <a:moveTo>
                      <a:pt x="98603" y="22301"/>
                    </a:moveTo>
                    <a:cubicBezTo>
                      <a:pt x="104013" y="0"/>
                      <a:pt x="135738" y="0"/>
                      <a:pt x="141148" y="22301"/>
                    </a:cubicBezTo>
                    <a:cubicBezTo>
                      <a:pt x="142794" y="29096"/>
                      <a:pt x="147587" y="34697"/>
                      <a:pt x="154047" y="37373"/>
                    </a:cubicBezTo>
                    <a:cubicBezTo>
                      <a:pt x="160506" y="40049"/>
                      <a:pt x="167855" y="39479"/>
                      <a:pt x="173825" y="35839"/>
                    </a:cubicBezTo>
                    <a:cubicBezTo>
                      <a:pt x="193421" y="23901"/>
                      <a:pt x="215862" y="46330"/>
                      <a:pt x="203924" y="65938"/>
                    </a:cubicBezTo>
                    <a:cubicBezTo>
                      <a:pt x="200289" y="71906"/>
                      <a:pt x="199721" y="79249"/>
                      <a:pt x="202394" y="85704"/>
                    </a:cubicBezTo>
                    <a:cubicBezTo>
                      <a:pt x="205067" y="92160"/>
                      <a:pt x="210660" y="96952"/>
                      <a:pt x="217449" y="98603"/>
                    </a:cubicBezTo>
                    <a:cubicBezTo>
                      <a:pt x="239751" y="104013"/>
                      <a:pt x="239751" y="135738"/>
                      <a:pt x="217449" y="141148"/>
                    </a:cubicBezTo>
                    <a:cubicBezTo>
                      <a:pt x="210654" y="142794"/>
                      <a:pt x="205054" y="147587"/>
                      <a:pt x="202378" y="154047"/>
                    </a:cubicBezTo>
                    <a:cubicBezTo>
                      <a:pt x="199702" y="160506"/>
                      <a:pt x="200271" y="167855"/>
                      <a:pt x="203911" y="173825"/>
                    </a:cubicBezTo>
                    <a:cubicBezTo>
                      <a:pt x="215849" y="193421"/>
                      <a:pt x="193421" y="215862"/>
                      <a:pt x="173812" y="203924"/>
                    </a:cubicBezTo>
                    <a:cubicBezTo>
                      <a:pt x="167845" y="200289"/>
                      <a:pt x="160502" y="199721"/>
                      <a:pt x="154046" y="202394"/>
                    </a:cubicBezTo>
                    <a:cubicBezTo>
                      <a:pt x="147591" y="205067"/>
                      <a:pt x="142799" y="210660"/>
                      <a:pt x="141148" y="217449"/>
                    </a:cubicBezTo>
                    <a:cubicBezTo>
                      <a:pt x="135738" y="239751"/>
                      <a:pt x="104013" y="239751"/>
                      <a:pt x="98603" y="217449"/>
                    </a:cubicBezTo>
                    <a:cubicBezTo>
                      <a:pt x="96956" y="210654"/>
                      <a:pt x="92163" y="205054"/>
                      <a:pt x="85704" y="202378"/>
                    </a:cubicBezTo>
                    <a:cubicBezTo>
                      <a:pt x="79245" y="199702"/>
                      <a:pt x="71895" y="200271"/>
                      <a:pt x="65926" y="203911"/>
                    </a:cubicBezTo>
                    <a:cubicBezTo>
                      <a:pt x="46330" y="215849"/>
                      <a:pt x="23889" y="193421"/>
                      <a:pt x="35827" y="173812"/>
                    </a:cubicBezTo>
                    <a:cubicBezTo>
                      <a:pt x="39461" y="167845"/>
                      <a:pt x="40030" y="160502"/>
                      <a:pt x="37357" y="154046"/>
                    </a:cubicBezTo>
                    <a:cubicBezTo>
                      <a:pt x="34684" y="147591"/>
                      <a:pt x="29090" y="142799"/>
                      <a:pt x="22301" y="141148"/>
                    </a:cubicBezTo>
                    <a:cubicBezTo>
                      <a:pt x="0" y="135738"/>
                      <a:pt x="0" y="104013"/>
                      <a:pt x="22301" y="98603"/>
                    </a:cubicBezTo>
                    <a:cubicBezTo>
                      <a:pt x="29096" y="96956"/>
                      <a:pt x="34697" y="92163"/>
                      <a:pt x="37373" y="85704"/>
                    </a:cubicBezTo>
                    <a:cubicBezTo>
                      <a:pt x="40049" y="79245"/>
                      <a:pt x="39479" y="71895"/>
                      <a:pt x="35839" y="65926"/>
                    </a:cubicBezTo>
                    <a:cubicBezTo>
                      <a:pt x="23901" y="46330"/>
                      <a:pt x="46330" y="23889"/>
                      <a:pt x="65938" y="35827"/>
                    </a:cubicBezTo>
                    <a:cubicBezTo>
                      <a:pt x="78638" y="43548"/>
                      <a:pt x="95098" y="36716"/>
                      <a:pt x="98603" y="22301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705600" y="17145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7027545" y="16506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增强分层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591300" y="2286000"/>
              <a:ext cx="4800600" cy="1333500"/>
            </a:xfrm>
            <a:prstGeom prst="roundRect">
              <a:avLst>
                <a:gd name="adj" fmla="val 5714"/>
              </a:avLst>
            </a:prstGeom>
            <a:solidFill>
              <a:srgbClr val="EDF2F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98945" y="2584132"/>
              <a:ext cx="5617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9FB5"/>
                  </a:solidFill>
                  <a:latin typeface="Arial"/>
                  <a:ea typeface="Microsoft YaHei"/>
                  <a:cs typeface="Arial"/>
                </a:rPr>
                <a:t>Tier1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02755" y="3045142"/>
              <a:ext cx="11144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规则自动修复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591300" y="3905250"/>
              <a:ext cx="4800600" cy="1333500"/>
            </a:xfrm>
            <a:prstGeom prst="roundRect">
              <a:avLst>
                <a:gd name="adj" fmla="val 5714"/>
              </a:avLst>
            </a:prstGeom>
            <a:solidFill>
              <a:srgbClr val="EDF2F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98945" y="4203382"/>
              <a:ext cx="61948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C05640"/>
                  </a:solidFill>
                  <a:latin typeface="Arial"/>
                  <a:ea typeface="Microsoft YaHei"/>
                  <a:cs typeface="Arial"/>
                </a:rPr>
                <a:t>Tier2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02755" y="4664392"/>
              <a:ext cx="18615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LLM 建议必须人工复核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1581162" y="6532245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492A0"/>
                </a:solidFill>
                <a:latin typeface="Arial"/>
                <a:ea typeface="Microsoft YaHei"/>
                <a:cs typeface="Arial"/>
              </a:rPr>
              <a:t>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AFC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rcRect l="0" t="31250" r="0" b="31250"/>
            <a:stretch>
              <a:fillRect/>
            </a:stretch>
          </p:blipFill>
          <p:spPr>
            <a:xfrm>
              <a:off x="0" y="3810000"/>
              <a:ext cx="12192000" cy="30480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0" y="3810000"/>
              <a:ext cx="12192000" cy="3048000"/>
            </a:xfrm>
            <a:prstGeom prst="rect">
              <a:avLst/>
            </a:prstGeom>
            <a:solidFill>
              <a:srgbClr val="F7FAFC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33400" y="400050"/>
            <a:ext cx="3313717" cy="704850"/>
            <a:chOff x="533400" y="400050"/>
            <a:chExt cx="3313717" cy="704850"/>
          </a:xfrm>
        </p:grpSpPr>
        <p:sp>
          <p:nvSpPr>
            <p:cNvPr id="6" name="Rectangle 6"/>
            <p:cNvSpPr/>
            <p:nvPr/>
          </p:nvSpPr>
          <p:spPr>
            <a:xfrm>
              <a:off x="533400" y="400050"/>
              <a:ext cx="76200" cy="381000"/>
            </a:xfrm>
            <a:prstGeom prst="rect">
              <a:avLst/>
            </a:prstGeom>
            <a:solidFill>
              <a:srgbClr val="1F9FB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9615" y="410528"/>
              <a:ext cx="311750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LLM + Mirror 治理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6760" y="861060"/>
              <a:ext cx="18787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A7A"/>
                  </a:solidFill>
                  <a:latin typeface="Arial"/>
                  <a:ea typeface="Microsoft YaHei"/>
                  <a:cs typeface="Arial"/>
                </a:rPr>
                <a:t>所有提取结果先入 Mirror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33400" y="1333500"/>
            <a:ext cx="5334000" cy="4572000"/>
            <a:chOff x="533400" y="1333500"/>
            <a:chExt cx="5334000" cy="4572000"/>
          </a:xfrm>
        </p:grpSpPr>
        <p:sp>
          <p:nvSpPr>
            <p:cNvPr id="10" name="Rectangle 10"/>
            <p:cNvSpPr/>
            <p:nvPr/>
          </p:nvSpPr>
          <p:spPr>
            <a:xfrm>
              <a:off x="533400" y="1333500"/>
              <a:ext cx="5334000" cy="4572000"/>
            </a:xfrm>
            <a:prstGeom prst="roundRect">
              <a:avLst>
                <a:gd name="adj" fmla="val 2083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863600" y="1625600"/>
              <a:ext cx="177800" cy="241300"/>
              <a:chOff x="863600" y="1625600"/>
              <a:chExt cx="177800" cy="2413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876300" y="1651000"/>
                <a:ext cx="1524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016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76200"/>
                    </a:lnTo>
                    <a:cubicBezTo>
                      <a:pt x="152400" y="90228"/>
                      <a:pt x="141028" y="101600"/>
                      <a:pt x="127000" y="101600"/>
                    </a:cubicBezTo>
                    <a:lnTo>
                      <a:pt x="25400" y="101600"/>
                    </a:lnTo>
                    <a:cubicBezTo>
                      <a:pt x="11372" y="101600"/>
                      <a:pt x="0" y="90228"/>
                      <a:pt x="0" y="76200"/>
                    </a:cubicBezTo>
                    <a:lnTo>
                      <a:pt x="0" y="2540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52500" y="162560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0"/>
                    </a:moveTo>
                    <a:lnTo>
                      <a:pt x="0" y="2540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14400" y="17526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90600" y="17526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63600" y="1778000"/>
                <a:ext cx="50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5400">
                    <a:moveTo>
                      <a:pt x="0" y="25400"/>
                    </a:moveTo>
                    <a:lnTo>
                      <a:pt x="5080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990600" y="1778000"/>
                <a:ext cx="50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5400">
                    <a:moveTo>
                      <a:pt x="0" y="0"/>
                    </a:moveTo>
                    <a:lnTo>
                      <a:pt x="50800" y="2540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14400" y="182880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927100" y="17018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977900" y="17018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236345" y="1650682"/>
              <a:ext cx="100068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LLM 能力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1050" y="2314575"/>
              <a:ext cx="149828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- Provider 抽象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1050" y="2886075"/>
              <a:ext cx="140827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- 七类关系提取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1050" y="3457575"/>
              <a:ext cx="10082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- 异步编排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1050" y="4029075"/>
              <a:ext cx="10082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- 调用日志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324600" y="1333500"/>
            <a:ext cx="5334000" cy="4572000"/>
            <a:chOff x="6324600" y="1333500"/>
            <a:chExt cx="5334000" cy="4572000"/>
          </a:xfrm>
        </p:grpSpPr>
        <p:sp>
          <p:nvSpPr>
            <p:cNvPr id="27" name="Rectangle 27"/>
            <p:cNvSpPr/>
            <p:nvPr/>
          </p:nvSpPr>
          <p:spPr>
            <a:xfrm>
              <a:off x="6324600" y="1333500"/>
              <a:ext cx="5334000" cy="4572000"/>
            </a:xfrm>
            <a:prstGeom prst="roundRect">
              <a:avLst>
                <a:gd name="adj" fmla="val 2083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629400" y="1638300"/>
              <a:ext cx="228600" cy="241300"/>
              <a:chOff x="6629400" y="1638300"/>
              <a:chExt cx="228600" cy="2413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6667500" y="16383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76200"/>
                    </a:moveTo>
                    <a:cubicBezTo>
                      <a:pt x="0" y="118284"/>
                      <a:pt x="34116" y="152400"/>
                      <a:pt x="76200" y="152400"/>
                    </a:cubicBezTo>
                    <a:cubicBezTo>
                      <a:pt x="118284" y="152400"/>
                      <a:pt x="152400" y="118284"/>
                      <a:pt x="152400" y="76200"/>
                    </a:cubicBezTo>
                    <a:cubicBezTo>
                      <a:pt x="152400" y="34116"/>
                      <a:pt x="118284" y="0"/>
                      <a:pt x="76200" y="0"/>
                    </a:cubicBezTo>
                    <a:cubicBezTo>
                      <a:pt x="34116" y="0"/>
                      <a:pt x="0" y="34116"/>
                      <a:pt x="0" y="76200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743700" y="1638300"/>
                <a:ext cx="25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152400">
                    <a:moveTo>
                      <a:pt x="0" y="0"/>
                    </a:moveTo>
                    <a:cubicBezTo>
                      <a:pt x="16929" y="4229"/>
                      <a:pt x="25400" y="29629"/>
                      <a:pt x="25400" y="76200"/>
                    </a:cubicBezTo>
                    <a:cubicBezTo>
                      <a:pt x="25400" y="122771"/>
                      <a:pt x="16929" y="148171"/>
                      <a:pt x="0" y="152400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718300" y="1638300"/>
                <a:ext cx="25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152400">
                    <a:moveTo>
                      <a:pt x="25400" y="0"/>
                    </a:moveTo>
                    <a:cubicBezTo>
                      <a:pt x="8471" y="4229"/>
                      <a:pt x="0" y="29629"/>
                      <a:pt x="0" y="76200"/>
                    </a:cubicBezTo>
                    <a:cubicBezTo>
                      <a:pt x="0" y="122771"/>
                      <a:pt x="8471" y="148171"/>
                      <a:pt x="25400" y="152400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667500" y="1714500"/>
                <a:ext cx="15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629400" y="1854200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769100" y="1854200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718300" y="18288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743700" y="179070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7027545" y="1650682"/>
              <a:ext cx="132412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Mirror 治理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72250" y="2314575"/>
              <a:ext cx="140827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- 写入去重合并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72250" y="2886075"/>
              <a:ext cx="120824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- 双模型盲审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72250" y="3457575"/>
              <a:ext cx="18083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- 回路投射交叉验证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72250" y="4029075"/>
              <a:ext cx="153828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- 不直写 final_*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1545157" y="6532245"/>
            <a:ext cx="1248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492A0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4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00050"/>
            <a:ext cx="2760297" cy="704850"/>
            <a:chOff x="533400" y="400050"/>
            <a:chExt cx="2760297" cy="704850"/>
          </a:xfrm>
        </p:grpSpPr>
        <p:sp>
          <p:nvSpPr>
            <p:cNvPr id="3" name="Rectangle 3"/>
            <p:cNvSpPr/>
            <p:nvPr/>
          </p:nvSpPr>
          <p:spPr>
            <a:xfrm>
              <a:off x="533400" y="400050"/>
              <a:ext cx="76200" cy="381000"/>
            </a:xfrm>
            <a:prstGeom prst="rect">
              <a:avLst/>
            </a:prstGeom>
            <a:solidFill>
              <a:srgbClr val="1F9FB5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29615" y="410528"/>
              <a:ext cx="256408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三道闸门与晋升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6760" y="861060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A7A"/>
                  </a:solidFill>
                  <a:latin typeface="Arial"/>
                  <a:ea typeface="Microsoft YaHei"/>
                  <a:cs typeface="Arial"/>
                </a:rPr>
                <a:t>通过后才写入标准三元组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33400" y="1905000"/>
            <a:ext cx="10096500" cy="1333500"/>
            <a:chOff x="533400" y="1905000"/>
            <a:chExt cx="10096500" cy="1333500"/>
          </a:xfrm>
        </p:grpSpPr>
        <p:sp>
          <p:nvSpPr>
            <p:cNvPr id="7" name="Polygon 7"/>
            <p:cNvSpPr/>
            <p:nvPr/>
          </p:nvSpPr>
          <p:spPr>
            <a:xfrm>
              <a:off x="533400" y="1905000"/>
              <a:ext cx="3238500" cy="1333500"/>
            </a:xfrm>
            <a:custGeom>
              <a:avLst/>
              <a:gdLst/>
              <a:ahLst/>
              <a:cxnLst/>
              <a:rect l="l" t="t" r="r" b="b"/>
              <a:pathLst>
                <a:path w="3238500" h="1333500">
                  <a:moveTo>
                    <a:pt x="0" y="0"/>
                  </a:moveTo>
                  <a:lnTo>
                    <a:pt x="2857500" y="0"/>
                  </a:lnTo>
                  <a:lnTo>
                    <a:pt x="3238500" y="666750"/>
                  </a:lnTo>
                  <a:lnTo>
                    <a:pt x="2857500" y="1333500"/>
                  </a:lnTo>
                  <a:lnTo>
                    <a:pt x="0" y="1333500"/>
                  </a:lnTo>
                  <a:lnTo>
                    <a:pt x="381000" y="666750"/>
                  </a:lnTo>
                  <a:close/>
                </a:path>
              </a:pathLst>
            </a:custGeom>
            <a:solidFill>
              <a:srgbClr val="1F9FB5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697361" y="2228850"/>
              <a:ext cx="248008" cy="228600"/>
              <a:chOff x="1697361" y="2228850"/>
              <a:chExt cx="248008" cy="2286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697361" y="2228850"/>
                <a:ext cx="248008" cy="226644"/>
              </a:xfrm>
              <a:custGeom>
                <a:avLst/>
                <a:gdLst/>
                <a:ahLst/>
                <a:cxnLst/>
                <a:rect l="l" t="t" r="r" b="b"/>
                <a:pathLst>
                  <a:path w="248008" h="226644">
                    <a:moveTo>
                      <a:pt x="124581" y="226644"/>
                    </a:moveTo>
                    <a:cubicBezTo>
                      <a:pt x="45022" y="201982"/>
                      <a:pt x="0" y="118014"/>
                      <a:pt x="23489" y="38100"/>
                    </a:cubicBezTo>
                    <a:cubicBezTo>
                      <a:pt x="63057" y="39911"/>
                      <a:pt x="101774" y="26246"/>
                      <a:pt x="131439" y="0"/>
                    </a:cubicBezTo>
                    <a:cubicBezTo>
                      <a:pt x="161104" y="26246"/>
                      <a:pt x="199822" y="39911"/>
                      <a:pt x="239389" y="38100"/>
                    </a:cubicBezTo>
                    <a:cubicBezTo>
                      <a:pt x="248008" y="67426"/>
                      <a:pt x="247610" y="98666"/>
                      <a:pt x="238246" y="127762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866900" y="240665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757458" y="27117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规则校验</a:t>
              </a:r>
            </a:p>
          </p:txBody>
        </p:sp>
        <p:sp>
          <p:nvSpPr>
            <p:cNvPr id="12" name="Polygon 12"/>
            <p:cNvSpPr/>
            <p:nvPr/>
          </p:nvSpPr>
          <p:spPr>
            <a:xfrm>
              <a:off x="3962400" y="1905000"/>
              <a:ext cx="3238500" cy="1333500"/>
            </a:xfrm>
            <a:custGeom>
              <a:avLst/>
              <a:gdLst/>
              <a:ahLst/>
              <a:cxnLst/>
              <a:rect l="l" t="t" r="r" b="b"/>
              <a:pathLst>
                <a:path w="3238500" h="1333500">
                  <a:moveTo>
                    <a:pt x="0" y="0"/>
                  </a:moveTo>
                  <a:lnTo>
                    <a:pt x="2857500" y="0"/>
                  </a:lnTo>
                  <a:lnTo>
                    <a:pt x="3238500" y="666750"/>
                  </a:lnTo>
                  <a:lnTo>
                    <a:pt x="2857500" y="1333500"/>
                  </a:lnTo>
                  <a:lnTo>
                    <a:pt x="0" y="1333500"/>
                  </a:lnTo>
                  <a:lnTo>
                    <a:pt x="381000" y="666750"/>
                  </a:lnTo>
                  <a:close/>
                </a:path>
              </a:pathLst>
            </a:custGeom>
            <a:solidFill>
              <a:srgbClr val="1F9FB5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5168900" y="2216150"/>
              <a:ext cx="177800" cy="241300"/>
              <a:chOff x="5168900" y="2216150"/>
              <a:chExt cx="177800" cy="2413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5181600" y="2241550"/>
                <a:ext cx="1524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016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76200"/>
                    </a:lnTo>
                    <a:cubicBezTo>
                      <a:pt x="152400" y="90228"/>
                      <a:pt x="141028" y="101600"/>
                      <a:pt x="127000" y="101600"/>
                    </a:cubicBezTo>
                    <a:lnTo>
                      <a:pt x="25400" y="101600"/>
                    </a:lnTo>
                    <a:cubicBezTo>
                      <a:pt x="11372" y="101600"/>
                      <a:pt x="0" y="90228"/>
                      <a:pt x="0" y="76200"/>
                    </a:cubicBezTo>
                    <a:lnTo>
                      <a:pt x="0" y="2540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5257800" y="221615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0"/>
                    </a:moveTo>
                    <a:lnTo>
                      <a:pt x="0" y="2540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219700" y="234315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295900" y="234315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5168900" y="2368550"/>
                <a:ext cx="50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5400">
                    <a:moveTo>
                      <a:pt x="0" y="25400"/>
                    </a:moveTo>
                    <a:lnTo>
                      <a:pt x="5080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5295900" y="2368550"/>
                <a:ext cx="50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5400">
                    <a:moveTo>
                      <a:pt x="0" y="0"/>
                    </a:moveTo>
                    <a:lnTo>
                      <a:pt x="50800" y="2540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5219700" y="241935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5232400" y="22923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5283200" y="22923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5186458" y="27117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模型盲审</a:t>
              </a:r>
            </a:p>
          </p:txBody>
        </p:sp>
        <p:sp>
          <p:nvSpPr>
            <p:cNvPr id="24" name="Polygon 24"/>
            <p:cNvSpPr/>
            <p:nvPr/>
          </p:nvSpPr>
          <p:spPr>
            <a:xfrm>
              <a:off x="7391400" y="1905000"/>
              <a:ext cx="3238500" cy="1333500"/>
            </a:xfrm>
            <a:custGeom>
              <a:avLst/>
              <a:gdLst/>
              <a:ahLst/>
              <a:cxnLst/>
              <a:rect l="l" t="t" r="r" b="b"/>
              <a:pathLst>
                <a:path w="3238500" h="1333500">
                  <a:moveTo>
                    <a:pt x="0" y="0"/>
                  </a:moveTo>
                  <a:lnTo>
                    <a:pt x="2857500" y="0"/>
                  </a:lnTo>
                  <a:lnTo>
                    <a:pt x="3238500" y="666750"/>
                  </a:lnTo>
                  <a:lnTo>
                    <a:pt x="2857500" y="1333500"/>
                  </a:lnTo>
                  <a:lnTo>
                    <a:pt x="0" y="1333500"/>
                  </a:lnTo>
                  <a:lnTo>
                    <a:pt x="381000" y="666750"/>
                  </a:lnTo>
                  <a:close/>
                </a:path>
              </a:pathLst>
            </a:custGeom>
            <a:solidFill>
              <a:srgbClr val="2F855A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8610600" y="2228850"/>
              <a:ext cx="190500" cy="228600"/>
              <a:chOff x="8610600" y="2228850"/>
              <a:chExt cx="190500" cy="2286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8636000" y="2228850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610600" y="2381250"/>
                <a:ext cx="1016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76200">
                    <a:moveTo>
                      <a:pt x="0" y="76200"/>
                    </a:move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lnTo>
                      <a:pt x="10160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724900" y="240665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8615458" y="27117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专家终审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16255" y="3854768"/>
            <a:ext cx="8589645" cy="1288732"/>
            <a:chOff x="516255" y="3854768"/>
            <a:chExt cx="8589645" cy="1288732"/>
          </a:xfrm>
        </p:grpSpPr>
        <p:sp>
          <p:nvSpPr>
            <p:cNvPr id="31" name="TextBox 31"/>
            <p:cNvSpPr txBox="1"/>
            <p:nvPr/>
          </p:nvSpPr>
          <p:spPr>
            <a:xfrm>
              <a:off x="516255" y="38547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晋升三步骤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286250"/>
              <a:ext cx="2667000" cy="85725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42950" y="4648200"/>
              <a:ext cx="21662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9FB5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81100" y="4648200"/>
              <a:ext cx="838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预览变更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486150" y="4286250"/>
              <a:ext cx="2667000" cy="85725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695700" y="4648200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9FB5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133850" y="4648200"/>
              <a:ext cx="838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人工确认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438900" y="4286250"/>
              <a:ext cx="2667000" cy="85725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48450" y="4648200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9FB5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086600" y="4648200"/>
              <a:ext cx="838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系统执行</a:t>
              </a:r>
            </a:p>
          </p:txBody>
        </p:sp>
      </p:grpSp>
      <p:sp>
        <p:nvSpPr>
          <p:cNvPr id="42" name="Rectangle 42"/>
          <p:cNvSpPr/>
          <p:nvPr/>
        </p:nvSpPr>
        <p:spPr>
          <a:xfrm>
            <a:off x="533400" y="5429250"/>
            <a:ext cx="11125200" cy="666750"/>
          </a:xfrm>
          <a:prstGeom prst="roundRect">
            <a:avLst>
              <a:gd name="adj" fmla="val 14286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5331762" y="5712142"/>
            <a:ext cx="152847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三元组 + 12 种谓词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575161" y="6532245"/>
            <a:ext cx="948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492A0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4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00050"/>
            <a:ext cx="5259610" cy="704850"/>
            <a:chOff x="533400" y="400050"/>
            <a:chExt cx="5259610" cy="704850"/>
          </a:xfrm>
        </p:grpSpPr>
        <p:sp>
          <p:nvSpPr>
            <p:cNvPr id="3" name="Rectangle 3"/>
            <p:cNvSpPr/>
            <p:nvPr/>
          </p:nvSpPr>
          <p:spPr>
            <a:xfrm>
              <a:off x="533400" y="400050"/>
              <a:ext cx="76200" cy="381000"/>
            </a:xfrm>
            <a:prstGeom prst="rect">
              <a:avLst/>
            </a:prstGeom>
            <a:solidFill>
              <a:srgbClr val="1F9FB5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29615" y="410528"/>
              <a:ext cx="5063395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知识消费：从图谱到可操作洞察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6760" y="861060"/>
              <a:ext cx="24707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A7A"/>
                  </a:solidFill>
                  <a:latin typeface="Arial"/>
                  <a:ea typeface="Microsoft YaHei"/>
                  <a:cs typeface="Arial"/>
                </a:rPr>
                <a:t>四类入口共用同一 Final KG 查询面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33400" y="1333500"/>
            <a:ext cx="5334000" cy="2190750"/>
            <a:chOff x="533400" y="1333500"/>
            <a:chExt cx="5334000" cy="2190750"/>
          </a:xfrm>
        </p:grpSpPr>
        <p:sp>
          <p:nvSpPr>
            <p:cNvPr id="7" name="Rectangle 7"/>
            <p:cNvSpPr/>
            <p:nvPr/>
          </p:nvSpPr>
          <p:spPr>
            <a:xfrm>
              <a:off x="533400" y="1333500"/>
              <a:ext cx="5334000" cy="2190750"/>
            </a:xfrm>
            <a:prstGeom prst="roundRect">
              <a:avLst>
                <a:gd name="adj" fmla="val 4348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850900" y="1638300"/>
              <a:ext cx="203200" cy="228600"/>
              <a:chOff x="850900" y="1638300"/>
              <a:chExt cx="203200" cy="2286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850900" y="1638300"/>
                <a:ext cx="203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76200">
                    <a:moveTo>
                      <a:pt x="0" y="38100"/>
                    </a:moveTo>
                    <a:cubicBezTo>
                      <a:pt x="0" y="59142"/>
                      <a:pt x="45488" y="76200"/>
                      <a:pt x="101600" y="76200"/>
                    </a:cubicBezTo>
                    <a:cubicBezTo>
                      <a:pt x="157712" y="76200"/>
                      <a:pt x="203200" y="59142"/>
                      <a:pt x="203200" y="38100"/>
                    </a:cubicBezTo>
                    <a:cubicBezTo>
                      <a:pt x="203200" y="17058"/>
                      <a:pt x="157712" y="0"/>
                      <a:pt x="101600" y="0"/>
                    </a:cubicBezTo>
                    <a:cubicBezTo>
                      <a:pt x="45488" y="0"/>
                      <a:pt x="0" y="17058"/>
                      <a:pt x="0" y="38100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50900" y="1676400"/>
                <a:ext cx="203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200" y="97242"/>
                      <a:pt x="203200" y="76200"/>
                    </a:cubicBezTo>
                    <a:lnTo>
                      <a:pt x="20320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50900" y="1752600"/>
                <a:ext cx="203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200" y="97242"/>
                      <a:pt x="203200" y="76200"/>
                    </a:cubicBezTo>
                    <a:lnTo>
                      <a:pt x="203200" y="0"/>
                    </a:ln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236345" y="16506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数据中心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3908" y="2243614"/>
              <a:ext cx="266771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Raw - Candidate - Mirror - Final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84860" y="2632710"/>
              <a:ext cx="21107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A7A"/>
                  </a:solidFill>
                  <a:latin typeface="Arial"/>
                  <a:ea typeface="Microsoft YaHei"/>
                  <a:cs typeface="Arial"/>
                </a:rPr>
                <a:t>全生命周期可视化监控与检索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324600" y="1333500"/>
            <a:ext cx="5334000" cy="2190750"/>
            <a:chOff x="6324600" y="1333500"/>
            <a:chExt cx="5334000" cy="2190750"/>
          </a:xfrm>
        </p:grpSpPr>
        <p:sp>
          <p:nvSpPr>
            <p:cNvPr id="16" name="Rectangle 16"/>
            <p:cNvSpPr/>
            <p:nvPr/>
          </p:nvSpPr>
          <p:spPr>
            <a:xfrm>
              <a:off x="6324600" y="1333500"/>
              <a:ext cx="5334000" cy="2190750"/>
            </a:xfrm>
            <a:prstGeom prst="roundRect">
              <a:avLst>
                <a:gd name="adj" fmla="val 4348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6629400" y="1638300"/>
              <a:ext cx="228600" cy="241300"/>
              <a:chOff x="6629400" y="1638300"/>
              <a:chExt cx="228600" cy="2413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6667500" y="16383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76200"/>
                    </a:moveTo>
                    <a:cubicBezTo>
                      <a:pt x="0" y="118284"/>
                      <a:pt x="34116" y="152400"/>
                      <a:pt x="76200" y="152400"/>
                    </a:cubicBezTo>
                    <a:cubicBezTo>
                      <a:pt x="118284" y="152400"/>
                      <a:pt x="152400" y="118284"/>
                      <a:pt x="152400" y="76200"/>
                    </a:cubicBezTo>
                    <a:cubicBezTo>
                      <a:pt x="152400" y="34116"/>
                      <a:pt x="118284" y="0"/>
                      <a:pt x="76200" y="0"/>
                    </a:cubicBezTo>
                    <a:cubicBezTo>
                      <a:pt x="34116" y="0"/>
                      <a:pt x="0" y="34116"/>
                      <a:pt x="0" y="76200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6743700" y="1638300"/>
                <a:ext cx="25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152400">
                    <a:moveTo>
                      <a:pt x="0" y="0"/>
                    </a:moveTo>
                    <a:cubicBezTo>
                      <a:pt x="16929" y="4229"/>
                      <a:pt x="25400" y="29629"/>
                      <a:pt x="25400" y="76200"/>
                    </a:cubicBezTo>
                    <a:cubicBezTo>
                      <a:pt x="25400" y="122771"/>
                      <a:pt x="16929" y="148171"/>
                      <a:pt x="0" y="152400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718300" y="1638300"/>
                <a:ext cx="25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152400">
                    <a:moveTo>
                      <a:pt x="25400" y="0"/>
                    </a:moveTo>
                    <a:cubicBezTo>
                      <a:pt x="8471" y="4229"/>
                      <a:pt x="0" y="29629"/>
                      <a:pt x="0" y="76200"/>
                    </a:cubicBezTo>
                    <a:cubicBezTo>
                      <a:pt x="0" y="122771"/>
                      <a:pt x="8471" y="148171"/>
                      <a:pt x="25400" y="152400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6667500" y="1714500"/>
                <a:ext cx="15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629400" y="1854200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769100" y="1854200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718300" y="18288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743700" y="179070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7027545" y="16506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图谱探索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75108" y="2243614"/>
              <a:ext cx="246368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节点聚焦 / 层级展开 / 关系筛选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76060" y="2632710"/>
              <a:ext cx="21267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A7A"/>
                  </a:solidFill>
                  <a:latin typeface="Arial"/>
                  <a:ea typeface="Microsoft YaHei"/>
                  <a:cs typeface="Arial"/>
                </a:rPr>
                <a:t>直观呈现脑区-连接-功能拓扑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33400" y="3810000"/>
            <a:ext cx="5334000" cy="2190750"/>
            <a:chOff x="533400" y="3810000"/>
            <a:chExt cx="5334000" cy="2190750"/>
          </a:xfrm>
        </p:grpSpPr>
        <p:sp>
          <p:nvSpPr>
            <p:cNvPr id="30" name="Rectangle 30"/>
            <p:cNvSpPr/>
            <p:nvPr/>
          </p:nvSpPr>
          <p:spPr>
            <a:xfrm>
              <a:off x="533400" y="3810000"/>
              <a:ext cx="5334000" cy="2190750"/>
            </a:xfrm>
            <a:prstGeom prst="roundRect">
              <a:avLst>
                <a:gd name="adj" fmla="val 4348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838200" y="4114800"/>
              <a:ext cx="228600" cy="228600"/>
              <a:chOff x="838200" y="4114800"/>
              <a:chExt cx="228600" cy="2286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838200" y="4114800"/>
                <a:ext cx="1778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77800">
                    <a:moveTo>
                      <a:pt x="0" y="88900"/>
                    </a:moveTo>
                    <a:cubicBezTo>
                      <a:pt x="0" y="137998"/>
                      <a:pt x="39802" y="177800"/>
                      <a:pt x="88900" y="177800"/>
                    </a:cubicBezTo>
                    <a:cubicBezTo>
                      <a:pt x="137998" y="177800"/>
                      <a:pt x="177800" y="137998"/>
                      <a:pt x="177800" y="88900"/>
                    </a:cubicBezTo>
                    <a:cubicBezTo>
                      <a:pt x="177800" y="39802"/>
                      <a:pt x="137998" y="0"/>
                      <a:pt x="88900" y="0"/>
                    </a:cubicBezTo>
                    <a:cubicBezTo>
                      <a:pt x="39802" y="0"/>
                      <a:pt x="0" y="39802"/>
                      <a:pt x="0" y="88900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90600" y="42672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76200" y="76200"/>
                    </a:move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236345" y="41271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症状查询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3908" y="4720114"/>
              <a:ext cx="258270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自然语言症状到标准化脑区与回路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84860" y="5109210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A7A"/>
                  </a:solidFill>
                  <a:latin typeface="Arial"/>
                  <a:ea typeface="Microsoft YaHei"/>
                  <a:cs typeface="Arial"/>
                </a:rPr>
                <a:t>输出含证据链的结构化报告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324600" y="3810000"/>
            <a:ext cx="5334000" cy="2190750"/>
            <a:chOff x="6324600" y="3810000"/>
            <a:chExt cx="5334000" cy="2190750"/>
          </a:xfrm>
        </p:grpSpPr>
        <p:sp>
          <p:nvSpPr>
            <p:cNvPr id="38" name="Rectangle 38"/>
            <p:cNvSpPr/>
            <p:nvPr/>
          </p:nvSpPr>
          <p:spPr>
            <a:xfrm>
              <a:off x="6324600" y="3810000"/>
              <a:ext cx="5334000" cy="2190750"/>
            </a:xfrm>
            <a:prstGeom prst="roundRect">
              <a:avLst>
                <a:gd name="adj" fmla="val 4348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6642100" y="4114800"/>
              <a:ext cx="228600" cy="241300"/>
              <a:chOff x="6642100" y="4114800"/>
              <a:chExt cx="228600" cy="2413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642100" y="4114800"/>
                <a:ext cx="203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76200">
                    <a:moveTo>
                      <a:pt x="0" y="38100"/>
                    </a:moveTo>
                    <a:cubicBezTo>
                      <a:pt x="0" y="59144"/>
                      <a:pt x="45491" y="76200"/>
                      <a:pt x="101600" y="76200"/>
                    </a:cubicBezTo>
                    <a:cubicBezTo>
                      <a:pt x="157709" y="76200"/>
                      <a:pt x="203200" y="59144"/>
                      <a:pt x="203200" y="38100"/>
                    </a:cubicBezTo>
                    <a:cubicBezTo>
                      <a:pt x="203200" y="17056"/>
                      <a:pt x="157709" y="0"/>
                      <a:pt x="101600" y="0"/>
                    </a:cubicBezTo>
                    <a:cubicBezTo>
                      <a:pt x="45491" y="0"/>
                      <a:pt x="0" y="17056"/>
                      <a:pt x="0" y="38100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642100" y="4152900"/>
                <a:ext cx="14160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41605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4"/>
                      <a:pt x="45491" y="114300"/>
                      <a:pt x="101600" y="114300"/>
                    </a:cubicBezTo>
                    <a:cubicBezTo>
                      <a:pt x="115799" y="114300"/>
                      <a:pt x="129324" y="113208"/>
                      <a:pt x="141605" y="111239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845300" y="4152900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76200"/>
                    </a:move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642100" y="4229100"/>
                <a:ext cx="107518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07518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4"/>
                      <a:pt x="45491" y="114300"/>
                      <a:pt x="101600" y="114300"/>
                    </a:cubicBezTo>
                    <a:cubicBezTo>
                      <a:pt x="103594" y="114300"/>
                      <a:pt x="105562" y="114275"/>
                      <a:pt x="107518" y="114237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794500" y="431800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832600" y="4279900"/>
                <a:ext cx="381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6200">
                    <a:moveTo>
                      <a:pt x="0" y="0"/>
                    </a:moveTo>
                    <a:lnTo>
                      <a:pt x="38100" y="38100"/>
                    </a:lnTo>
                    <a:lnTo>
                      <a:pt x="0" y="76200"/>
                    </a:ln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7027545" y="41271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知识导出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75108" y="4720114"/>
              <a:ext cx="25316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JSONL / CSV / Neo4j 等图库兼容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76060" y="5109210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A7A"/>
                  </a:solidFill>
                  <a:latin typeface="Arial"/>
                  <a:ea typeface="Microsoft YaHei"/>
                  <a:cs typeface="Arial"/>
                </a:rPr>
                <a:t>支持离线挖掘与跨平台迁移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1545157" y="6532245"/>
            <a:ext cx="1248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492A0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15" grpId="0"/>
      <p:bldP spid="29" grpId="0"/>
      <p:bldP spid="37" grpId="0"/>
      <p:bldP spid="49" grpId="0"/>
      <p:bldP spid="5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00050"/>
            <a:ext cx="3212211" cy="704850"/>
            <a:chOff x="533400" y="400050"/>
            <a:chExt cx="3212211" cy="704850"/>
          </a:xfrm>
        </p:grpSpPr>
        <p:sp>
          <p:nvSpPr>
            <p:cNvPr id="3" name="Rectangle 3"/>
            <p:cNvSpPr/>
            <p:nvPr/>
          </p:nvSpPr>
          <p:spPr>
            <a:xfrm>
              <a:off x="533400" y="400050"/>
              <a:ext cx="76200" cy="381000"/>
            </a:xfrm>
            <a:prstGeom prst="rect">
              <a:avLst/>
            </a:prstGeom>
            <a:solidFill>
              <a:srgbClr val="1F9FB5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29615" y="410528"/>
              <a:ext cx="2581935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八步溯源 Snake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6760" y="861060"/>
              <a:ext cx="299885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A7A"/>
                  </a:solidFill>
                  <a:latin typeface="Arial"/>
                  <a:ea typeface="Microsoft YaHei"/>
                  <a:cs typeface="Arial"/>
                </a:rPr>
                <a:t>从 Final 反向追到 Resource，保留证据链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33400" y="1905000"/>
            <a:ext cx="10591800" cy="3048000"/>
            <a:chOff x="533400" y="1905000"/>
            <a:chExt cx="10591800" cy="3048000"/>
          </a:xfrm>
        </p:grpSpPr>
        <p:sp>
          <p:nvSpPr>
            <p:cNvPr id="7" name="Rectangle 7"/>
            <p:cNvSpPr/>
            <p:nvPr/>
          </p:nvSpPr>
          <p:spPr>
            <a:xfrm>
              <a:off x="533400" y="1905000"/>
              <a:ext cx="2476500" cy="952500"/>
            </a:xfrm>
            <a:prstGeom prst="roundRect">
              <a:avLst>
                <a:gd name="adj" fmla="val 10000"/>
              </a:avLst>
            </a:prstGeom>
            <a:solidFill>
              <a:srgbClr val="2F855A"/>
            </a:solidFill>
            <a:ln w="19050">
              <a:solidFill>
                <a:srgbClr val="2F855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86765" y="2172652"/>
              <a:ext cx="1456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81050" y="2409825"/>
              <a:ext cx="51065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Final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3009900" y="238125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28575">
              <a:solidFill>
                <a:srgbClr val="1F9FB5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3238500" y="1905000"/>
              <a:ext cx="2476500" cy="952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9050">
              <a:solidFill>
                <a:srgbClr val="CBD5E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491865" y="2172652"/>
              <a:ext cx="1806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9FB5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486150" y="2409825"/>
              <a:ext cx="10672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Promotion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5715000" y="238125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28575">
              <a:solidFill>
                <a:srgbClr val="1F9FB5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943600" y="1905000"/>
              <a:ext cx="2476500" cy="952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9050">
              <a:solidFill>
                <a:srgbClr val="CBD5E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196965" y="2172652"/>
              <a:ext cx="1806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9FB5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191250" y="2409825"/>
              <a:ext cx="72068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Review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8420100" y="238125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28575">
              <a:solidFill>
                <a:srgbClr val="1F9FB5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8648700" y="1905000"/>
              <a:ext cx="2476500" cy="952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9050">
              <a:solidFill>
                <a:srgbClr val="CBD5E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902065" y="2172652"/>
              <a:ext cx="1806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9FB5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896350" y="2409825"/>
              <a:ext cx="10357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Validation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9886950" y="285750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28575">
              <a:solidFill>
                <a:srgbClr val="1F9FB5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8648700" y="4000500"/>
              <a:ext cx="2476500" cy="952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9050">
              <a:solidFill>
                <a:srgbClr val="CBD5E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902065" y="4268152"/>
              <a:ext cx="1806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9FB5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896350" y="4505325"/>
              <a:ext cx="114073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Extraction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8420100" y="447675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22860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1F9FB5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943600" y="4000500"/>
              <a:ext cx="2476500" cy="952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9050">
              <a:solidFill>
                <a:srgbClr val="CBD5E0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196965" y="4268152"/>
              <a:ext cx="1806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9FB5"/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191250" y="4505325"/>
              <a:ext cx="102522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Candidate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5715000" y="447675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22860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1F9FB5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3238500" y="4000500"/>
              <a:ext cx="2476500" cy="952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9050">
              <a:solidFill>
                <a:srgbClr val="CBD5E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491865" y="4268152"/>
              <a:ext cx="1806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9FB5"/>
                  </a:solidFill>
                  <a:latin typeface="Arial"/>
                  <a:ea typeface="Microsoft YaHei"/>
                  <a:cs typeface="Arial"/>
                </a:rPr>
                <a:t>07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486150" y="4505325"/>
              <a:ext cx="72068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Import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3009900" y="447675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22860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1F9FB5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000500"/>
              <a:ext cx="2476500" cy="952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9050">
              <a:solidFill>
                <a:srgbClr val="CBD5E0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86765" y="4268152"/>
              <a:ext cx="1806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9FB5"/>
                  </a:solidFill>
                  <a:latin typeface="Arial"/>
                  <a:ea typeface="Microsoft YaHei"/>
                  <a:cs typeface="Arial"/>
                </a:rPr>
                <a:t>08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81050" y="4505325"/>
              <a:ext cx="9622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Resource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518160" y="5585460"/>
            <a:ext cx="341490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A6A7A"/>
                </a:solidFill>
                <a:latin typeface="Arial"/>
                <a:ea typeface="Microsoft YaHei"/>
                <a:cs typeface="Arial"/>
              </a:rPr>
              <a:t>证据链：原文、LLM 输出、规则日志、审核意见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545157" y="6532245"/>
            <a:ext cx="1248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492A0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00050"/>
            <a:ext cx="3117342" cy="704850"/>
            <a:chOff x="533400" y="400050"/>
            <a:chExt cx="3117342" cy="704850"/>
          </a:xfrm>
        </p:grpSpPr>
        <p:sp>
          <p:nvSpPr>
            <p:cNvPr id="3" name="Rectangle 3"/>
            <p:cNvSpPr/>
            <p:nvPr/>
          </p:nvSpPr>
          <p:spPr>
            <a:xfrm>
              <a:off x="533400" y="400050"/>
              <a:ext cx="76200" cy="381000"/>
            </a:xfrm>
            <a:prstGeom prst="rect">
              <a:avLst/>
            </a:prstGeom>
            <a:solidFill>
              <a:srgbClr val="1F9FB5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29615" y="410528"/>
              <a:ext cx="292112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技术栈与工程规模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6760" y="861060"/>
              <a:ext cx="2750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A7A"/>
                  </a:solidFill>
                  <a:latin typeface="Arial"/>
                  <a:ea typeface="Microsoft YaHei"/>
                  <a:cs typeface="Arial"/>
                </a:rPr>
                <a:t>指标来自仓库统计；不做不可核验承诺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33400" y="1333500"/>
            <a:ext cx="10896600" cy="857250"/>
            <a:chOff x="533400" y="1333500"/>
            <a:chExt cx="10896600" cy="857250"/>
          </a:xfrm>
        </p:grpSpPr>
        <p:sp>
          <p:nvSpPr>
            <p:cNvPr id="7" name="Rectangle 7"/>
            <p:cNvSpPr/>
            <p:nvPr/>
          </p:nvSpPr>
          <p:spPr>
            <a:xfrm>
              <a:off x="533400" y="1333500"/>
              <a:ext cx="3429000" cy="85725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9050">
              <a:solidFill>
                <a:srgbClr val="1F9FB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91964" y="1630680"/>
              <a:ext cx="111187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F9FB5"/>
                  </a:solidFill>
                  <a:latin typeface="Arial"/>
                  <a:ea typeface="Microsoft YaHei"/>
                  <a:cs typeface="Arial"/>
                </a:rPr>
                <a:t>FastAPI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4267200" y="1333500"/>
              <a:ext cx="3429000" cy="85725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9050">
              <a:solidFill>
                <a:srgbClr val="17324D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550729" y="1630680"/>
              <a:ext cx="86194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React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001000" y="1333500"/>
              <a:ext cx="3429000" cy="85725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9050">
              <a:solidFill>
                <a:srgbClr val="2F855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850825" y="1630680"/>
              <a:ext cx="172934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F855A"/>
                  </a:solidFill>
                  <a:latin typeface="Arial"/>
                  <a:ea typeface="Microsoft YaHei"/>
                  <a:cs typeface="Arial"/>
                </a:rPr>
                <a:t>PostgreSQL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33400" y="2667000"/>
            <a:ext cx="10896600" cy="2571750"/>
            <a:chOff x="533400" y="2667000"/>
            <a:chExt cx="10896600" cy="2571750"/>
          </a:xfrm>
        </p:grpSpPr>
        <p:sp>
          <p:nvSpPr>
            <p:cNvPr id="14" name="Rectangle 14"/>
            <p:cNvSpPr/>
            <p:nvPr/>
          </p:nvSpPr>
          <p:spPr>
            <a:xfrm>
              <a:off x="533400" y="2667000"/>
              <a:ext cx="3429000" cy="11430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5810" y="2899410"/>
              <a:ext cx="27650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9FB5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2955" y="3426142"/>
              <a:ext cx="3943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粒度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267200" y="2667000"/>
              <a:ext cx="3429000" cy="11430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499610" y="2899410"/>
              <a:ext cx="122162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9FB5"/>
                  </a:solidFill>
                  <a:latin typeface="Arial"/>
                  <a:ea typeface="Microsoft YaHei"/>
                  <a:cs typeface="Arial"/>
                </a:rPr>
                <a:t>166/96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16755" y="3426142"/>
              <a:ext cx="136645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AAL3 / Macro96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001000" y="2667000"/>
              <a:ext cx="3429000" cy="11430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233410" y="2899410"/>
              <a:ext cx="38992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9FB5"/>
                  </a:solidFill>
                  <a:latin typeface="Arial"/>
                  <a:ea typeface="Microsoft YaHei"/>
                  <a:cs typeface="Arial"/>
                </a:rPr>
                <a:t>12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50555" y="3426142"/>
              <a:ext cx="3943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规则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095750"/>
              <a:ext cx="3429000" cy="11430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5810" y="4328160"/>
              <a:ext cx="27650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9FB5"/>
                  </a:solidFill>
                  <a:latin typeface="Arial"/>
                  <a:ea typeface="Microsoft YaHei"/>
                  <a:cs typeface="Arial"/>
                </a:rPr>
                <a:t>7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2955" y="4854892"/>
              <a:ext cx="57435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类提取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267200" y="4095750"/>
              <a:ext cx="3429000" cy="11430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499610" y="4328160"/>
              <a:ext cx="48443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9FB5"/>
                  </a:solidFill>
                  <a:latin typeface="Arial"/>
                  <a:ea typeface="Microsoft YaHei"/>
                  <a:cs typeface="Arial"/>
                </a:rPr>
                <a:t>42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16755" y="4854892"/>
              <a:ext cx="3943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路由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001000" y="4095750"/>
              <a:ext cx="3429000" cy="11430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233410" y="4328160"/>
              <a:ext cx="48443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9FB5"/>
                  </a:solidFill>
                  <a:latin typeface="Arial"/>
                  <a:ea typeface="Microsoft YaHei"/>
                  <a:cs typeface="Arial"/>
                </a:rPr>
                <a:t>88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50555" y="4854892"/>
              <a:ext cx="3943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服务</a:t>
              </a:r>
            </a:p>
          </p:txBody>
        </p:sp>
      </p:grpSp>
      <p:sp>
        <p:nvSpPr>
          <p:cNvPr id="33" name="Rectangle 33"/>
          <p:cNvSpPr/>
          <p:nvPr/>
        </p:nvSpPr>
        <p:spPr>
          <a:xfrm>
            <a:off x="533400" y="5524500"/>
            <a:ext cx="11125200" cy="666750"/>
          </a:xfrm>
          <a:prstGeom prst="roundRect">
            <a:avLst>
              <a:gd name="adj" fmla="val 14286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44855" y="5807392"/>
            <a:ext cx="36347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1173 测试口径：仓库可复现统计，非营销口号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545157" y="6532245"/>
            <a:ext cx="1248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492A0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3400" y="400050"/>
            <a:ext cx="2099765" cy="528638"/>
            <a:chOff x="533400" y="400050"/>
            <a:chExt cx="2099765" cy="528638"/>
          </a:xfrm>
        </p:grpSpPr>
        <p:sp>
          <p:nvSpPr>
            <p:cNvPr id="3" name="Rectangle 3"/>
            <p:cNvSpPr/>
            <p:nvPr/>
          </p:nvSpPr>
          <p:spPr>
            <a:xfrm>
              <a:off x="533400" y="400050"/>
              <a:ext cx="76200" cy="381000"/>
            </a:xfrm>
            <a:prstGeom prst="rect">
              <a:avLst/>
            </a:prstGeom>
            <a:solidFill>
              <a:srgbClr val="1F9FB5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29615" y="410528"/>
              <a:ext cx="190355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结论与 Q&amp;A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33400" y="1524000"/>
            <a:ext cx="11125200" cy="2952750"/>
            <a:chOff x="533400" y="1524000"/>
            <a:chExt cx="11125200" cy="2952750"/>
          </a:xfrm>
        </p:grpSpPr>
        <p:sp>
          <p:nvSpPr>
            <p:cNvPr id="6" name="Rectangle 6"/>
            <p:cNvSpPr/>
            <p:nvPr/>
          </p:nvSpPr>
          <p:spPr>
            <a:xfrm>
              <a:off x="533400" y="1524000"/>
              <a:ext cx="11125200" cy="85725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819150" y="1724025"/>
              <a:ext cx="457200" cy="457200"/>
            </a:xfrm>
            <a:prstGeom prst="ellipse">
              <a:avLst/>
            </a:prstGeom>
            <a:solidFill>
              <a:srgbClr val="1F9FB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97196" y="1857375"/>
              <a:ext cx="10110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01140" y="1853565"/>
              <a:ext cx="289007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受控 LLM + Mirror 是关键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33400" y="2571750"/>
              <a:ext cx="11125200" cy="85725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819150" y="2771775"/>
              <a:ext cx="457200" cy="457200"/>
            </a:xfrm>
            <a:prstGeom prst="ellipse">
              <a:avLst/>
            </a:prstGeom>
            <a:solidFill>
              <a:srgbClr val="1F9FB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70943" y="2905125"/>
              <a:ext cx="153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01140" y="2901315"/>
              <a:ext cx="220599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八步溯源保证可追责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3619500"/>
              <a:ext cx="11125200" cy="85725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819150" y="3819525"/>
              <a:ext cx="457200" cy="457200"/>
            </a:xfrm>
            <a:prstGeom prst="ellipse">
              <a:avLst/>
            </a:prstGeom>
            <a:solidFill>
              <a:srgbClr val="1F9FB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70943" y="3952875"/>
              <a:ext cx="153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01140" y="3949065"/>
              <a:ext cx="34061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宏观临床层已落地并可继续扩展</a:t>
              </a:r>
            </a:p>
          </p:txBody>
        </p:sp>
      </p:grpSp>
      <p:sp>
        <p:nvSpPr>
          <p:cNvPr id="19" name="Rectangle 19"/>
          <p:cNvSpPr/>
          <p:nvPr/>
        </p:nvSpPr>
        <p:spPr>
          <a:xfrm>
            <a:off x="533400" y="4953000"/>
            <a:ext cx="11125200" cy="1143000"/>
          </a:xfrm>
          <a:prstGeom prst="roundRect">
            <a:avLst>
              <a:gd name="adj" fmla="val 8333"/>
            </a:avLst>
          </a:prstGeom>
          <a:solidFill>
            <a:srgbClr val="17324D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584022" y="5231130"/>
            <a:ext cx="1023957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Q&amp;A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545157" y="6532245"/>
            <a:ext cx="1248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492A0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