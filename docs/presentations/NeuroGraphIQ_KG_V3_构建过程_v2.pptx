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封面: NeuroGraphIQ KG V3 — 多粒度脑区知识图谱构建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问题、动机与规模: 脑图谱资源分散、缺乏结构化连接、LLM需治理，解决方案是分层漏斗治理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知识体系架构: 七层知识体系(脑区→连接→回路→功能→证据→三元组→映射) × 五层粒度隔离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构建流水线总览: 五阶段漏斗流程，每层严格写边界，LLM不写final_*，人工审核是唯一闸门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资源导入与候选生成: AAL3(166 ROI)和Macro96(96脑区)双链路独立导入，幂等解析，完整溯源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规则校验与数据增强: 12条确定性规则+Quality Score+Tier1自动修复(零LLM)+Tier2 LLM增强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LLM知识提取: DeepSeek+Kimi双模型驱动，7种提取能力，复合工作流编排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Mirror KG治理: 写入时去重合并(Canonical Key)+双模型盲审+回路-投射交叉验证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校验中心: 规则校验→大模型校验→人工审核，三道闸门全过才可晋升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晋升与Final KG: Mirror→Final 8表映射+Triple Consolidation→三元组统一查询面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知识消费与全链路溯源: 图谱探索/症状查询/数据中心/导出 + 7步回溯到原始出处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核心创新点: 分层漏斗治理、Mirror KG中转、双模型盲审、增强引擎、全链路溯源、粒度隔离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当前状态与规划: 已完成端到端闭环(1173测试)，规划更多粒度和能力扩展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感谢关注: 欢迎提问与交流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eurographiq-kg-construc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eurographiq-kg-construc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B22"/>
            </a:gs>
            <a:gs pos="100000">
              <a:srgbClr val="0D1117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" name="Line 2"/>
              <p:cNvSpPr/>
              <p:nvPr/>
            </p:nvSpPr>
            <p:spPr>
              <a:xfrm>
                <a:off x="0" y="1714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rgbClr val="58A6FF">
                    <a:alpha val="4000"/>
                  </a:srgbClr>
                </a:solidFill>
              </a:ln>
            </p:spPr>
          </p:sp>
          <p:sp>
            <p:nvSpPr>
              <p:cNvPr id="3" name="Line 3"/>
              <p:cNvSpPr/>
              <p:nvPr/>
            </p:nvSpPr>
            <p:spPr>
              <a:xfrm>
                <a:off x="0" y="3429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rgbClr val="58A6FF">
                    <a:alpha val="4000"/>
                  </a:srgbClr>
                </a:solidFill>
              </a:ln>
            </p:spPr>
          </p:sp>
          <p:sp>
            <p:nvSpPr>
              <p:cNvPr id="4" name="Line 4"/>
              <p:cNvSpPr/>
              <p:nvPr/>
            </p:nvSpPr>
            <p:spPr>
              <a:xfrm>
                <a:off x="0" y="51435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rgbClr val="58A6FF">
                    <a:alpha val="4000"/>
                  </a:srgbClr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3048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rgbClr val="58A6FF">
                    <a:alpha val="4000"/>
                  </a:srgbClr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6096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rgbClr val="58A6FF">
                    <a:alpha val="4000"/>
                  </a:srgbClr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91440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rgbClr val="58A6FF">
                    <a:alpha val="4000"/>
                  </a:srgbClr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409700" y="933450"/>
              <a:ext cx="9572625" cy="4991100"/>
              <a:chOff x="1409700" y="933450"/>
              <a:chExt cx="9572625" cy="49911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876425" y="1400175"/>
                <a:ext cx="57150" cy="57150"/>
              </a:xfrm>
              <a:prstGeom prst="ellipse">
                <a:avLst/>
              </a:prstGeom>
              <a:solidFill>
                <a:srgbClr val="58A6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3314700" y="933450"/>
                <a:ext cx="38100" cy="38100"/>
              </a:xfrm>
              <a:prstGeom prst="ellipse">
                <a:avLst/>
              </a:prstGeom>
              <a:solidFill>
                <a:srgbClr val="58A6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4733925" y="1685925"/>
                <a:ext cx="57150" cy="57150"/>
              </a:xfrm>
              <a:prstGeom prst="ellipse">
                <a:avLst/>
              </a:prstGeom>
              <a:solidFill>
                <a:srgbClr val="58A6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7410450" y="1123950"/>
                <a:ext cx="38100" cy="38100"/>
              </a:xfrm>
              <a:prstGeom prst="ellipse">
                <a:avLst/>
              </a:prstGeom>
              <a:solidFill>
                <a:srgbClr val="58A6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9020175" y="1876425"/>
                <a:ext cx="57150" cy="57150"/>
              </a:xfrm>
              <a:prstGeom prst="ellipse">
                <a:avLst/>
              </a:prstGeom>
              <a:solidFill>
                <a:srgbClr val="58A6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0267950" y="1219200"/>
                <a:ext cx="38100" cy="38100"/>
              </a:xfrm>
              <a:prstGeom prst="ellipse">
                <a:avLst/>
              </a:prstGeom>
              <a:solidFill>
                <a:srgbClr val="58A6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409700" y="4743450"/>
                <a:ext cx="38100" cy="38100"/>
              </a:xfrm>
              <a:prstGeom prst="ellipse">
                <a:avLst/>
              </a:prstGeom>
              <a:solidFill>
                <a:srgbClr val="79C0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2828925" y="5495925"/>
                <a:ext cx="57150" cy="57150"/>
              </a:xfrm>
              <a:prstGeom prst="ellipse">
                <a:avLst/>
              </a:prstGeom>
              <a:solidFill>
                <a:srgbClr val="79C0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5695950" y="5886450"/>
                <a:ext cx="38100" cy="38100"/>
              </a:xfrm>
              <a:prstGeom prst="ellipse">
                <a:avLst/>
              </a:prstGeom>
              <a:solidFill>
                <a:srgbClr val="79C0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8543925" y="5210175"/>
                <a:ext cx="57150" cy="57150"/>
              </a:xfrm>
              <a:prstGeom prst="ellipse">
                <a:avLst/>
              </a:prstGeom>
              <a:solidFill>
                <a:srgbClr val="79C0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9982200" y="5695950"/>
                <a:ext cx="38100" cy="38100"/>
              </a:xfrm>
              <a:prstGeom prst="ellipse">
                <a:avLst/>
              </a:prstGeom>
              <a:solidFill>
                <a:srgbClr val="79C0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10925175" y="4543425"/>
                <a:ext cx="57150" cy="57150"/>
              </a:xfrm>
              <a:prstGeom prst="ellipse">
                <a:avLst/>
              </a:prstGeom>
              <a:solidFill>
                <a:srgbClr val="79C0FF">
                  <a:alpha val="8000"/>
                </a:srgbClr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905000" y="952500"/>
                <a:ext cx="1428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476250">
                    <a:moveTo>
                      <a:pt x="0" y="476250"/>
                    </a:moveTo>
                    <a:lnTo>
                      <a:pt x="1428750" y="0"/>
                    </a:lnTo>
                  </a:path>
                </a:pathLst>
              </a:custGeom>
              <a:noFill/>
              <a:ln w="7620">
                <a:solidFill>
                  <a:srgbClr val="58A6FF">
                    <a:alpha val="8000"/>
                  </a:srgbClr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1905000" y="1428750"/>
                <a:ext cx="2857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285750">
                    <a:moveTo>
                      <a:pt x="0" y="0"/>
                    </a:moveTo>
                    <a:lnTo>
                      <a:pt x="2857500" y="285750"/>
                    </a:lnTo>
                  </a:path>
                </a:pathLst>
              </a:custGeom>
              <a:noFill/>
              <a:ln w="7620">
                <a:solidFill>
                  <a:srgbClr val="58A6FF">
                    <a:alpha val="8000"/>
                  </a:srgbClr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3333750" y="952500"/>
                <a:ext cx="1428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762000">
                    <a:moveTo>
                      <a:pt x="0" y="0"/>
                    </a:moveTo>
                    <a:lnTo>
                      <a:pt x="1428750" y="762000"/>
                    </a:lnTo>
                  </a:path>
                </a:pathLst>
              </a:custGeom>
              <a:noFill/>
              <a:ln w="7620">
                <a:solidFill>
                  <a:srgbClr val="58A6FF">
                    <a:alpha val="8000"/>
                  </a:srgbClr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4762500" y="1143000"/>
                <a:ext cx="26670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571500">
                    <a:moveTo>
                      <a:pt x="0" y="571500"/>
                    </a:moveTo>
                    <a:lnTo>
                      <a:pt x="2667000" y="0"/>
                    </a:lnTo>
                  </a:path>
                </a:pathLst>
              </a:custGeom>
              <a:noFill/>
              <a:ln w="7620">
                <a:solidFill>
                  <a:srgbClr val="58A6FF">
                    <a:alpha val="8000"/>
                  </a:srgbClr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7429500" y="1143000"/>
                <a:ext cx="16192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62000">
                    <a:moveTo>
                      <a:pt x="0" y="0"/>
                    </a:moveTo>
                    <a:lnTo>
                      <a:pt x="1619250" y="762000"/>
                    </a:lnTo>
                  </a:path>
                </a:pathLst>
              </a:custGeom>
              <a:noFill/>
              <a:ln w="7620">
                <a:solidFill>
                  <a:srgbClr val="58A6FF">
                    <a:alpha val="8000"/>
                  </a:srgbClr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9048750" y="1238250"/>
                <a:ext cx="12382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666750">
                    <a:moveTo>
                      <a:pt x="0" y="666750"/>
                    </a:moveTo>
                    <a:lnTo>
                      <a:pt x="1238250" y="0"/>
                    </a:lnTo>
                  </a:path>
                </a:pathLst>
              </a:custGeom>
              <a:noFill/>
              <a:ln w="7620">
                <a:solidFill>
                  <a:srgbClr val="58A6FF">
                    <a:alpha val="8000"/>
                  </a:srgbClr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1428750" y="4762500"/>
                <a:ext cx="14287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762000">
                    <a:moveTo>
                      <a:pt x="0" y="0"/>
                    </a:moveTo>
                    <a:lnTo>
                      <a:pt x="1428750" y="762000"/>
                    </a:lnTo>
                  </a:path>
                </a:pathLst>
              </a:custGeom>
              <a:noFill/>
              <a:ln w="7620">
                <a:solidFill>
                  <a:srgbClr val="79C0FF">
                    <a:alpha val="8000"/>
                  </a:srgbClr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2857500" y="5524500"/>
                <a:ext cx="28575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381000">
                    <a:moveTo>
                      <a:pt x="0" y="0"/>
                    </a:moveTo>
                    <a:lnTo>
                      <a:pt x="2857500" y="381000"/>
                    </a:lnTo>
                  </a:path>
                </a:pathLst>
              </a:custGeom>
              <a:noFill/>
              <a:ln w="7620">
                <a:solidFill>
                  <a:srgbClr val="79C0FF">
                    <a:alpha val="8000"/>
                  </a:srgbClr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5715000" y="5238750"/>
                <a:ext cx="2857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666750">
                    <a:moveTo>
                      <a:pt x="0" y="666750"/>
                    </a:moveTo>
                    <a:lnTo>
                      <a:pt x="2857500" y="0"/>
                    </a:lnTo>
                  </a:path>
                </a:pathLst>
              </a:custGeom>
              <a:noFill/>
              <a:ln w="7620">
                <a:solidFill>
                  <a:srgbClr val="79C0FF">
                    <a:alpha val="8000"/>
                  </a:srgbClr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8572500" y="5238750"/>
                <a:ext cx="142875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0" h="476250">
                    <a:moveTo>
                      <a:pt x="0" y="0"/>
                    </a:moveTo>
                    <a:lnTo>
                      <a:pt x="1428750" y="476250"/>
                    </a:lnTo>
                  </a:path>
                </a:pathLst>
              </a:custGeom>
              <a:noFill/>
              <a:ln w="7620">
                <a:solidFill>
                  <a:srgbClr val="79C0FF">
                    <a:alpha val="8000"/>
                  </a:srgbClr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10001250" y="4572000"/>
                <a:ext cx="952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1143000">
                    <a:moveTo>
                      <a:pt x="0" y="1143000"/>
                    </a:moveTo>
                    <a:lnTo>
                      <a:pt x="952500" y="0"/>
                    </a:lnTo>
                  </a:path>
                </a:pathLst>
              </a:custGeom>
              <a:noFill/>
              <a:ln w="7620">
                <a:solidFill>
                  <a:srgbClr val="79C0FF">
                    <a:alpha val="8000"/>
                  </a:srgbClr>
                </a:solidFill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762000" y="2286000"/>
            <a:ext cx="10668000" cy="4105275"/>
            <a:chOff x="762000" y="2286000"/>
            <a:chExt cx="10668000" cy="4105275"/>
          </a:xfrm>
        </p:grpSpPr>
        <p:sp>
          <p:nvSpPr>
            <p:cNvPr id="34" name="Line 34"/>
            <p:cNvSpPr/>
            <p:nvPr/>
          </p:nvSpPr>
          <p:spPr>
            <a:xfrm>
              <a:off x="5143500" y="2286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4288">
              <a:solidFill>
                <a:srgbClr val="58A6FF">
                  <a:alpha val="7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617766" y="2402205"/>
              <a:ext cx="6956469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effectLst>
                    <a:glow rad="57150">
                      <a:srgbClr val="000000">
                        <a:alpha val="30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3177" y="332803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rgbClr val="79C0FF">
                      <a:alphaMod val="9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多粒度脑区知识图谱构建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572000" y="40005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4288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66185" y="43148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从脑图谱资源到可探索知识图谱的全流程自动化系统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33542" y="5490210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2026 年 8 月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762000" y="6381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56666" y="6554152"/>
              <a:ext cx="2694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 — 知识图谱构建过程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143000"/>
            <a:ext cx="10668000" cy="4095750"/>
            <a:chOff x="381000" y="1143000"/>
            <a:chExt cx="10668000" cy="4095750"/>
          </a:xfrm>
        </p:grpSpPr>
        <p:sp>
          <p:nvSpPr>
            <p:cNvPr id="7" name="Rectangle 7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  <a:effectLst>
              <a:glow rad="19050">
                <a:srgbClr val="000000">
                  <a:alpha val="30000"/>
                </a:srgbClr>
              </a:glow>
            </a:effectLst>
          </p:spPr>
        </p:sp>
        <p:sp>
          <p:nvSpPr>
            <p:cNvPr id="8" name="TextBox 8"/>
            <p:cNvSpPr txBox="1"/>
            <p:nvPr/>
          </p:nvSpPr>
          <p:spPr>
            <a:xfrm>
              <a:off x="556260" y="1152525"/>
              <a:ext cx="34229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问题、动机与规模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1905000"/>
              <a:ext cx="3429000" cy="1714500"/>
            </a:xfrm>
            <a:prstGeom prst="roundRect">
              <a:avLst>
                <a:gd name="adj" fmla="val 111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1905000"/>
              <a:ext cx="3429000" cy="38100"/>
            </a:xfrm>
            <a:prstGeom prst="rect">
              <a:avLst/>
            </a:prstGeom>
            <a:solidFill>
              <a:srgbClr val="FF7B7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2356" y="2091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7B72"/>
                  </a:solidFill>
                  <a:latin typeface="Microsoft YaHei"/>
                  <a:ea typeface="Microsoft YaHei"/>
                  <a:cs typeface="Microsoft YaHei"/>
                </a:rPr>
                <a:t>脑图谱资源分散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4642" y="2521268"/>
              <a:ext cx="1897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AAL3、Brainnetome、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642" y="2768918"/>
              <a:ext cx="16706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HCP-MMP、Allen 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642" y="3016568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6+ 种图谱，格式各异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3264218"/>
              <a:ext cx="2081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XML / xlsx / CSV / OWL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00500" y="1905000"/>
              <a:ext cx="3429000" cy="1714500"/>
            </a:xfrm>
            <a:prstGeom prst="roundRect">
              <a:avLst>
                <a:gd name="adj" fmla="val 111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00500" y="1905000"/>
              <a:ext cx="3429000" cy="38100"/>
            </a:xfrm>
            <a:prstGeom prst="rect">
              <a:avLst/>
            </a:prstGeom>
            <a:solidFill>
              <a:srgbClr val="FFA65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81856" y="20916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缺乏结构化连接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84142" y="2521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不同粒度脑区之间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84142" y="2768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无统一语义关联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84142" y="3016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跨图谱查询困难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4142" y="32642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名称相似度 ≠ 语义等价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0" y="1905000"/>
              <a:ext cx="3429000" cy="1714500"/>
            </a:xfrm>
            <a:prstGeom prst="roundRect">
              <a:avLst>
                <a:gd name="adj" fmla="val 1111"/>
              </a:avLst>
            </a:prstGeom>
            <a:solidFill>
              <a:srgbClr val="161B22"/>
            </a:solidFill>
            <a:ln w="9525">
              <a:solidFill>
                <a:srgbClr val="30363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0" y="1905000"/>
              <a:ext cx="3429000" cy="38100"/>
            </a:xfrm>
            <a:prstGeom prst="rect">
              <a:avLst/>
            </a:prstGeom>
            <a:solidFill>
              <a:srgbClr val="FF7B7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1356" y="2091690"/>
              <a:ext cx="1940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7B72"/>
                  </a:solidFill>
                  <a:latin typeface="Microsoft YaHei"/>
                  <a:ea typeface="Microsoft YaHei"/>
                  <a:cs typeface="Microsoft YaHei"/>
                </a:rPr>
                <a:t>LLM 提取需治理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03642" y="2521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大模型能做知识提取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3642" y="2768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但缺乏治理框架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03642" y="3016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会传播错误到正式库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03642" y="3264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需要人机协同质控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72506" y="3965258"/>
              <a:ext cx="3246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→ 解决方案：分层漏斗治理模型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381000" y="4476750"/>
              <a:ext cx="7286625" cy="762000"/>
              <a:chOff x="381000" y="4476750"/>
              <a:chExt cx="7286625" cy="762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381000" y="4476750"/>
                <a:ext cx="1714500" cy="762000"/>
              </a:xfrm>
              <a:prstGeom prst="roundRect">
                <a:avLst>
                  <a:gd name="adj" fmla="val 2500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9431" y="4535805"/>
                <a:ext cx="8376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42+88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68937" y="4887278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路由 · 服务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2238375" y="4476750"/>
                <a:ext cx="1714500" cy="762000"/>
              </a:xfrm>
              <a:prstGeom prst="roundRect">
                <a:avLst>
                  <a:gd name="adj" fmla="val 2500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921697" y="4535805"/>
                <a:ext cx="34785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79C0FF"/>
                    </a:solidFill>
                    <a:latin typeface="Consolas"/>
                    <a:ea typeface="Consolas"/>
                    <a:cs typeface="Consolas"/>
                  </a:rPr>
                  <a:t>14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807589" y="4887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前端页面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095750" y="4476750"/>
                <a:ext cx="1714500" cy="762000"/>
              </a:xfrm>
              <a:prstGeom prst="roundRect">
                <a:avLst>
                  <a:gd name="adj" fmla="val 2500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615811" y="4535805"/>
                <a:ext cx="67437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5+59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473240" y="4887278"/>
                <a:ext cx="9595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Schema · 迁移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953125" y="4476750"/>
                <a:ext cx="1714500" cy="762000"/>
              </a:xfrm>
              <a:prstGeom prst="roundRect">
                <a:avLst>
                  <a:gd name="adj" fmla="val 2500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391556" y="4535805"/>
                <a:ext cx="83763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79C0FF"/>
                    </a:solidFill>
                    <a:latin typeface="Consolas"/>
                    <a:ea typeface="Consolas"/>
                    <a:cs typeface="Consolas"/>
                  </a:rPr>
                  <a:t>1,173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22339" y="4887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测试函数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81000" y="1143000"/>
            <a:ext cx="11239500" cy="3712845"/>
            <a:chOff x="381000" y="1143000"/>
            <a:chExt cx="11239500" cy="3712845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  <a:effectLst>
              <a:glow rad="19050">
                <a:srgbClr val="000000">
                  <a:alpha val="30000"/>
                </a:srgbClr>
              </a:glo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56067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七层知识体系 × 五层粒度隔离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85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知识体系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71500" y="2190750"/>
              <a:ext cx="6067044" cy="2665095"/>
              <a:chOff x="571500" y="2190750"/>
              <a:chExt cx="6067044" cy="2665095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2190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06755" y="2276475"/>
                <a:ext cx="50779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1. 脑区实体层 — AAL3/Macro96/BNM 等 · 多图谱注册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571500" y="2571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C3A6E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06755" y="2657475"/>
                <a:ext cx="46596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2. 连接层 — 结构连接 / 功能连接 / 效应连接 / 投射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571500" y="2952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E408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06755" y="3038475"/>
                <a:ext cx="35894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3. 回路层 — 多脑区有序回路 · 步骤分解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571500" y="3333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204A90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06755" y="3419475"/>
                <a:ext cx="337737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4. 功能层 — 脑区/连接/回路功能标注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71500" y="3714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2858A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06755" y="3800475"/>
                <a:ext cx="38130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5. 证据层 — 文献→LLM→审核 全链路溯源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571500" y="4095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3068B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06755" y="4181475"/>
                <a:ext cx="31729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6. 三元组层 — S→P→O 统一查询面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571500" y="4476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3878C0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06755" y="4562475"/>
                <a:ext cx="593178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7. 映射层 — 跨粒度显式映射 (exact_match/part_of/overlaps)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6279642" y="1854518"/>
              <a:ext cx="27694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粒度隔离 (PostgreSQL Schema)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286500" y="2190750"/>
              <a:ext cx="5334000" cy="1966151"/>
              <a:chOff x="6286500" y="2190750"/>
              <a:chExt cx="5334000" cy="1966151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286500" y="21907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C2333"/>
              </a:solidFill>
              <a:ln w="9525">
                <a:solidFill>
                  <a:srgbClr val="58A6FF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422517" y="2292668"/>
                <a:ext cx="12677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macro_clinical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0892" y="2292668"/>
                <a:ext cx="2772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AAL3 166 ROI + Macro96 96脑区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6286500" y="259080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422517" y="2692718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9C0FF"/>
                    </a:solidFill>
                    <a:latin typeface="Consolas"/>
                    <a:ea typeface="Consolas"/>
                    <a:cs typeface="Consolas"/>
                  </a:rPr>
                  <a:t>meso_anatomical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660892" y="2692718"/>
                <a:ext cx="22797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86069"/>
                    </a:solidFill>
                    <a:latin typeface="Microsoft YaHei"/>
                    <a:ea typeface="Microsoft YaHei"/>
                    <a:cs typeface="Microsoft YaHei"/>
                  </a:rPr>
                  <a:t>HCP-MMP, Desikan (预留)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286500" y="29908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422517" y="3092768"/>
                <a:ext cx="15221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9C0FF"/>
                    </a:solidFill>
                    <a:latin typeface="Consolas"/>
                    <a:ea typeface="Consolas"/>
                    <a:cs typeface="Consolas"/>
                  </a:rPr>
                  <a:t>sub_connectivity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660892" y="3092768"/>
                <a:ext cx="1730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86069"/>
                    </a:solidFill>
                    <a:latin typeface="Microsoft YaHei"/>
                    <a:ea typeface="Microsoft YaHei"/>
                    <a:cs typeface="Microsoft YaHei"/>
                  </a:rPr>
                  <a:t>Brainnetome (预留)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286500" y="339090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422517" y="3492818"/>
                <a:ext cx="867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9C0FF"/>
                    </a:solidFill>
                    <a:latin typeface="Consolas"/>
                    <a:ea typeface="Consolas"/>
                    <a:cs typeface="Consolas"/>
                  </a:rPr>
                  <a:t>fine_cyto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60892" y="3492818"/>
                <a:ext cx="17120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86069"/>
                    </a:solidFill>
                    <a:latin typeface="Microsoft YaHei"/>
                    <a:ea typeface="Microsoft YaHei"/>
                    <a:cs typeface="Microsoft YaHei"/>
                  </a:rPr>
                  <a:t>Julich-Brain (预留)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286500" y="3790950"/>
                <a:ext cx="5334000" cy="361950"/>
              </a:xfrm>
              <a:prstGeom prst="roundRect">
                <a:avLst>
                  <a:gd name="adj" fmla="val 526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422517" y="3892868"/>
                <a:ext cx="13585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79C0FF"/>
                    </a:solidFill>
                    <a:latin typeface="Consolas"/>
                    <a:ea typeface="Consolas"/>
                    <a:cs typeface="Consolas"/>
                  </a:rPr>
                  <a:t>molecular_attr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660892" y="3892868"/>
                <a:ext cx="2081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86069"/>
                    </a:solidFill>
                    <a:latin typeface="Microsoft YaHei"/>
                    <a:ea typeface="Microsoft YaHei"/>
                    <a:cs typeface="Microsoft YaHei"/>
                  </a:rPr>
                  <a:t>Allen Brain Atlas (预留)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286500" y="4191000"/>
              <a:ext cx="5334000" cy="381000"/>
              <a:chOff x="6286500" y="4191000"/>
              <a:chExt cx="5334000" cy="381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286500" y="4191000"/>
                <a:ext cx="53340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1C2333"/>
              </a:solidFill>
              <a:ln w="9525">
                <a:solidFill>
                  <a:srgbClr val="FFA657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894728" y="4292918"/>
                <a:ext cx="41175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A657"/>
                    </a:solidFill>
                    <a:latin typeface="Microsoft YaHei"/>
                    <a:ea typeface="Microsoft YaHei"/>
                    <a:cs typeface="Microsoft YaHei"/>
                  </a:rPr>
                  <a:t>跨粒度关系必须显式 Mapping 禁止名称相似度合并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81000" y="1143000"/>
            <a:ext cx="11239500" cy="4322445"/>
            <a:chOff x="381000" y="1143000"/>
            <a:chExt cx="11239500" cy="4322445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  <a:effectLst>
              <a:glow rad="19050">
                <a:srgbClr val="000000">
                  <a:alpha val="30000"/>
                </a:srgbClr>
              </a:glo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构建流水线与治理约束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381000" y="1809750"/>
              <a:ext cx="9286875" cy="952500"/>
              <a:chOff x="381000" y="1809750"/>
              <a:chExt cx="9286875" cy="952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381000" y="18097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12089" y="19440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资源登记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707642" y="19116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952625" y="18097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283714" y="19440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批次导入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279267" y="19116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3524250" y="18097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1C3A6E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3855339" y="19440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原始解析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850892" y="19116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095875" y="18097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1C3A6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426964" y="19440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候选生成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422517" y="19116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6667500" y="18097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1E408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98589" y="19440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规则校验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94142" y="19116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239125" y="1809750"/>
                <a:ext cx="14287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204A90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638261" y="1944052"/>
                <a:ext cx="6304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LLM 提取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81000" y="23812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2858A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659174" y="2515552"/>
                <a:ext cx="68190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Mirror KG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707642" y="2483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1952625" y="2381250"/>
                <a:ext cx="14287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3068B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2378964" y="25155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校验中心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69767" y="2483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714750" y="23812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3878C0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045839" y="25155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人工审核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041392" y="2483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286375" y="2381250"/>
                <a:ext cx="1238250" cy="381000"/>
              </a:xfrm>
              <a:prstGeom prst="roundRect">
                <a:avLst>
                  <a:gd name="adj" fmla="val 5000"/>
                </a:avLst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758815" y="251555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晋升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613017" y="2483168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858000" y="2381250"/>
                <a:ext cx="1714500" cy="381000"/>
              </a:xfrm>
              <a:prstGeom prst="roundRect">
                <a:avLst>
                  <a:gd name="adj" fmla="val 5000"/>
                </a:avLst>
              </a:prstGeom>
              <a:solidFill>
                <a:srgbClr val="38A169"/>
              </a:solidFill>
              <a:ln>
                <a:noFill/>
              </a:ln>
              <a:effectLst>
                <a:glow rad="19050">
                  <a:srgbClr val="000000">
                    <a:alpha val="30000"/>
                  </a:srgbClr>
                </a:glow>
              </a:effectLst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392086" y="2499360"/>
                <a:ext cx="6463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Final KG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563880" y="3362325"/>
              <a:ext cx="28261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核心写边界 (Write Boundary)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381000" y="3714750"/>
              <a:ext cx="11239500" cy="1155859"/>
              <a:chOff x="381000" y="3714750"/>
              <a:chExt cx="11239500" cy="1155859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381000" y="3714750"/>
                <a:ext cx="11239500" cy="285750"/>
              </a:xfrm>
              <a:prstGeom prst="roundRect">
                <a:avLst>
                  <a:gd name="adj" fmla="val 6667"/>
                </a:avLst>
              </a:prstGeom>
              <a:solidFill>
                <a:srgbClr val="161B2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70154" y="3775710"/>
                <a:ext cx="3514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阶段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2660904" y="3775710"/>
                <a:ext cx="5210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可写入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404" y="37757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严禁写入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381000" y="4019550"/>
                <a:ext cx="112395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70535" y="4079081"/>
                <a:ext cx="67256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LLM 提取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661666" y="4087178"/>
                <a:ext cx="19118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mirror_*, llm_extraction_*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281166" y="4087178"/>
                <a:ext cx="18552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B72"/>
                    </a:solidFill>
                    <a:latin typeface="Consolas"/>
                    <a:ea typeface="Microsoft YaHei"/>
                    <a:cs typeface="Consolas"/>
                  </a:rPr>
                  <a:t>final_*, 自动审核, 自动晋升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381000" y="4305300"/>
                <a:ext cx="112395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70535" y="4364831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人工审核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661666" y="4372928"/>
                <a:ext cx="12616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8A6FF"/>
                    </a:solidFill>
                    <a:latin typeface="Consolas"/>
                    <a:ea typeface="Microsoft YaHei"/>
                    <a:cs typeface="Consolas"/>
                  </a:rPr>
                  <a:t>审核记录, 编辑建议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281166" y="4372928"/>
                <a:ext cx="10920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B72"/>
                    </a:solidFill>
                    <a:latin typeface="Consolas"/>
                    <a:ea typeface="Microsoft YaHei"/>
                    <a:cs typeface="Consolas"/>
                  </a:rPr>
                  <a:t>final_* 直接写入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381000" y="4591050"/>
                <a:ext cx="112395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470535" y="4650581"/>
                <a:ext cx="7548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Promotion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2661666" y="4658678"/>
                <a:ext cx="121215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8A6FF"/>
                    </a:solidFill>
                    <a:latin typeface="Consolas"/>
                    <a:ea typeface="Microsoft YaHei"/>
                    <a:cs typeface="Consolas"/>
                  </a:rPr>
                  <a:t>final_* + 审计日志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281166" y="465867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B72"/>
                    </a:solidFill>
                    <a:latin typeface="Consolas"/>
                    <a:ea typeface="Microsoft YaHei"/>
                    <a:cs typeface="Consolas"/>
                  </a:rPr>
                  <a:t>绕过审核环节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2849295" y="5172075"/>
              <a:ext cx="6493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LLM 是提取工具而非终审官 · 人工审核是进入 Final KG 的唯一闸门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2618" y="1143000"/>
            <a:ext cx="11616817" cy="4302728"/>
            <a:chOff x="372618" y="1143000"/>
            <a:chExt cx="11616817" cy="4302728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第一阶段：资源导入与候选生成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2618" y="1726882"/>
              <a:ext cx="1125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AAL3 链路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47875"/>
              <a:ext cx="1905000" cy="419100"/>
            </a:xfrm>
            <a:prstGeom prst="roundRect">
              <a:avLst>
                <a:gd name="adj" fmla="val 4545"/>
              </a:avLst>
            </a:prstGeom>
            <a:solidFill>
              <a:srgbClr val="1C233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1650" y="2167414"/>
              <a:ext cx="12237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AAL3 XML 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72868" y="21364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0363D"/>
                  </a:solidFill>
                  <a:latin typeface="Consolas"/>
                  <a:ea typeface="Consolas"/>
                  <a:cs typeface="Consolas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67000" y="2047875"/>
              <a:ext cx="1905000" cy="419100"/>
            </a:xfrm>
            <a:prstGeom prst="roundRect">
              <a:avLst>
                <a:gd name="adj" fmla="val 4545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33304" y="2183606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8A6FF"/>
                  </a:solidFill>
                  <a:latin typeface="Consolas"/>
                  <a:ea typeface="Consolas"/>
                  <a:cs typeface="Consolas"/>
                </a:rPr>
                <a:t>aal3_xml parser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8868" y="21364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0363D"/>
                  </a:solidFill>
                  <a:latin typeface="Consolas"/>
                  <a:ea typeface="Consolas"/>
                  <a:cs typeface="Consolas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953000" y="2047875"/>
              <a:ext cx="2286000" cy="419100"/>
            </a:xfrm>
            <a:prstGeom prst="roundRect">
              <a:avLst>
                <a:gd name="adj" fmla="val 4545"/>
              </a:avLst>
            </a:prstGeom>
            <a:solidFill>
              <a:srgbClr val="161B2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38410" y="2135981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raw_aal3_region_labels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3621" y="2314099"/>
              <a:ext cx="5047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8A6FF"/>
                  </a:solidFill>
                  <a:latin typeface="Consolas"/>
                  <a:ea typeface="Consolas"/>
                  <a:cs typeface="Consolas"/>
                </a:rPr>
                <a:t>166 ROI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25868" y="21364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0363D"/>
                  </a:solidFill>
                  <a:latin typeface="Consolas"/>
                  <a:ea typeface="Consolas"/>
                  <a:cs typeface="Consola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2047875"/>
              <a:ext cx="2667000" cy="419100"/>
            </a:xfrm>
            <a:prstGeom prst="roundRect">
              <a:avLst>
                <a:gd name="adj" fmla="val 4545"/>
              </a:avLst>
            </a:prstGeom>
            <a:solidFill>
              <a:srgbClr val="1C233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78836" y="2135981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generate-candidates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07509" y="2314099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→ candidate_brain_regions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2618" y="2679382"/>
              <a:ext cx="1514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Macro96 链路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1000" y="3000375"/>
              <a:ext cx="1905000" cy="419100"/>
            </a:xfrm>
            <a:prstGeom prst="roundRect">
              <a:avLst>
                <a:gd name="adj" fmla="val 4545"/>
              </a:avLst>
            </a:prstGeom>
            <a:solidFill>
              <a:srgbClr val="1C233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5361" y="3119914"/>
              <a:ext cx="1836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Brain volume list.xlsx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72868" y="30889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0363D"/>
                  </a:solidFill>
                  <a:latin typeface="Consolas"/>
                  <a:ea typeface="Consolas"/>
                  <a:cs typeface="Consolas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667000" y="3000375"/>
              <a:ext cx="1905000" cy="419100"/>
            </a:xfrm>
            <a:prstGeom prst="roundRect">
              <a:avLst>
                <a:gd name="adj" fmla="val 4545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48605" y="313610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8A6FF"/>
                  </a:solidFill>
                  <a:latin typeface="Consolas"/>
                  <a:ea typeface="Consolas"/>
                  <a:cs typeface="Consolas"/>
                </a:rPr>
                <a:t>macro96_xlsx parser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868" y="30889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0363D"/>
                  </a:solidFill>
                  <a:latin typeface="Consolas"/>
                  <a:ea typeface="Consolas"/>
                  <a:cs typeface="Consola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953000" y="3000375"/>
              <a:ext cx="2286000" cy="419100"/>
            </a:xfrm>
            <a:prstGeom prst="roundRect">
              <a:avLst>
                <a:gd name="adj" fmla="val 4545"/>
              </a:avLst>
            </a:prstGeom>
            <a:solidFill>
              <a:srgbClr val="161B2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110251" y="30884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raw_macro96_region_rows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66770" y="3266599"/>
              <a:ext cx="4584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FFA657"/>
                  </a:solidFill>
                  <a:latin typeface="Consolas"/>
                  <a:ea typeface="Microsoft YaHei"/>
                  <a:cs typeface="Consolas"/>
                </a:rPr>
                <a:t>96 脑区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5868" y="3088958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0363D"/>
                  </a:solidFill>
                  <a:latin typeface="Consolas"/>
                  <a:ea typeface="Consolas"/>
                  <a:cs typeface="Consolas"/>
                </a:rPr>
                <a:t>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0" y="3000375"/>
              <a:ext cx="2667000" cy="419100"/>
            </a:xfrm>
            <a:prstGeom prst="roundRect">
              <a:avLst>
                <a:gd name="adj" fmla="val 4545"/>
              </a:avLst>
            </a:prstGeom>
            <a:solidFill>
              <a:srgbClr val="1C233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32054" y="3088481"/>
              <a:ext cx="2242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generate-macro96-candidates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7509" y="3266599"/>
              <a:ext cx="1691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→ candidate_brain_regions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3380" y="3743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关键机制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81000" y="4076700"/>
              <a:ext cx="3524250" cy="762000"/>
            </a:xfrm>
            <a:prstGeom prst="roundRect">
              <a:avLst>
                <a:gd name="adj" fmla="val 25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4642" y="4216718"/>
              <a:ext cx="2269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导入批次 (Import Batch)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5785" y="4498181"/>
              <a:ext cx="3547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核心追踪单元 · 解析器兼容性检查 · 事件日志 &amp; 回滚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095750" y="4076700"/>
              <a:ext cx="3524250" cy="762000"/>
            </a:xfrm>
            <a:prstGeom prst="roundRect">
              <a:avLst>
                <a:gd name="adj" fmla="val 25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79392" y="4216718"/>
              <a:ext cx="1759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幂等解析 + 完整溯源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80535" y="4498181"/>
              <a:ext cx="47608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唯一索引防重复 · source_atlas / version / batch_id / resource_id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810500" y="4076700"/>
              <a:ext cx="3524250" cy="762000"/>
            </a:xfrm>
            <a:prstGeom prst="roundRect">
              <a:avLst>
                <a:gd name="adj" fmla="val 2500"/>
              </a:avLst>
            </a:prstGeom>
            <a:solidFill>
              <a:srgbClr val="1C2333"/>
            </a:solidFill>
            <a:ln w="4762">
              <a:solidFill>
                <a:srgbClr val="30363D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94142" y="4216718"/>
              <a:ext cx="2198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候选池 (Candidate Pool)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95285" y="4498181"/>
              <a:ext cx="3994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跨批次汇总 · 按粒度/图谱筛选 · LLM 批量提取数据基础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25292" y="5196364"/>
              <a:ext cx="5741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AAL3 和 Macro96 双链路独立 · 禁止混用 Generator · 候选池跨批次汇总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73380" y="1143000"/>
            <a:ext cx="10818495" cy="4217003"/>
            <a:chOff x="373380" y="1143000"/>
            <a:chExt cx="10818495" cy="4217003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469506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规则校验与数据增强引擎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3380" y="1743075"/>
              <a:ext cx="57862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12 条确定性校验规则（不依赖 LLM）| Quality Score 加权评分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381000" y="2076450"/>
              <a:ext cx="5524500" cy="1263587"/>
              <a:chOff x="381000" y="2076450"/>
              <a:chExt cx="5524500" cy="1263587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381000" y="2076450"/>
                <a:ext cx="5524500" cy="247650"/>
              </a:xfrm>
              <a:prstGeom prst="roundRect">
                <a:avLst>
                  <a:gd name="adj" fmla="val 7692"/>
                </a:avLst>
              </a:prstGeom>
              <a:solidFill>
                <a:srgbClr val="161B22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71297" y="2142649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类别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804797" y="2142649"/>
                <a:ext cx="4254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检查项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281297" y="2142649"/>
                <a:ext cx="28695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级别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381000" y="2343150"/>
                <a:ext cx="5524500" cy="228600"/>
              </a:xfrm>
              <a:prstGeom prst="roundRect">
                <a:avLst>
                  <a:gd name="adj" fmla="val 833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70916" y="2391728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完整性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804416" y="23917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必填字段非空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0916" y="2391728"/>
                <a:ext cx="6155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B72"/>
                    </a:solidFill>
                    <a:latin typeface="Consolas"/>
                    <a:ea typeface="Consolas"/>
                    <a:cs typeface="Consolas"/>
                  </a:rPr>
                  <a:t>BLOCKER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81000" y="2590800"/>
                <a:ext cx="5524500" cy="228600"/>
              </a:xfrm>
              <a:prstGeom prst="roundRect">
                <a:avLst>
                  <a:gd name="adj" fmla="val 833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70916" y="2639378"/>
                <a:ext cx="10561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语义ID / 唯一性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04416" y="2639378"/>
                <a:ext cx="17280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格式合法性 / 同图谱不重复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80916" y="2639378"/>
                <a:ext cx="6155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B72"/>
                    </a:solidFill>
                    <a:latin typeface="Consolas"/>
                    <a:ea typeface="Consolas"/>
                    <a:cs typeface="Consolas"/>
                  </a:rPr>
                  <a:t>BLOCKER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81000" y="2838450"/>
                <a:ext cx="5524500" cy="228600"/>
              </a:xfrm>
              <a:prstGeom prst="roundRect">
                <a:avLst>
                  <a:gd name="adj" fmla="val 833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0916" y="2887028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拓扑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804416" y="2887028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脑区间引用有效性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280916" y="2887028"/>
                <a:ext cx="61554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7B72"/>
                    </a:solidFill>
                    <a:latin typeface="Consolas"/>
                    <a:ea typeface="Consolas"/>
                    <a:cs typeface="Consolas"/>
                  </a:rPr>
                  <a:t>BLOCKER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81000" y="3086100"/>
                <a:ext cx="5524500" cy="228600"/>
              </a:xfrm>
              <a:prstGeom prst="roundRect">
                <a:avLst>
                  <a:gd name="adj" fmla="val 833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70916" y="3134678"/>
                <a:ext cx="7386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溯源 / 证据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04416" y="3134678"/>
                <a:ext cx="30709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atlas/version/resource齐全 / evidence_text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80916" y="3134678"/>
                <a:ext cx="57820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A657"/>
                    </a:solidFill>
                    <a:latin typeface="Consolas"/>
                    <a:ea typeface="Consolas"/>
                    <a:cs typeface="Consolas"/>
                  </a:rPr>
                  <a:t>WARNING</a:t>
                </a: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73380" y="3552825"/>
              <a:ext cx="7394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Quality Score: 完整性30% + 溯源20% + 拓扑20% + 证据20% + 关联10% = 0-100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3380" y="39338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数据增强引擎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81000" y="4267200"/>
              <a:ext cx="5286375" cy="914400"/>
            </a:xfrm>
            <a:prstGeom prst="roundRect">
              <a:avLst>
                <a:gd name="adj" fmla="val 2083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1000" y="4267200"/>
              <a:ext cx="5286375" cy="3810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3118" y="4470082"/>
              <a:ext cx="2535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8A169"/>
                  </a:solidFill>
                  <a:latin typeface="Microsoft YaHei"/>
                  <a:ea typeface="Microsoft YaHei"/>
                  <a:cs typeface="Microsoft YaHei"/>
                </a:rPr>
                <a:t>Tier 1: 确定性自动修复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5023" y="4843939"/>
              <a:ext cx="2993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补充缺失字段 · 标准化名称 · 修复引用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5023" y="5110639"/>
              <a:ext cx="3217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不调 LLM — 零成本 · 确定性 · 即时反馈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905500" y="4267200"/>
              <a:ext cx="5286375" cy="914400"/>
            </a:xfrm>
            <a:prstGeom prst="roundRect">
              <a:avLst>
                <a:gd name="adj" fmla="val 2083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905500" y="4267200"/>
              <a:ext cx="5286375" cy="381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87618" y="4470082"/>
              <a:ext cx="37375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Tier 2: LLM 辅助增强 (DeepSeek)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89523" y="4843939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分析疑难问题 → 生成修复建议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89523" y="5110639"/>
              <a:ext cx="354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人工 approve / reject — 始终保留人工决策权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74142" y="1143000"/>
            <a:ext cx="10865358" cy="4023551"/>
            <a:chOff x="374142" y="1143000"/>
            <a:chExt cx="10865358" cy="4023551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8610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LLM 知识提取：双模型驱动的知识关系构建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1759268"/>
              <a:ext cx="8777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双 LLM 架构: DeepSeek (v4-pro / V3 / R1) + Kimi (Moonshot) · Provider 抽象层 · API Key 前端不可见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714750" y="2095500"/>
              <a:ext cx="4762500" cy="381000"/>
            </a:xfrm>
            <a:prstGeom prst="roundRect">
              <a:avLst>
                <a:gd name="adj" fmla="val 5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80893" y="2197418"/>
              <a:ext cx="36302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候选脑区实体 (Candidate Brain Regions)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714625"/>
              <a:ext cx="2952750" cy="342900"/>
            </a:xfrm>
            <a:prstGeom prst="roundRect">
              <a:avLst>
                <a:gd name="adj" fmla="val 5556"/>
              </a:avLst>
            </a:prstGeom>
            <a:solidFill>
              <a:srgbClr val="1C3A6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57688" y="2813685"/>
              <a:ext cx="1742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连接提取 (Connection)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619625" y="2714625"/>
              <a:ext cx="2952750" cy="342900"/>
            </a:xfrm>
            <a:prstGeom prst="roundRect">
              <a:avLst>
                <a:gd name="adj" fmla="val 5556"/>
              </a:avLst>
            </a:prstGeom>
            <a:solidFill>
              <a:srgbClr val="1C3A6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313074" y="2813685"/>
              <a:ext cx="1565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功能提取 (Function)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286750" y="2714625"/>
              <a:ext cx="2952750" cy="342900"/>
            </a:xfrm>
            <a:prstGeom prst="roundRect">
              <a:avLst>
                <a:gd name="adj" fmla="val 5556"/>
              </a:avLst>
            </a:prstGeom>
            <a:solidFill>
              <a:srgbClr val="1C3A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44559" y="2813685"/>
              <a:ext cx="14371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回路提取 (Circuit)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52500" y="3286125"/>
              <a:ext cx="2952750" cy="342900"/>
            </a:xfrm>
            <a:prstGeom prst="roundRect">
              <a:avLst>
                <a:gd name="adj" fmla="val 5556"/>
              </a:avLst>
            </a:prstGeom>
            <a:solidFill>
              <a:srgbClr val="204A9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97610" y="3385185"/>
              <a:ext cx="2262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投射功能提取 (Proj Function)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619625" y="3286125"/>
              <a:ext cx="2952750" cy="342900"/>
            </a:xfrm>
            <a:prstGeom prst="roundRect">
              <a:avLst>
                <a:gd name="adj" fmla="val 5556"/>
              </a:avLst>
            </a:prstGeom>
            <a:solidFill>
              <a:srgbClr val="204A9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64735" y="3385185"/>
              <a:ext cx="2262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回路功能提取 (Circ Function)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86750" y="3286125"/>
              <a:ext cx="2952750" cy="342900"/>
            </a:xfrm>
            <a:prstGeom prst="roundRect">
              <a:avLst>
                <a:gd name="adj" fmla="val 5556"/>
              </a:avLst>
            </a:prstGeom>
            <a:solidFill>
              <a:srgbClr val="204A9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86336" y="3385185"/>
              <a:ext cx="1953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回路步骤提取 (Circ Step)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714750" y="3857625"/>
              <a:ext cx="4762500" cy="381000"/>
            </a:xfrm>
            <a:prstGeom prst="roundRect">
              <a:avLst>
                <a:gd name="adj" fmla="val 5000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53830" y="3959542"/>
              <a:ext cx="4884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三元组整合 (Triple Consolidation) — 确定性，不调 LLM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4142" y="4473892"/>
              <a:ext cx="8040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复合工作流: Pack 机制(pairs_per_pack 可调) · Dry Run 预览 · Skip Existing · 暂停/取消/恢复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93230" y="4902518"/>
              <a:ext cx="6605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全部在同粒度内操作 · 跨粒度需显式 Mapping 表 · LLM 输出只写 Mirror KG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73380" y="1143000"/>
            <a:ext cx="11056620" cy="4340161"/>
            <a:chOff x="373380" y="1143000"/>
            <a:chExt cx="11056620" cy="4340161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59416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Mirror KG：预正式知识中转层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1664018"/>
              <a:ext cx="6122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解决 LLM 多 run/多 pack 重叠提取 · 重跑版本差异 · 审核员重复数据困境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47875"/>
              <a:ext cx="3619500" cy="1809750"/>
            </a:xfrm>
            <a:prstGeom prst="roundRect">
              <a:avLst>
                <a:gd name="adj" fmla="val 1053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2047875"/>
              <a:ext cx="3619500" cy="381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118" y="225075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写入时去重合并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023" y="2624614"/>
              <a:ext cx="2221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每种实体定义 Canonical Key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023" y="28913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写入时自动匹配与合并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023" y="315801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高置信度胜出 + 双溯源保留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023" y="3424714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已审核/已晋升/跨粒度永不自动合并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91000" y="2047875"/>
              <a:ext cx="3619500" cy="1809750"/>
            </a:xfrm>
            <a:prstGeom prst="roundRect">
              <a:avLst>
                <a:gd name="adj" fmla="val 1053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0" y="2047875"/>
              <a:ext cx="3619500" cy="38100"/>
            </a:xfrm>
            <a:prstGeom prst="rect">
              <a:avLst/>
            </a:prstGeom>
            <a:solidFill>
              <a:srgbClr val="FFA65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373118" y="225075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双模型盲审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5023" y="2624614"/>
              <a:ext cx="2066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DeepSeek + Kimi 独立审核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5023" y="28913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两模型互相不可见对方结果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75023" y="31580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consensus → 加速审核通道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5023" y="3424714"/>
              <a:ext cx="1917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conflict → 升级人工裁决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10500" y="2047875"/>
              <a:ext cx="3619500" cy="1809750"/>
            </a:xfrm>
            <a:prstGeom prst="roundRect">
              <a:avLst>
                <a:gd name="adj" fmla="val 1053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0" y="2047875"/>
              <a:ext cx="3619500" cy="3810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2618" y="2250758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8A169"/>
                  </a:solidFill>
                  <a:latin typeface="Microsoft YaHei"/>
                  <a:ea typeface="Microsoft YaHei"/>
                  <a:cs typeface="Microsoft YaHei"/>
                </a:rPr>
                <a:t>回路-投射交叉验证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94523" y="2624614"/>
              <a:ext cx="17274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正向: 回路→步骤→投射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4523" y="2891314"/>
              <a:ext cx="12880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反向: 投射→回路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4523" y="3158014"/>
              <a:ext cx="21886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双向确定性比对(不调LLM)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4523" y="3424714"/>
              <a:ext cx="3037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bidirectionally_supported / conflict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3380" y="4076700"/>
              <a:ext cx="1788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Canonical Key 体系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381000" y="4381500"/>
              <a:ext cx="7429500" cy="1101661"/>
              <a:chOff x="381000" y="4381500"/>
              <a:chExt cx="7429500" cy="1101661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381000" y="4381500"/>
                <a:ext cx="3619500" cy="285750"/>
              </a:xfrm>
              <a:prstGeom prst="roundRect">
                <a:avLst>
                  <a:gd name="adj" fmla="val 6667"/>
                </a:avLst>
              </a:prstGeom>
              <a:solidFill>
                <a:srgbClr val="161B2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70535" y="4450556"/>
                <a:ext cx="3280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实体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899285" y="4450556"/>
                <a:ext cx="10341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Canonical Key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381000" y="4686300"/>
                <a:ext cx="3619500" cy="247650"/>
              </a:xfrm>
              <a:prstGeom prst="roundRect">
                <a:avLst>
                  <a:gd name="adj" fmla="val 7692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70916" y="47444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连接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900047" y="4752499"/>
                <a:ext cx="21009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8A6FF"/>
                    </a:solidFill>
                    <a:latin typeface="Consolas"/>
                    <a:ea typeface="Microsoft YaHei"/>
                    <a:cs typeface="Consolas"/>
                  </a:rPr>
                  <a:t>(src, tgt, type, dir) 无向时排序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381000" y="4953000"/>
                <a:ext cx="3619500" cy="247650"/>
              </a:xfrm>
              <a:prstGeom prst="roundRect">
                <a:avLst>
                  <a:gd name="adj" fmla="val 7692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70916" y="5011102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回路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900047" y="5019199"/>
                <a:ext cx="17579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(name, atlas, granularity)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81000" y="5219700"/>
                <a:ext cx="3619500" cy="247650"/>
              </a:xfrm>
              <a:prstGeom prst="roundRect">
                <a:avLst>
                  <a:gd name="adj" fmla="val 7692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70916" y="52778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回路步骤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900047" y="5285899"/>
                <a:ext cx="16194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(circuit_id, step_order)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4191000" y="4381500"/>
                <a:ext cx="3619500" cy="285750"/>
              </a:xfrm>
              <a:prstGeom prst="roundRect">
                <a:avLst>
                  <a:gd name="adj" fmla="val 6667"/>
                </a:avLst>
              </a:prstGeom>
              <a:solidFill>
                <a:srgbClr val="161B2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280535" y="4450556"/>
                <a:ext cx="64468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合并策略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4191000" y="4686300"/>
                <a:ext cx="3619500" cy="781050"/>
              </a:xfrm>
              <a:prstGeom prst="roundRect">
                <a:avLst>
                  <a:gd name="adj" fmla="val 2439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376166" y="4763452"/>
                <a:ext cx="22018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C9D1D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高置信度胜出 → 更新字段+双溯源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4376166" y="4973002"/>
                <a:ext cx="21453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C9D1D9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低/等置信度 → 跳过+追加run_id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76166" y="5182552"/>
                <a:ext cx="235029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13348" indent="-113348">
                  <a:buClr>
                    <a:srgbClr val="FFA657"/>
                  </a:buClr>
                  <a:buSzTx/>
                  <a:buFontTx/>
                  <a:buChar char="•"/>
                </a:pPr>
                <a:r>
                  <a:rPr lang="zh-CN" sz="1050" dirty="0">
                    <a:solidFill>
                      <a:srgbClr val="FFA657"/>
                    </a:solidFill>
                    <a:latin typeface="Microsoft YaHei"/>
                    <a:ea typeface="Microsoft YaHei"/>
                    <a:cs typeface="Microsoft YaHei"/>
                  </a:rPr>
                  <a:t>已审核/已晋升/跨atlas → 永不合并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4142" y="1143000"/>
            <a:ext cx="10960608" cy="4105656"/>
            <a:chOff x="374142" y="1143000"/>
            <a:chExt cx="10960608" cy="4105656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校验中心：三道闸门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1664018"/>
              <a:ext cx="4641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Mirror KG 数据必须通过三道独立闸门才能进入 Final KG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47875"/>
              <a:ext cx="3524250" cy="1905000"/>
            </a:xfrm>
            <a:prstGeom prst="roundRect">
              <a:avLst>
                <a:gd name="adj" fmla="val 100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2047875"/>
              <a:ext cx="352425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118" y="2250758"/>
              <a:ext cx="1812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Microsoft YaHei"/>
                  <a:ea typeface="Microsoft YaHei"/>
                  <a:cs typeface="Microsoft YaHei"/>
                </a:rPr>
                <a:t>闸门 1: 规则校验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023" y="2624614"/>
              <a:ext cx="235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12 条规则 · 确定性 · 无 LLM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023" y="3158014"/>
              <a:ext cx="20236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Blocker → Tier1 自动修复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023" y="3424714"/>
              <a:ext cx="1400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→ Tier2 LLM 增强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5023" y="3691414"/>
              <a:ext cx="20887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Warning → 标记提醒审核员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095750" y="2047875"/>
              <a:ext cx="3524250" cy="1905000"/>
            </a:xfrm>
            <a:prstGeom prst="roundRect">
              <a:avLst>
                <a:gd name="adj" fmla="val 100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95750" y="2047875"/>
              <a:ext cx="3524250" cy="38100"/>
            </a:xfrm>
            <a:prstGeom prst="rect">
              <a:avLst/>
            </a:prstGeom>
            <a:solidFill>
              <a:srgbClr val="3068B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277868" y="2250758"/>
              <a:ext cx="20458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068B0"/>
                  </a:solidFill>
                  <a:latin typeface="Microsoft YaHei"/>
                  <a:ea typeface="Microsoft YaHei"/>
                  <a:cs typeface="Microsoft YaHei"/>
                </a:rPr>
                <a:t>闸门 2: 大模型校验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9773" y="2624614"/>
              <a:ext cx="2241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DeepSeek + Kimi 双模型盲审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9773" y="315801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consensus → 绿色通道加速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79773" y="3424714"/>
              <a:ext cx="2115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conflict → 升级 + 分歧标注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79773" y="36914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两模型互不可见结果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10500" y="2047875"/>
              <a:ext cx="3524250" cy="1905000"/>
            </a:xfrm>
            <a:prstGeom prst="roundRect">
              <a:avLst>
                <a:gd name="adj" fmla="val 100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0" y="2047875"/>
              <a:ext cx="3524250" cy="38100"/>
            </a:xfrm>
            <a:prstGeom prst="rect">
              <a:avLst/>
            </a:prstGeom>
            <a:solidFill>
              <a:srgbClr val="FFA65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2618" y="2250758"/>
              <a:ext cx="1812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闸门 3: 人工审核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94523" y="262461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领域专家终审 · 唯一终审权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4523" y="31580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approve → 进入晋升队列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4523" y="3424714"/>
              <a:ext cx="1968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reject → 退回 + 原因记录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4523" y="369141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request_changes → 返回修改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190750" y="4238625"/>
              <a:ext cx="7810500" cy="476250"/>
            </a:xfrm>
            <a:prstGeom prst="roundRect">
              <a:avLst>
                <a:gd name="adj" fmla="val 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70550" y="4355782"/>
              <a:ext cx="38509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→ Final KG（三道全过，缺一不可）←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0541" y="5013960"/>
              <a:ext cx="6890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设计原则：前两道自动化（规则 + LLM 校验）+ 最后一道人工终审 = 效率与质量的最佳平衡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74142" y="1143000"/>
            <a:ext cx="11246358" cy="3915156"/>
            <a:chOff x="374142" y="1143000"/>
            <a:chExt cx="11246358" cy="3915156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56551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晋升与 Final KG：唯一事实库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1664018"/>
              <a:ext cx="70706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Mirror KG (审核通过) → Promotion 服务 → Final KG（8 表一一映射 · 强确认不可逆）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047875"/>
              <a:ext cx="11239500" cy="523875"/>
            </a:xfrm>
            <a:prstGeom prst="roundRect">
              <a:avLst>
                <a:gd name="adj" fmla="val 3636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36102" y="2124075"/>
              <a:ext cx="7929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第一层: 实体层 (Nodes) — BrainRegion · Function · Circuit · Step · Projection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87678" y="2363152"/>
              <a:ext cx="3826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AAL3/Macro96 脑区 · 功能标注 · 回路 · 步骤 · 投射/连接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2714625"/>
              <a:ext cx="11239500" cy="714375"/>
            </a:xfrm>
            <a:prstGeom prst="roundRect">
              <a:avLst>
                <a:gd name="adj" fmla="val 2667"/>
              </a:avLst>
            </a:prstGeom>
            <a:solidFill>
              <a:srgbClr val="1C3A6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48920" y="2790825"/>
              <a:ext cx="45036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第二层: 关系层 (Predicates) — 12 种标准谓词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79547" y="3069431"/>
              <a:ext cx="6042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8A6FF"/>
                  </a:solidFill>
                  <a:latin typeface="Consolas"/>
                  <a:ea typeface="Consolas"/>
                  <a:cs typeface="Consolas"/>
                </a:rPr>
                <a:t>structurally_connects_to | functionally_connects_to | projects_to | has_function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25451" y="3240881"/>
              <a:ext cx="7150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79C0FF"/>
                  </a:solidFill>
                  <a:latin typeface="Consolas"/>
                  <a:ea typeface="Consolas"/>
                  <a:cs typeface="Consolas"/>
                </a:rPr>
                <a:t>has_projection_function | has_circuit_function | has_step | involves_region | contains_projection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" y="3571875"/>
              <a:ext cx="11239500" cy="523875"/>
            </a:xfrm>
            <a:prstGeom prst="roundRect">
              <a:avLst>
                <a:gd name="adj" fmla="val 3636"/>
              </a:avLst>
            </a:prstGeom>
            <a:solidFill>
              <a:srgbClr val="204A9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5237" y="3648075"/>
              <a:ext cx="9831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第三层: 统一查询层 — final_kg_triples (subject, predicate, object) · 确定性 Triple Consolidation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43122" y="3887152"/>
              <a:ext cx="47152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不调 LLM · CONNECTION_TO_PREDICATE 确定性映射 · 晋升后自动触发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4142" y="4331018"/>
              <a:ext cx="1204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五层粒度隔离: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2476500" y="4381500"/>
              <a:ext cx="6953250" cy="266700"/>
              <a:chOff x="2476500" y="4381500"/>
              <a:chExt cx="6953250" cy="2667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476500" y="4381500"/>
                <a:ext cx="142875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730772" y="4457224"/>
                <a:ext cx="9202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macro_clinical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000500" y="4381500"/>
                <a:ext cx="13335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124692" y="4457224"/>
                <a:ext cx="10851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86069"/>
                    </a:solidFill>
                    <a:latin typeface="Consolas"/>
                    <a:ea typeface="Consolas"/>
                    <a:cs typeface="Consolas"/>
                  </a:rPr>
                  <a:t>meso_anatomical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429250" y="4381500"/>
                <a:ext cx="13335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43547" y="4457224"/>
                <a:ext cx="110490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86069"/>
                    </a:solidFill>
                    <a:latin typeface="Consolas"/>
                    <a:ea typeface="Consolas"/>
                    <a:cs typeface="Consolas"/>
                  </a:rPr>
                  <a:t>sub_connectivity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6858000" y="4381500"/>
                <a:ext cx="11430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114517" y="4457224"/>
                <a:ext cx="6299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86069"/>
                    </a:solidFill>
                    <a:latin typeface="Consolas"/>
                    <a:ea typeface="Consolas"/>
                    <a:cs typeface="Consolas"/>
                  </a:rPr>
                  <a:t>fine_cyto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096250" y="4381500"/>
                <a:ext cx="1333500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269915" y="4457224"/>
                <a:ext cx="9861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86069"/>
                    </a:solidFill>
                    <a:latin typeface="Consolas"/>
                    <a:ea typeface="Consolas"/>
                    <a:cs typeface="Consolas"/>
                  </a:rPr>
                  <a:t>molecular_attr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374904" y="4823460"/>
              <a:ext cx="6817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跨粒度关系: 显式 Mapping (exact_match / part_of / overlaps) · 禁止名称相似度自动合并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74142" y="1143000"/>
            <a:ext cx="11436858" cy="3750945"/>
            <a:chOff x="374142" y="1143000"/>
            <a:chExt cx="11436858" cy="3750945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知识消费与全链路溯源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4142" y="16163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知识消费面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1905000"/>
              <a:ext cx="2571750" cy="1143000"/>
            </a:xfrm>
            <a:prstGeom prst="roundRect">
              <a:avLst>
                <a:gd name="adj" fmla="val 1667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1905000"/>
              <a:ext cx="2571750" cy="381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118" y="2107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图谱探索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023" y="2481739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D3 力导向图可视化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023" y="2748439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节点展开/收起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023" y="301513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按类型着色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143250" y="1905000"/>
              <a:ext cx="2571750" cy="1143000"/>
            </a:xfrm>
            <a:prstGeom prst="roundRect">
              <a:avLst>
                <a:gd name="adj" fmla="val 1667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143250" y="1905000"/>
              <a:ext cx="2571750" cy="38100"/>
            </a:xfrm>
            <a:prstGeom prst="rect">
              <a:avLst/>
            </a:prstGeom>
            <a:solidFill>
              <a:srgbClr val="79C0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325368" y="2107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症状查询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7273" y="248173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自然语言症状输入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27273" y="2748439"/>
              <a:ext cx="1658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标准化功能/回路匹配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27273" y="3015139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→ 图谱结果+临床报告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905500" y="1905000"/>
              <a:ext cx="2571750" cy="1143000"/>
            </a:xfrm>
            <a:prstGeom prst="roundRect">
              <a:avLst>
                <a:gd name="adj" fmla="val 1667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05500" y="1905000"/>
              <a:ext cx="2571750" cy="381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87618" y="2107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数据中心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89523" y="2481739"/>
              <a:ext cx="19088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Raw→Candidate→Mirror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89523" y="2748439"/>
              <a:ext cx="14244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→Final 四面板浏览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89523" y="301513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字段补全 + 批量操作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667750" y="1905000"/>
              <a:ext cx="2571750" cy="1143000"/>
            </a:xfrm>
            <a:prstGeom prst="roundRect">
              <a:avLst>
                <a:gd name="adj" fmla="val 1667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667750" y="1905000"/>
              <a:ext cx="2571750" cy="38100"/>
            </a:xfrm>
            <a:prstGeom prst="rect">
              <a:avLst/>
            </a:prstGeom>
            <a:solidFill>
              <a:srgbClr val="79C0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49868" y="2107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知识导出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51773" y="2481739"/>
              <a:ext cx="10598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JSONL + CSV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1773" y="2748439"/>
              <a:ext cx="13498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+ Neo4j 兼容格式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1773" y="30151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离线确定性导出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142" y="3330892"/>
              <a:ext cx="45835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全链路溯源 — 任何 Final KG 事实 → 7 步回溯 → 原始出处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381000" y="3667125"/>
              <a:ext cx="11430000" cy="346900"/>
              <a:chOff x="381000" y="3667125"/>
              <a:chExt cx="11430000" cy="3469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1000" y="3667125"/>
                <a:ext cx="1238250" cy="342900"/>
              </a:xfrm>
              <a:prstGeom prst="roundRect">
                <a:avLst>
                  <a:gd name="adj" fmla="val 5556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93166" y="3780949"/>
                <a:ext cx="81391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Final KG 事实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70764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1905000" y="3667125"/>
                <a:ext cx="1143000" cy="342900"/>
              </a:xfrm>
              <a:prstGeom prst="roundRect">
                <a:avLst>
                  <a:gd name="adj" fmla="val 5556"/>
                </a:avLst>
              </a:prstGeom>
              <a:solidFill>
                <a:srgbClr val="1C3A6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148324" y="3780949"/>
                <a:ext cx="6563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79C0FF"/>
                    </a:solidFill>
                    <a:latin typeface="Microsoft YaHei"/>
                    <a:ea typeface="Microsoft YaHei"/>
                    <a:cs typeface="Microsoft YaHei"/>
                  </a:rPr>
                  <a:t>promotion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13639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3333750" y="3667125"/>
                <a:ext cx="1143000" cy="342900"/>
              </a:xfrm>
              <a:prstGeom prst="roundRect">
                <a:avLst>
                  <a:gd name="adj" fmla="val 5556"/>
                </a:avLst>
              </a:prstGeom>
              <a:solidFill>
                <a:srgbClr val="204A90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3685915" y="3780949"/>
                <a:ext cx="4386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A657"/>
                    </a:solidFill>
                    <a:latin typeface="Microsoft YaHei"/>
                    <a:ea typeface="Microsoft YaHei"/>
                    <a:cs typeface="Microsoft YaHei"/>
                  </a:rPr>
                  <a:t>review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56514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4762500" y="3667125"/>
                <a:ext cx="1238250" cy="342900"/>
              </a:xfrm>
              <a:prstGeom prst="roundRect">
                <a:avLst>
                  <a:gd name="adj" fmla="val 5556"/>
                </a:avLst>
              </a:prstGeom>
              <a:solidFill>
                <a:srgbClr val="2858A0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898434" y="3780949"/>
                <a:ext cx="96638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rule_validation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08914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6286500" y="3667125"/>
                <a:ext cx="1333500" cy="342900"/>
              </a:xfrm>
              <a:prstGeom prst="roundRect">
                <a:avLst>
                  <a:gd name="adj" fmla="val 5556"/>
                </a:avLst>
              </a:prstGeom>
              <a:solidFill>
                <a:srgbClr val="3068B0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524434" y="378904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8A6FF"/>
                    </a:solidFill>
                    <a:latin typeface="Microsoft YaHei"/>
                    <a:ea typeface="Microsoft YaHei"/>
                    <a:cs typeface="Microsoft YaHei"/>
                  </a:rPr>
                  <a:t>llm_item(raw)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70839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7905750" y="3667125"/>
                <a:ext cx="1238250" cy="342900"/>
              </a:xfrm>
              <a:prstGeom prst="roundRect">
                <a:avLst>
                  <a:gd name="adj" fmla="val 5556"/>
                </a:avLst>
              </a:prstGeom>
              <a:solidFill>
                <a:srgbClr val="3878C0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285751" y="3780949"/>
                <a:ext cx="47824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79C0FF"/>
                    </a:solidFill>
                    <a:latin typeface="Microsoft YaHei"/>
                    <a:ea typeface="Microsoft YaHei"/>
                    <a:cs typeface="Microsoft YaHei"/>
                  </a:rPr>
                  <a:t>llm_run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23239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9429750" y="3667125"/>
                <a:ext cx="1143000" cy="342900"/>
              </a:xfrm>
              <a:prstGeom prst="roundRect">
                <a:avLst>
                  <a:gd name="adj" fmla="val 5556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521358" y="3780949"/>
                <a:ext cx="9597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candidate_pool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0661142" y="3749992"/>
                <a:ext cx="1136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0363D"/>
                    </a:solidFill>
                    <a:latin typeface="Consolas"/>
                    <a:ea typeface="Consolas"/>
                    <a:cs typeface="Consolas"/>
                  </a:rPr>
                  <a:t>→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10858500" y="3667125"/>
                <a:ext cx="952500" cy="342900"/>
              </a:xfrm>
              <a:prstGeom prst="roundRect">
                <a:avLst>
                  <a:gd name="adj" fmla="val 5556"/>
                </a:avLst>
              </a:prstGeom>
              <a:solidFill>
                <a:srgbClr val="1C3A6E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933195" y="3789045"/>
                <a:ext cx="803110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9C0FF"/>
                    </a:solidFill>
                    <a:latin typeface="Microsoft YaHei"/>
                    <a:ea typeface="Microsoft YaHei"/>
                    <a:cs typeface="Microsoft YaHei"/>
                  </a:rPr>
                  <a:t>import_batch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3019816" y="4172902"/>
              <a:ext cx="61523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import_batch → resource (原始脑图谱资源) — 全链路不可篡改，provenance 是晋升的硬性前提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47491" y="4600575"/>
              <a:ext cx="5097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58A6FF"/>
                  </a:solidFill>
                  <a:latin typeface="Microsoft YaHei"/>
                  <a:ea typeface="Microsoft YaHei"/>
                  <a:cs typeface="Microsoft YaHei"/>
                </a:rPr>
                <a:t>任何 Final KG 事实 → 7 步回溯 → 原始脑图谱资源出处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81000" y="1143000"/>
            <a:ext cx="10953750" cy="4055078"/>
            <a:chOff x="381000" y="1143000"/>
            <a:chExt cx="10953750" cy="4055078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21507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核心创新点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809750"/>
              <a:ext cx="3524250" cy="1524000"/>
            </a:xfrm>
            <a:prstGeom prst="roundRect">
              <a:avLst>
                <a:gd name="adj" fmla="val 125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1809750"/>
              <a:ext cx="3524250" cy="381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3118" y="2012632"/>
              <a:ext cx="1742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Microsoft YaHei"/>
                  <a:ea typeface="Microsoft YaHei"/>
                  <a:cs typeface="Microsoft YaHei"/>
                </a:rPr>
                <a:t>1. 分层漏斗治理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5023" y="238648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6 阶段流水线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5023" y="2653189"/>
              <a:ext cx="19119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候选→校验→LLM→Mirror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5023" y="2919889"/>
              <a:ext cx="1161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→Review→Final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5023" y="31865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每层明确写边界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95750" y="1809750"/>
              <a:ext cx="3524250" cy="1524000"/>
            </a:xfrm>
            <a:prstGeom prst="roundRect">
              <a:avLst>
                <a:gd name="adj" fmla="val 125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95750" y="1809750"/>
              <a:ext cx="3524250" cy="38100"/>
            </a:xfrm>
            <a:prstGeom prst="rect">
              <a:avLst/>
            </a:prstGeom>
            <a:solidFill>
              <a:srgbClr val="3068B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77868" y="2012632"/>
              <a:ext cx="22437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068B0"/>
                  </a:solidFill>
                  <a:latin typeface="Microsoft YaHei"/>
                  <a:ea typeface="Microsoft YaHei"/>
                  <a:cs typeface="Microsoft YaHei"/>
                </a:rPr>
                <a:t>2. Mirror KG 中转层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79773" y="2386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写入时去重合并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79773" y="2653189"/>
              <a:ext cx="1526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Canonical Key 体系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79773" y="29198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双溯源保留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79773" y="31865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永不自动合并已审核数据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0" y="1809750"/>
              <a:ext cx="3524250" cy="1524000"/>
            </a:xfrm>
            <a:prstGeom prst="roundRect">
              <a:avLst>
                <a:gd name="adj" fmla="val 125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0" y="1809750"/>
              <a:ext cx="3524250" cy="38100"/>
            </a:xfrm>
            <a:prstGeom prst="rect">
              <a:avLst/>
            </a:prstGeom>
            <a:solidFill>
              <a:srgbClr val="3878C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92618" y="2012632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878C0"/>
                  </a:solidFill>
                  <a:latin typeface="Microsoft YaHei"/>
                  <a:ea typeface="Microsoft YaHei"/>
                  <a:cs typeface="Microsoft YaHei"/>
                </a:rPr>
                <a:t>3. 双模型盲审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4523" y="2386489"/>
              <a:ext cx="13148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DeepSeek + Kimi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94523" y="26531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独立审核同一数据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4523" y="29198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互不可见结果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4523" y="31865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冲突人工裁决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" y="3571875"/>
              <a:ext cx="3524250" cy="1524000"/>
            </a:xfrm>
            <a:prstGeom prst="roundRect">
              <a:avLst>
                <a:gd name="adj" fmla="val 125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1000" y="3571875"/>
              <a:ext cx="3524250" cy="3810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3118" y="3774758"/>
              <a:ext cx="1742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8A169"/>
                  </a:solidFill>
                  <a:latin typeface="Microsoft YaHei"/>
                  <a:ea typeface="Microsoft YaHei"/>
                  <a:cs typeface="Microsoft YaHei"/>
                </a:rPr>
                <a:t>4. 数据增强引擎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5023" y="4148614"/>
              <a:ext cx="214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Tier 1 确定性修复(零成本)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023" y="4415314"/>
              <a:ext cx="1302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Tier 2 LLM 增强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65023" y="4682014"/>
              <a:ext cx="1691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Quality Score 0-100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5023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自动评分与分层修复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095750" y="3571875"/>
              <a:ext cx="3524250" cy="1524000"/>
            </a:xfrm>
            <a:prstGeom prst="roundRect">
              <a:avLst>
                <a:gd name="adj" fmla="val 125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095750" y="3571875"/>
              <a:ext cx="3524250" cy="38100"/>
            </a:xfrm>
            <a:prstGeom prst="rect">
              <a:avLst/>
            </a:prstGeom>
            <a:solidFill>
              <a:srgbClr val="FFA65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77868" y="3774758"/>
              <a:ext cx="15094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5. 全链路溯源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79773" y="4148614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7 步回溯到原始出处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79773" y="4415314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所有 provenance 不可变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279773" y="46820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晋升硬性前提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79773" y="49487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证据层完整记录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810500" y="3571875"/>
              <a:ext cx="3524250" cy="1524000"/>
            </a:xfrm>
            <a:prstGeom prst="roundRect">
              <a:avLst>
                <a:gd name="adj" fmla="val 1250"/>
              </a:avLst>
            </a:prstGeom>
            <a:solidFill>
              <a:srgbClr val="161B22"/>
            </a:solidFill>
            <a:ln w="4762">
              <a:solidFill>
                <a:srgbClr val="30363D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810500" y="3571875"/>
              <a:ext cx="3524250" cy="38100"/>
            </a:xfrm>
            <a:prstGeom prst="rect">
              <a:avLst/>
            </a:prstGeom>
            <a:solidFill>
              <a:srgbClr val="FF7B7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992618" y="3774758"/>
              <a:ext cx="1742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7B72"/>
                  </a:solidFill>
                  <a:latin typeface="Microsoft YaHei"/>
                  <a:ea typeface="Microsoft YaHei"/>
                  <a:cs typeface="Microsoft YaHei"/>
                </a:rPr>
                <a:t>6. 五层粒度隔离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94523" y="4148614"/>
              <a:ext cx="1900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PostgreSQL schema 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94523" y="4415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物理隔离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94523" y="4682014"/>
              <a:ext cx="1593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跨粒度显式 Mapping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94523" y="49487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9D1D9"/>
                  </a:solidFill>
                  <a:latin typeface="Microsoft YaHei"/>
                  <a:ea typeface="Microsoft YaHei"/>
                  <a:cs typeface="Microsoft YaHei"/>
                </a:rPr>
                <a:t>禁止名称相似度合并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" name="Line 3"/>
            <p:cNvSpPr/>
            <p:nvPr/>
          </p:nvSpPr>
          <p:spPr>
            <a:xfrm>
              <a:off x="0" y="10287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56666" y="6554152"/>
              <a:ext cx="1367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NeuroGraphIQ KG V3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371856" y="1143000"/>
            <a:ext cx="11010519" cy="4476750"/>
            <a:chOff x="371856" y="1143000"/>
            <a:chExt cx="11010519" cy="4476750"/>
          </a:xfrm>
        </p:grpSpPr>
        <p:sp>
          <p:nvSpPr>
            <p:cNvPr id="6" name="Rectangle 6"/>
            <p:cNvSpPr/>
            <p:nvPr/>
          </p:nvSpPr>
          <p:spPr>
            <a:xfrm>
              <a:off x="381000" y="1143000"/>
              <a:ext cx="38100" cy="457200"/>
            </a:xfrm>
            <a:prstGeom prst="rect">
              <a:avLst/>
            </a:prstGeom>
            <a:solidFill>
              <a:srgbClr val="58A6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152525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当前状态与下一步规划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71856" y="15678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8A169"/>
                  </a:solidFill>
                  <a:latin typeface="Microsoft YaHei"/>
                  <a:ea typeface="Microsoft YaHei"/>
                  <a:cs typeface="Microsoft YaHei"/>
                </a:rPr>
                <a:t>已完成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81000" y="1885950"/>
              <a:ext cx="5286375" cy="2279809"/>
              <a:chOff x="381000" y="1885950"/>
              <a:chExt cx="5286375" cy="2279809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381000" y="18859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70535" y="1945481"/>
                <a:ext cx="29040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端到端流水线 (Resource → Final KG) 闭环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381000" y="21717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70535" y="2231231"/>
                <a:ext cx="26320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7 种 LLM 提取能力 + 复合工作流编排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381000" y="24574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70535" y="2516981"/>
                <a:ext cx="31766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12 规则校验 + 数据增强引擎 (Tier 1 + Tier 2)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381000" y="27432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70535" y="2802731"/>
                <a:ext cx="15417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双模型盲审 + 交叉验证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81000" y="30289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70535" y="3088481"/>
                <a:ext cx="29889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Mirror → Final 晋升 + Triple Consolidation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81000" y="33147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70535" y="3374231"/>
                <a:ext cx="23107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写入时去重合并 (6 类实体全覆盖)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381000" y="36004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70535" y="3659981"/>
                <a:ext cx="319005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14 页前端工作台 + Graph Explorer + 症状查询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1000" y="38862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70535" y="3945731"/>
                <a:ext cx="32606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C9D1D9"/>
                    </a:solidFill>
                    <a:latin typeface="Microsoft YaHei"/>
                    <a:ea typeface="Microsoft YaHei"/>
                    <a:cs typeface="Microsoft YaHei"/>
                  </a:rPr>
                  <a:t>1,173 测试函数 · 59 数据库迁移 · 全链路 audit</a:t>
                </a:r>
              </a:p>
            </p:txBody>
          </p:sp>
        </p:grpSp>
        <p:sp>
          <p:nvSpPr>
            <p:cNvPr id="26" name="Rectangle 26"/>
            <p:cNvSpPr/>
            <p:nvPr/>
          </p:nvSpPr>
          <p:spPr>
            <a:xfrm>
              <a:off x="5857875" y="1619250"/>
              <a:ext cx="19050" cy="2667000"/>
            </a:xfrm>
            <a:prstGeom prst="rect">
              <a:avLst/>
            </a:prstGeom>
            <a:solidFill>
              <a:srgbClr val="3036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86856" y="15678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A657"/>
                  </a:solidFill>
                  <a:latin typeface="Microsoft YaHei"/>
                  <a:ea typeface="Microsoft YaHei"/>
                  <a:cs typeface="Microsoft YaHei"/>
                </a:rPr>
                <a:t>规划中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096000" y="1885950"/>
              <a:ext cx="5286375" cy="1994059"/>
              <a:chOff x="6096000" y="1885950"/>
              <a:chExt cx="5286375" cy="1994059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096000" y="18859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185535" y="1945481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接入更多粒度数据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096000" y="21717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185535" y="2231231"/>
                <a:ext cx="218272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图数据库同步 (Neo4j 可选路径)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096000" y="24574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185535" y="2516981"/>
                <a:ext cx="16699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跨粒度映射关系自动发现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6096000" y="27432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185535" y="2802731"/>
                <a:ext cx="27228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Graph Explorer 交互增强 (ReactFlow)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096000" y="30289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185535" y="3088481"/>
                <a:ext cx="17289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DashBoard 关键指标看板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096000" y="331470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185535" y="3374231"/>
                <a:ext cx="166994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批量字段补全进度可视化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6096000" y="3600450"/>
                <a:ext cx="5286375" cy="266700"/>
              </a:xfrm>
              <a:prstGeom prst="roundRect">
                <a:avLst>
                  <a:gd name="adj" fmla="val 7143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185535" y="3659981"/>
                <a:ext cx="197149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知识图谱版本管理与差异对比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381000" y="4905375"/>
              <a:ext cx="10715625" cy="714375"/>
              <a:chOff x="381000" y="4905375"/>
              <a:chExt cx="10715625" cy="714375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381000" y="4905375"/>
                <a:ext cx="1666875" cy="714375"/>
              </a:xfrm>
              <a:prstGeom prst="roundRect">
                <a:avLst>
                  <a:gd name="adj" fmla="val 2667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20772" y="4999672"/>
                <a:ext cx="77780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42+88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27293" y="5323999"/>
                <a:ext cx="96476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API 路由 · 服务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2190750" y="4905375"/>
                <a:ext cx="1666875" cy="714375"/>
              </a:xfrm>
              <a:prstGeom prst="roundRect">
                <a:avLst>
                  <a:gd name="adj" fmla="val 2667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2857920" y="4999672"/>
                <a:ext cx="323010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14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2750617" y="53239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前端页面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4000500" y="4905375"/>
                <a:ext cx="1666875" cy="714375"/>
              </a:xfrm>
              <a:prstGeom prst="roundRect">
                <a:avLst>
                  <a:gd name="adj" fmla="val 2667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516071" y="4999672"/>
                <a:ext cx="62620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5+59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381424" y="5323999"/>
                <a:ext cx="89550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Schema · 迁移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5810250" y="4905375"/>
                <a:ext cx="1666875" cy="714375"/>
              </a:xfrm>
              <a:prstGeom prst="roundRect">
                <a:avLst>
                  <a:gd name="adj" fmla="val 2667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6250022" y="4999672"/>
                <a:ext cx="77780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1,173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370117" y="532399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测试函数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7620000" y="4905375"/>
                <a:ext cx="1666875" cy="714375"/>
              </a:xfrm>
              <a:prstGeom prst="roundRect">
                <a:avLst>
                  <a:gd name="adj" fmla="val 2667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362970" y="4999672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7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45831" y="5323999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知识层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9429750" y="4905375"/>
                <a:ext cx="1666875" cy="714375"/>
              </a:xfrm>
              <a:prstGeom prst="roundRect">
                <a:avLst>
                  <a:gd name="adj" fmla="val 2667"/>
                </a:avLst>
              </a:prstGeom>
              <a:solidFill>
                <a:srgbClr val="1C233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0172720" y="4999672"/>
                <a:ext cx="17141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rgbClr val="58A6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964227" y="5323999"/>
                <a:ext cx="5883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B949E"/>
                    </a:solidFill>
                    <a:latin typeface="Microsoft YaHei"/>
                    <a:ea typeface="Microsoft YaHei"/>
                    <a:cs typeface="Microsoft YaHei"/>
                  </a:rPr>
                  <a:t>LLM 模型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61B22"/>
            </a:gs>
            <a:gs pos="100000">
              <a:srgbClr val="0D1117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1876425" y="1409700"/>
            <a:ext cx="8153400" cy="4143375"/>
            <a:chOff x="1876425" y="1409700"/>
            <a:chExt cx="8153400" cy="4143375"/>
          </a:xfrm>
        </p:grpSpPr>
        <p:sp>
          <p:nvSpPr>
            <p:cNvPr id="2" name="Ellipse 2"/>
            <p:cNvSpPr/>
            <p:nvPr/>
          </p:nvSpPr>
          <p:spPr>
            <a:xfrm>
              <a:off x="1876425" y="1876425"/>
              <a:ext cx="57150" cy="57150"/>
            </a:xfrm>
            <a:prstGeom prst="ellipse">
              <a:avLst/>
            </a:prstGeom>
            <a:solidFill>
              <a:srgbClr val="58A6FF">
                <a:alpha val="6000"/>
              </a:srgbClr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790950" y="1409700"/>
              <a:ext cx="38100" cy="38100"/>
            </a:xfrm>
            <a:prstGeom prst="ellipse">
              <a:avLst/>
            </a:prstGeom>
            <a:solidFill>
              <a:srgbClr val="58A6FF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5686425" y="2352675"/>
              <a:ext cx="57150" cy="57150"/>
            </a:xfrm>
            <a:prstGeom prst="ellipse">
              <a:avLst/>
            </a:prstGeom>
            <a:solidFill>
              <a:srgbClr val="58A6FF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362950" y="1695450"/>
              <a:ext cx="38100" cy="38100"/>
            </a:xfrm>
            <a:prstGeom prst="ellipse">
              <a:avLst/>
            </a:prstGeom>
            <a:solidFill>
              <a:srgbClr val="79C0FF">
                <a:alpha val="6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972675" y="2066925"/>
              <a:ext cx="57150" cy="57150"/>
            </a:xfrm>
            <a:prstGeom prst="ellipse">
              <a:avLst/>
            </a:prstGeom>
            <a:solidFill>
              <a:srgbClr val="79C0FF">
                <a:alpha val="6000"/>
              </a:srgb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2838450" y="4743450"/>
              <a:ext cx="38100" cy="38100"/>
            </a:xfrm>
            <a:prstGeom prst="ellipse">
              <a:avLst/>
            </a:prstGeom>
            <a:solidFill>
              <a:srgbClr val="58A6FF">
                <a:alpha val="6000"/>
              </a:srgbClr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733925" y="5210175"/>
              <a:ext cx="57150" cy="57150"/>
            </a:xfrm>
            <a:prstGeom prst="ellipse">
              <a:avLst/>
            </a:prstGeom>
            <a:solidFill>
              <a:srgbClr val="79C0FF">
                <a:alpha val="6000"/>
              </a:srgbClr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124700" y="4933950"/>
              <a:ext cx="38100" cy="38100"/>
            </a:xfrm>
            <a:prstGeom prst="ellipse">
              <a:avLst/>
            </a:prstGeom>
            <a:solidFill>
              <a:srgbClr val="58A6FF">
                <a:alpha val="6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020175" y="5495925"/>
              <a:ext cx="57150" cy="57150"/>
            </a:xfrm>
            <a:prstGeom prst="ellipse">
              <a:avLst/>
            </a:prstGeom>
            <a:solidFill>
              <a:srgbClr val="79C0FF">
                <a:alpha val="6000"/>
              </a:srgbClr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62000" y="2339340"/>
            <a:ext cx="10668000" cy="4051935"/>
            <a:chOff x="762000" y="2339340"/>
            <a:chExt cx="10668000" cy="4051935"/>
          </a:xfrm>
        </p:grpSpPr>
        <p:sp>
          <p:nvSpPr>
            <p:cNvPr id="12" name="TextBox 12"/>
            <p:cNvSpPr txBox="1"/>
            <p:nvPr/>
          </p:nvSpPr>
          <p:spPr>
            <a:xfrm>
              <a:off x="4719980" y="2339340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effectLst>
                    <a:glow rad="57150">
                      <a:srgbClr val="000000">
                        <a:alpha val="30000"/>
                      </a:srgbClr>
                    </a:glow>
                  </a:effectLst>
                  <a:latin typeface="Microsoft YaHei"/>
                  <a:ea typeface="Microsoft YaHei"/>
                  <a:cs typeface="Microsoft YaHei"/>
                </a:rPr>
                <a:t>感谢关注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53000" y="336042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79C0FF"/>
                  </a:solidFill>
                  <a:latin typeface="Microsoft YaHei"/>
                  <a:ea typeface="Microsoft YaHei"/>
                  <a:cs typeface="Microsoft YaHei"/>
                </a:rPr>
                <a:t>欢迎提问与交流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762500" y="4095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4288">
              <a:solidFill>
                <a:srgbClr val="58A6FF">
                  <a:alpha val="5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67556" y="4505325"/>
              <a:ext cx="4056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B949E"/>
                  </a:solidFill>
                  <a:latin typeface="Microsoft YaHei"/>
                  <a:ea typeface="Microsoft YaHei"/>
                  <a:cs typeface="Microsoft YaHei"/>
                </a:rPr>
                <a:t>NeuroGraphIQ KG V3 — 多粒度脑区知识图谱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33542" y="5585460"/>
              <a:ext cx="924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069"/>
                  </a:solidFill>
                  <a:latin typeface="Microsoft YaHei"/>
                  <a:ea typeface="Microsoft YaHei"/>
                  <a:cs typeface="Microsoft YaHei"/>
                </a:rPr>
                <a:t>2026 年 8 月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6381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4762">
              <a:solidFill>
                <a:schemeClr val="accent6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eurographiq-kg-construction">
  <a:themeElements>
    <a:clrScheme name="neurographiq-kg-construction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0D1117"/>
      </a:accent5>
      <a:accent6>
        <a:srgbClr val="212D40"/>
      </a:accent6>
      <a:hlink>
        <a:srgbClr val="0000FF"/>
      </a:hlink>
      <a:folHlink>
        <a:srgbClr val="800080"/>
      </a:folHlink>
    </a:clrScheme>
    <a:fontScheme name="neurographiq-kg-construction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Regular"/>
        <a:ea typeface="Microsoft YaHei"/>
        <a:cs typeface="Microsoft YaHei Regula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eurographiq-kg-constru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eurographiq-kg-construction">
  <a:themeElements>
    <a:clrScheme name="neurographiq-kg-construction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0D1117"/>
      </a:accent5>
      <a:accent6>
        <a:srgbClr val="212D40"/>
      </a:accent6>
      <a:hlink>
        <a:srgbClr val="0000FF"/>
      </a:hlink>
      <a:folHlink>
        <a:srgbClr val="800080"/>
      </a:folHlink>
    </a:clrScheme>
    <a:fontScheme name="neurographiq-kg-construction">
      <a:majorFont>
        <a:latin typeface="Microsoft YaHei Bold"/>
        <a:ea typeface="Microsoft YaHei"/>
        <a:cs typeface="Microsoft YaHei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 Regular"/>
        <a:ea typeface="Microsoft YaHei"/>
        <a:cs typeface="Microsoft YaHei Regula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eurographiq-kg-constru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2026-08-03T08:29:08Z</dcterms:created>
  <dcterms:modified xsi:type="dcterms:W3CDTF">2026-08-03T08:29:08Z</dcterms:modified>
  <cp:category/>
  <cp:contentStatus/>
</cp:coreProperties>
</file>