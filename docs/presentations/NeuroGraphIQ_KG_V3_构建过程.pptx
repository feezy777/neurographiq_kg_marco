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NeuroGraphIQ KG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51760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A0C4E8"/>
                </a:solidFill>
                <a:latin typeface="Microsoft YaHei"/>
              </a:defRPr>
            </a:pPr>
            <a:r>
              <a:t>多粒度脑区知识图谱构建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37560"/>
            <a:ext cx="3017520" cy="381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DEE"/>
                </a:solidFill>
                <a:latin typeface="Microsoft YaHei"/>
              </a:defRPr>
            </a:pPr>
            <a:r>
              <a:t>从脑图谱资源到可探索知识图谱的全流程自动化系统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18096"/>
                </a:solidFill>
                <a:latin typeface="Microsoft YaHei"/>
              </a:defRPr>
            </a:pPr>
            <a:r>
              <a:t>2026 年 8 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6400800"/>
            <a:ext cx="9418320" cy="12700"/>
          </a:xfrm>
          <a:prstGeom prst="rect">
            <a:avLst/>
          </a:prstGeom>
          <a:solidFill>
            <a:srgbClr val="3A5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问题、动机与规模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3500" cy="16916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0700" y="1371600"/>
            <a:ext cx="35026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D6B20"/>
                </a:solidFill>
                <a:latin typeface="Microsoft YaHei"/>
              </a:defRPr>
            </a:pPr>
            <a:r>
              <a:t>脑图谱资源分散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AAL3、Brainnetome、HCP-MMP、Allen</a:t>
            </a:r>
            <a:br/>
            <a:r>
              <a:t>等 6+ 种图谱，格式各异 (XML/xlsx/OWL)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63500" cy="16916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180" y="1371600"/>
            <a:ext cx="35026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D6B20"/>
                </a:solidFill>
                <a:latin typeface="Microsoft YaHei"/>
              </a:defRPr>
            </a:pPr>
            <a:r>
              <a:t>缺乏结构化知识连接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不同粒度脑区之间无统一语义关联，</a:t>
            </a:r>
            <a:br/>
            <a:r>
              <a:t>跨图谱查询困难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63500" cy="16916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1660" y="1371600"/>
            <a:ext cx="35026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53E3E"/>
                </a:solidFill>
                <a:latin typeface="Microsoft YaHei"/>
              </a:defRPr>
            </a:pPr>
            <a:r>
              <a:t>LLM 提取需治理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大模型能做知识提取，但缺乏治理</a:t>
            </a:r>
            <a:br/>
            <a:r>
              <a:t>框架会传播错误到正式库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项目规模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7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📡  42 路由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5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88 服务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74903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84047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React 18 + Vite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25195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React 18 + Vite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4903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4047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5195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74903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84047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1,173 函数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25195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1,173 函数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5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2919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📡  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4067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Python 3.11+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93775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502919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14 个核心页面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93775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02919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🗄️  5 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44067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59 迁移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937759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502919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76 测试文件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▶ 解决方案：分层漏斗治理 —— 候选 → 校验 → LLM提取 → Mirror KG → Human Review → Final KG，兼顾自动化与人工质控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知识体系与构建流水线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50876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脑区实体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1389888"/>
            <a:ext cx="137160" cy="22860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1280160"/>
            <a:ext cx="150876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连接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11880" y="1389888"/>
            <a:ext cx="137160" cy="228600"/>
          </a:xfrm>
          <a:prstGeom prst="rightArrow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40" y="1280160"/>
            <a:ext cx="150876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回路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03520" y="1389888"/>
            <a:ext cx="13716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40680" y="1280160"/>
            <a:ext cx="150876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95160" y="1389888"/>
            <a:ext cx="137160" cy="228600"/>
          </a:xfrm>
          <a:prstGeom prst="rightArrow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1280160"/>
            <a:ext cx="1508760" cy="50292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证据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86800" y="1389888"/>
            <a:ext cx="137160" cy="228600"/>
          </a:xfrm>
          <a:prstGeom prst="rightArrow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1508760" cy="50292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三元组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378440" y="1389888"/>
            <a:ext cx="137160" cy="228600"/>
          </a:xfrm>
          <a:prstGeom prst="rightArrow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0" y="1280160"/>
            <a:ext cx="1508760" cy="502920"/>
          </a:xfrm>
          <a:prstGeom prst="round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映射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构建流水线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60320"/>
            <a:ext cx="201168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资源登记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68880" y="2670048"/>
            <a:ext cx="137160" cy="22860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06040" y="2560320"/>
            <a:ext cx="201168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批次导入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09160" y="2670048"/>
            <a:ext cx="137160" cy="22860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46320" y="2560320"/>
            <a:ext cx="201168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原始解析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49440" y="2670048"/>
            <a:ext cx="137160" cy="228600"/>
          </a:xfrm>
          <a:prstGeom prst="rightArrow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6600" y="2560320"/>
            <a:ext cx="201168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候选生成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89720" y="2670048"/>
            <a:ext cx="137160" cy="228600"/>
          </a:xfrm>
          <a:prstGeom prst="rightArrow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2560320"/>
            <a:ext cx="201168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规则校验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1430000" y="2670048"/>
            <a:ext cx="137160" cy="228600"/>
          </a:xfrm>
          <a:prstGeom prst="rightArrow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3337560"/>
            <a:ext cx="2011680" cy="640080"/>
          </a:xfrm>
          <a:prstGeom prst="round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LLM提取</a:t>
            </a:r>
            <a:br/>
            <a:r>
              <a:t>(DeepSeek+Kimi)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468880" y="3520440"/>
            <a:ext cx="137160" cy="228600"/>
          </a:xfrm>
          <a:prstGeom prst="rightArrow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06040" y="3337560"/>
            <a:ext cx="2011680" cy="640080"/>
          </a:xfrm>
          <a:prstGeom prst="roundRect">
            <a:avLst/>
          </a:prstGeom>
          <a:solidFill>
            <a:srgbClr val="6B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Mirror KG</a:t>
            </a:r>
            <a:br/>
            <a:r>
              <a:t>(预正式层)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709160" y="3520440"/>
            <a:ext cx="137160" cy="228600"/>
          </a:xfrm>
          <a:prstGeom prst="rightArrow">
            <a:avLst/>
          </a:prstGeom>
          <a:solidFill>
            <a:srgbClr val="6B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6320" y="3337560"/>
            <a:ext cx="2011680" cy="64008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校验中心</a:t>
            </a:r>
            <a:br/>
            <a:r>
              <a:t>(三道闸门)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49440" y="3520440"/>
            <a:ext cx="137160" cy="228600"/>
          </a:xfrm>
          <a:prstGeom prst="rightArrow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86600" y="3337560"/>
            <a:ext cx="2011680" cy="640080"/>
          </a:xfrm>
          <a:prstGeom prst="roundRect">
            <a:avLst/>
          </a:prstGeom>
          <a:solidFill>
            <a:srgbClr val="C05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人工审核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189720" y="3520440"/>
            <a:ext cx="137160" cy="228600"/>
          </a:xfrm>
          <a:prstGeom prst="rightArrow">
            <a:avLst/>
          </a:prstGeom>
          <a:solidFill>
            <a:srgbClr val="C05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3337560"/>
            <a:ext cx="2011680" cy="64008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晋升→Final KG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核心写边界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40080" y="466344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可写入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严禁写入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LLM 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mirror_*, llm_extraction_*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final_*, 自动审核, 自动晋升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人工审核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审核记录, 编辑建议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final_* 直接写入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Promotion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final_* + 审计日志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绕过审核环节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61888"/>
            <a:ext cx="9966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核心原则：每阶段向上游隔离 · LLM 是提取工具而非终审官 · 人工审核是进入 Final KG 的唯一闸门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数据导入与候选生成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双链路独立导入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91440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914400"/>
                <a:gridCol w="1097280"/>
                <a:gridCol w="182880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图谱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粒度层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格式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解析器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候选生成器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AAL3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macro_clinical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XML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166 ROI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aal3_xml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generate-candidates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Macro96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macro_clinical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Excel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96 脑区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macro96_xlsx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generate-macro96-candidates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2926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关键技术机制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▸ 导入批次 (Import Batch)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9184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核心追踪单元，记录文件绑定、解析器兼容性自动检查、事件日志 (queue→start→complete/cancel)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▸ 幂等解析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88620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唯一索引防止重复解析，支持安全重跑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▸ 候选溯源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4805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每条候选记录 source_atlas · source_version · import_batch_id · resource_id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▸ 候选池 (Candidate Pool)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07492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跨批次汇总候选数据，支持按粒度/图谱/批次筛选，为 LLM 批量提取提供数据基础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规则校验与数据增强引擎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12 条确定性校验规则（不依赖 LLM）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检查类别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检查项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完整性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必填字段非空 (name, source_atlas, granularity_level)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BLOCKER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语义ID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semantic_id 格式合法性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BLOCKER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唯一性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同图谱内候选脑区不重复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BLOCKER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拓扑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脑区间引用有效性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BLOCKER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溯源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source_atlas / version / resource_id 齐全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WARNING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evidence_text 完整度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WARNING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Quality Score (0-100 加权评分)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18096"/>
                </a:solidFill>
                <a:latin typeface="Microsoft YaHei"/>
              </a:defRPr>
            </a:pPr>
            <a:r>
              <a:t>完整性 30%  +  溯源 20%  +  拓扑 20%  +  证据 20%  +  区域关联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数据增强引擎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12080"/>
            <a:ext cx="63500" cy="11887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3580" y="5212080"/>
            <a:ext cx="51485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A169"/>
                </a:solidFill>
                <a:latin typeface="Microsoft YaHei"/>
              </a:defRPr>
            </a:pPr>
            <a:r>
              <a:t>Tier 1: 确定性自动修复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补充缺失字段 · 标准化名称 · 修复引用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不调 LLM — 零成本、确定性、即时反馈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5212080"/>
            <a:ext cx="63500" cy="11887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1420" y="5212080"/>
            <a:ext cx="51485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3035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182CE"/>
                </a:solidFill>
                <a:latin typeface="Microsoft YaHei"/>
              </a:defRPr>
            </a:pPr>
            <a:r>
              <a:t>Tier 2: LLM 辅助增强 (DeepSeek)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77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分析疑难问题 → 生成修复建议 → mirror_enhancement_suggestions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人工 approve / reject — 始终保留人工决策权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LLM 提取能力全景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双 LLM 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18096"/>
                </a:solidFill>
                <a:latin typeface="Microsoft YaHei"/>
              </a:defRPr>
            </a:pPr>
            <a:r>
              <a:t>DeepSeek (v4-pro / V3 / R1)  +  Kimi (Moonshot)  ·  Provider 抽象层  ·  API Key 前端不可见  ·  完整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286000"/>
            <a:ext cx="2560320" cy="5486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候选脑区实体 (Regions)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56032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连接提取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200400"/>
            <a:ext cx="256032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功能提取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200400"/>
            <a:ext cx="256032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回路提取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834640"/>
            <a:ext cx="38100" cy="41148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834640"/>
            <a:ext cx="38100" cy="41148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0" y="2834640"/>
            <a:ext cx="38100" cy="41148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2651760" cy="6858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投射功能提取</a:t>
            </a:r>
            <a:br/>
            <a:r>
              <a:t>(Projection Functions)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749040"/>
            <a:ext cx="38100" cy="38404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4114800"/>
            <a:ext cx="2651760" cy="6858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回路功能提取</a:t>
            </a:r>
            <a:br/>
            <a:r>
              <a:t>(Circuit Functions)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749040"/>
            <a:ext cx="38100" cy="38404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0" y="4114800"/>
            <a:ext cx="2651760" cy="6858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回路步骤提取</a:t>
            </a:r>
            <a:br/>
            <a:r>
              <a:t>(Circuit Steps)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3749040"/>
            <a:ext cx="38100" cy="38404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0" y="5212080"/>
            <a:ext cx="2560320" cy="50292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三元组整合 (Triples)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800600"/>
            <a:ext cx="3810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⚠ 全部在同粒度内操作 · 跨粒度关系需显式 Mapping 表 · 三元组整合为确定性转换（不调 LLM）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复合工作流与 Mirror 写入链路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复合工作流 (Composite Workflow)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182CE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连接 + 功能提取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pack 1 … 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2560320" cy="508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246120" y="2468880"/>
            <a:ext cx="182880" cy="228600"/>
          </a:xfrm>
          <a:prstGeom prst="rightArrow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82880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19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B6CB0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031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回路 + 步骤提取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pack 1 …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246120"/>
            <a:ext cx="2560320" cy="50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080760" y="2468880"/>
            <a:ext cx="182880" cy="22860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19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D6B20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投射提取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pack 1 … 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246120"/>
            <a:ext cx="2560320" cy="508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915400" y="2468880"/>
            <a:ext cx="182880" cy="228600"/>
          </a:xfrm>
          <a:prstGeom prst="rightArrow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82880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874519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8A169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1031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三元组整合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确定性，不调 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246120"/>
            <a:ext cx="2560320" cy="50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· Pack 机制 (pairs_per_pack 可调, 默认 20)    · Dry Run 预览 (pack 数 / token 量 / 费用估算)    · Skip Existing (避免重复)    · 暂停 / 取消 / 恢复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LLM → Mirror KG 写入链路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43400"/>
            <a:ext cx="2011680" cy="7315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LLM 输出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4343400"/>
            <a:ext cx="2011680" cy="7315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llm_extraction_runs</a:t>
            </a:r>
            <a:br/>
            <a:r>
              <a:t>+ items (raw_response)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343400"/>
            <a:ext cx="2011680" cy="7315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llm_to_mirror</a:t>
            </a:r>
            <a:br/>
            <a:r>
              <a:t>(确定性转换)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343400"/>
            <a:ext cx="2011680" cy="73152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Mirror KG</a:t>
            </a:r>
            <a:br/>
            <a:r>
              <a:t>(8 张表)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697480" y="4572000"/>
            <a:ext cx="182880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989320" y="4572000"/>
            <a:ext cx="182880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732520" y="4572000"/>
            <a:ext cx="182880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mirror_region_connections  ·  mirror_region_functions  ·  mirror_region_circuits  ·  mirror_circuit_steps  ·  mirror_circuit_functions  ·  mirror_projection_functions  ·  mirror_kg_triples  ·  mirror_evidence_records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status: mirror_candidate → llm_suggested → rule_checked → human_review_pending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126480"/>
            <a:ext cx="10515600" cy="41148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6144768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E3E"/>
                </a:solidFill>
                <a:latin typeface="Microsoft YaHei"/>
              </a:defRPr>
            </a:pPr>
            <a:r>
              <a:t>⚠ LLM 输出绝不直接写入 final_*，不自动审核，不自动晋升 —— 所有 LLM 产出必须经过 Mirror KG 中转与人工审核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Mirror KG 治理机制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Mirror KG = 预正式知识中转层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18096"/>
                </a:solidFill>
                <a:latin typeface="Microsoft YaHei"/>
              </a:defRPr>
            </a:pPr>
            <a:r>
              <a:t>解决 LLM 多 run / 多 pack 重叠提取 · 重跑版本差异 · 审核员重复数据困境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63500" cy="21031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3580" y="2194560"/>
            <a:ext cx="51485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182CE"/>
                </a:solidFill>
                <a:latin typeface="Microsoft YaHei"/>
              </a:defRPr>
            </a:pPr>
            <a:r>
              <a:t>写入时去重合并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每种实体定义 Canonical Key，写入时自动匹配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连接: (source, target, type, directionality)，无向时排序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回路: (circuit_name, source_atlas, granularity)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回路步骤: (circuit_id, step_order)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合并策略：高置信度胜出 + 双溯源保留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不合并：已审核 / 已晋升 / 跨 atlas / 跨粒度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63500" cy="210312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420" y="2194560"/>
            <a:ext cx="51485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D6B20"/>
                </a:solidFill>
                <a:latin typeface="Microsoft YaHei"/>
              </a:defRPr>
            </a:pPr>
            <a:r>
              <a:t>双模型盲审 (DeepSeek + Kimi)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同一数据项，两个模型独立审核，互相不可见对方结果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  consensus → 双模型一致 — 加速审核通道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  conflict  → 模型冲突 — 升级人工裁决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冲突时提供差异化分析，标注两模型分歧点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帮助审核员快速定位争议焦点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72000"/>
            <a:ext cx="63500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3580" y="4572000"/>
            <a:ext cx="107264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A169"/>
                </a:solidFill>
                <a:latin typeface="Microsoft YaHei"/>
              </a:defRPr>
            </a:pPr>
            <a:r>
              <a:t>回路-投射交叉验证（确定性算法，不调 LLM）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正向推导：回路 → 步骤 → 投射    ←→    反向聚合：投射 → 回路    →    交叉比对</a:t>
            </a:r>
          </a:p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结果: bidirectionally_supported（通过）/ conflict（需人工），为人工审核提供结构化置信度信号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校验中心：三道闸门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4747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闸门 1</a:t>
            </a:r>
            <a:br/>
            <a:r>
              <a:t>规则校验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12 规则</a:t>
            </a:r>
            <a:br/>
            <a:r>
              <a:t>确定性, 无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Blocker → Tier1 自动修复 / Tier2 LLM 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Warning → 标记提醒审核员</a:t>
            </a:r>
          </a:p>
        </p:txBody>
      </p:sp>
      <p:sp>
        <p:nvSpPr>
          <p:cNvPr id="11" name="Oval 10"/>
          <p:cNvSpPr/>
          <p:nvPr/>
        </p:nvSpPr>
        <p:spPr>
          <a:xfrm>
            <a:off x="2011680" y="3383280"/>
            <a:ext cx="640080" cy="6400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463040"/>
            <a:ext cx="34747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463040"/>
            <a:ext cx="3474720" cy="109728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087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闸门 2</a:t>
            </a:r>
            <a:br/>
            <a:r>
              <a:t>大模型校验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DeepSeek+Kimi</a:t>
            </a:r>
            <a:br/>
            <a:r>
              <a:t>双模型盲审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consensus → 绿色通道加速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54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conflict → 升级 + 分歧标注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3383280"/>
            <a:ext cx="640080" cy="64008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463040"/>
            <a:ext cx="34747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463040"/>
            <a:ext cx="3474720" cy="109728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5087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闸门 3</a:t>
            </a:r>
            <a:br/>
            <a:r>
              <a:t>人工审核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专家终审</a:t>
            </a:r>
            <a:br/>
            <a:r>
              <a:t>唯一终审权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432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approve → 晋升队列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54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reject → 退回 + 原因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5661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▸ request_changes → 修改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0" y="3383280"/>
            <a:ext cx="640080" cy="64008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60520" y="3566160"/>
            <a:ext cx="228600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001000" y="3566160"/>
            <a:ext cx="228600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5303520"/>
            <a:ext cx="56692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5321808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→ Final KG（三道全过，缺一不可）←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892040"/>
            <a:ext cx="38100" cy="4572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892040"/>
            <a:ext cx="38100" cy="4572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0" y="4892040"/>
            <a:ext cx="38100" cy="4572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1264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设计原则：前两道自动化（规则 + LLM 校验）+ 最后一道人工终审 = 效率与质量的最佳平衡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晋升与 Final KG 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晋升 (Promotion)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200400" cy="6400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Mirror KG</a:t>
            </a:r>
            <a:br/>
            <a:r>
              <a:t>(审核通过)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1965960"/>
            <a:ext cx="182880" cy="22860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1783080"/>
            <a:ext cx="3200400" cy="6400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预览→确认→执行</a:t>
            </a:r>
            <a:br/>
            <a:r>
              <a:t>(强确认, 不可逆)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06640" y="1965960"/>
            <a:ext cx="182880" cy="228600"/>
          </a:xfrm>
          <a:prstGeom prst="rightArrow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1783080"/>
            <a:ext cx="3200400" cy="64008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Final KG</a:t>
            </a:r>
            <a:br/>
            <a:r>
              <a:t>(8 表映射)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Final KG 三元组模型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6858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24100"/>
            <a:ext cx="6309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实体层 (Nodes)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6309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EEEFF"/>
                </a:solidFill>
                <a:latin typeface="Microsoft YaHei"/>
              </a:defRPr>
            </a:pPr>
            <a:r>
              <a:t>BrainRegion · Function · Circuit · Step · Projection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6858000" cy="5029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38500"/>
            <a:ext cx="6309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关系层 (Edges / Predicates)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6309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EEEFF"/>
                </a:solidFill>
                <a:latin typeface="Microsoft YaHei"/>
              </a:defRPr>
            </a:pPr>
            <a:r>
              <a:t>12 种标准谓词 (structurally_connects_to / has_function / has_step / involves_region / ...)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6858000" cy="685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52900"/>
            <a:ext cx="6309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统一查询层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6309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EEEFF"/>
                </a:solidFill>
                <a:latin typeface="Microsoft YaHei"/>
              </a:defRPr>
            </a:pPr>
            <a:r>
              <a:t>final_kg_triples (subject, predicate, object) —— 确定性 Triple Consolidation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五层粒度隔离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365D"/>
                </a:solidFill>
                <a:latin typeface="Microsoft YaHei"/>
              </a:defRPr>
            </a:pPr>
            <a:r>
              <a:t>macro_clinical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108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← AAL3, Macro96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649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182CE"/>
                </a:solidFill>
                <a:latin typeface="Microsoft YaHei"/>
              </a:defRPr>
            </a:pPr>
            <a:r>
              <a:t>meso_anatomical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36499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← HCP-MMP, Desikan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B6CB0"/>
                </a:solidFill>
                <a:latin typeface="Microsoft YaHei"/>
              </a:defRPr>
            </a:pPr>
            <a:r>
              <a:t>sub_connectivity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621024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← Brainnetome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770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6B20"/>
                </a:solidFill>
                <a:latin typeface="Microsoft YaHei"/>
              </a:defRPr>
            </a:pPr>
            <a:r>
              <a:t>fine_cyto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877056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← Julich-Brain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1330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8A169"/>
                </a:solidFill>
                <a:latin typeface="Microsoft YaHei"/>
              </a:defRPr>
            </a:pPr>
            <a:r>
              <a:t>molecular_attr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133088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18096"/>
                </a:solidFill>
                <a:latin typeface="Microsoft YaHei"/>
              </a:defRPr>
            </a:pPr>
            <a:r>
              <a:t>← Allen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480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6B20"/>
                </a:solidFill>
                <a:latin typeface="Microsoft YaHei"/>
              </a:defRPr>
            </a:pPr>
            <a:r>
              <a:t>跨粒度: 显式 Mapping</a:t>
            </a:r>
            <a:br/>
            <a:r>
              <a:t>(exact_match / part_of / overlaps)</a:t>
            </a:r>
            <a:br/>
            <a:r>
              <a:t>禁止名称相似度自动合并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12 种标准谓词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5349240"/>
          <a:ext cx="8869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谓词 (Predicate)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structurally_connects_to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结构连接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脑区 → 脑区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functionally_connects_to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功能连接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脑区 → 脑区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projects_to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投射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脑区 → 脑区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has_function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区域功能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脑区 → 功能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has_step / involves_region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回路步骤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回路 → 步骤 → 脑区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has_projection_function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投射功能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2"/>
                          </a:solidFill>
                          <a:latin typeface="Microsoft YaHei"/>
                        </a:defRPr>
                      </a:pPr>
                      <a:r>
                        <a:t>投射 → 功能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知识消费与全链路溯源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知识消费面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3500" cy="14630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3580" y="1783080"/>
            <a:ext cx="26797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182CE"/>
                </a:solidFill>
                <a:latin typeface="Microsoft YaHei"/>
              </a:defRPr>
            </a:pPr>
            <a:r>
              <a:t>🔍  图谱探索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D3 力导向图，节点展开/收起</a:t>
            </a:r>
            <a:br/>
            <a:r>
              <a:t>按类型着色，置信度透明度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783080"/>
            <a:ext cx="63500" cy="14630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29660" y="1783080"/>
            <a:ext cx="26797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874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182CE"/>
                </a:solidFill>
                <a:latin typeface="Microsoft YaHei"/>
              </a:defRPr>
            </a:pPr>
            <a:r>
              <a:t>🏥  症状查询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1488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自然语言症状 → 标准化功能/回路</a:t>
            </a:r>
            <a:br/>
            <a:r>
              <a:t>→ 图谱结果 + 临床报告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83080"/>
            <a:ext cx="63500" cy="14630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55740" y="1783080"/>
            <a:ext cx="26797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182CE"/>
                </a:solidFill>
                <a:latin typeface="Microsoft YaHei"/>
              </a:defRPr>
            </a:pPr>
            <a:r>
              <a:t>📊  数据中心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Raw → Candidate → Mirror → Final</a:t>
            </a:r>
            <a:br/>
            <a:r>
              <a:t>四面板浏览 + 字段补全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783080"/>
            <a:ext cx="63500" cy="14630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1820" y="1783080"/>
            <a:ext cx="26797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874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182CE"/>
                </a:solidFill>
                <a:latin typeface="Microsoft YaHei"/>
              </a:defRPr>
            </a:pPr>
            <a:r>
              <a:t>📦  知识导出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488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742"/>
                </a:solidFill>
                <a:latin typeface="Microsoft YaHei"/>
              </a:defRPr>
            </a:pPr>
            <a:r>
              <a:t>JSONL + CSV + Neo4j 兼容</a:t>
            </a:r>
            <a:br/>
            <a:r>
              <a:t>离线确定性导出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全链路溯源（7 步回溯）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118872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Final KG 事实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554480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00784" y="4023360"/>
            <a:ext cx="118872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promotion_run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889504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35808" y="4023360"/>
            <a:ext cx="118872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review_record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224528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70832" y="4023360"/>
            <a:ext cx="118872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rule_validation_result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559552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05856" y="4023360"/>
            <a:ext cx="1188720" cy="502920"/>
          </a:xfrm>
          <a:prstGeom prst="round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llm_extraction_item (raw_response)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894576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40880" y="4023360"/>
            <a:ext cx="1188720" cy="502920"/>
          </a:xfrm>
          <a:prstGeom prst="roundRect">
            <a:avLst/>
          </a:prstGeom>
          <a:solidFill>
            <a:srgbClr val="6B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llm_extraction_run (model + prompt)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229600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75904" y="4023360"/>
            <a:ext cx="118872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candidate_pool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564624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0928" y="4023360"/>
            <a:ext cx="118872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import_batch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0899648" y="4142232"/>
            <a:ext cx="118872" cy="22860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045952" y="4023360"/>
            <a:ext cx="118872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resource (原始脑图谱)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46320"/>
            <a:ext cx="10515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73752"/>
            <a:ext cx="9966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任何 Final KG 事实 → 7 步回溯 → 原始脑图谱资源：全链路不可篡改，provenance 是晋升的硬性前提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证据层记录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8096"/>
                </a:solidFill>
                <a:latin typeface="Microsoft YaHei"/>
              </a:defRPr>
            </a:pPr>
            <a:r>
              <a:t>每个实体附 mirror_evidence_records → 记录 source_atlas · source_version · llm_run_id · review_record_id · promotion_run_id · raw_response · confidence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6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分层漏斗治理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D3742"/>
                </a:solidFill>
                <a:latin typeface="Microsoft YaHei"/>
              </a:defRPr>
            </a:pPr>
            <a:r>
              <a:t>6 阶段流水线 (候选→校验→LLM→Mirror→Review→Final)</a:t>
            </a:r>
            <a:br/>
            <a:r>
              <a:t>每层明确写边界，LLM 是工具而非终审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3474720" cy="635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1645920"/>
            <a:ext cx="457200" cy="457200"/>
          </a:xfrm>
          <a:prstGeom prst="ellipse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6916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182CE"/>
                </a:solidFill>
                <a:latin typeface="Microsoft YaHei"/>
              </a:defRPr>
            </a:pPr>
            <a:r>
              <a:t>Mirror KG 中转层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402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D3742"/>
                </a:solidFill>
                <a:latin typeface="Microsoft YaHei"/>
              </a:defRPr>
            </a:pPr>
            <a:r>
              <a:t>写入时去重合并 + Canonical Key 体系</a:t>
            </a:r>
            <a:br/>
            <a:r>
              <a:t>双溯源保留，已审核数据永不自动合并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463040"/>
            <a:ext cx="3474720" cy="63500"/>
          </a:xfrm>
          <a:prstGeom prst="rect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1645920"/>
            <a:ext cx="457200" cy="457200"/>
          </a:xfrm>
          <a:prstGeom prst="ellipse">
            <a:avLst/>
          </a:prstGeom>
          <a:solidFill>
            <a:srgbClr val="805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916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050B0"/>
                </a:solidFill>
                <a:latin typeface="Microsoft YaHei"/>
              </a:defRPr>
            </a:pPr>
            <a:r>
              <a:t>双模型盲审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402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D3742"/>
                </a:solidFill>
                <a:latin typeface="Microsoft YaHei"/>
              </a:defRPr>
            </a:pPr>
            <a:r>
              <a:t>DeepSeek + Kimi 独立审核同一数据</a:t>
            </a:r>
            <a:br/>
            <a:r>
              <a:t>互不可见结果，冲突时人工裁决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519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A169"/>
                </a:solidFill>
                <a:latin typeface="Microsoft YaHei"/>
              </a:defRPr>
            </a:pPr>
            <a:r>
              <a:t>数据增强引擎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D3742"/>
                </a:solidFill>
                <a:latin typeface="Microsoft YaHei"/>
              </a:defRPr>
            </a:pPr>
            <a:r>
              <a:t>Tier 1 确定性修复 (零 LLM 成本) + Tier 2 LLM 增强</a:t>
            </a:r>
            <a:br/>
            <a:r>
              <a:t>Q uality Score 0-100 自动评分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02336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023360"/>
            <a:ext cx="3474720" cy="635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4206240"/>
            <a:ext cx="457200" cy="45720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2519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D6B20"/>
                </a:solidFill>
                <a:latin typeface="Microsoft YaHei"/>
              </a:defRPr>
            </a:pPr>
            <a:r>
              <a:t>全链路溯源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80060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D3742"/>
                </a:solidFill>
                <a:latin typeface="Microsoft YaHei"/>
              </a:defRPr>
            </a:pPr>
            <a:r>
              <a:t>7 步回溯 Final KG → 原始脑图谱资源</a:t>
            </a:r>
            <a:br/>
            <a:r>
              <a:t>所有 provenance 不可变，是晋升硬性前提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402336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4023360"/>
            <a:ext cx="347472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0" y="4206240"/>
            <a:ext cx="457200" cy="45720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2519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五层粒度隔离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80060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D3742"/>
                </a:solidFill>
                <a:latin typeface="Microsoft YaHei"/>
              </a:defRPr>
            </a:pPr>
            <a:r>
              <a:t>PostgreSQL schema 级物理隔离</a:t>
            </a:r>
            <a:br/>
            <a:r>
              <a:t>跨粒度显式 Mapping，禁止名称相似度合并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1153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当前状态与下一步规划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A169"/>
                </a:solidFill>
                <a:latin typeface="Microsoft YaHei"/>
              </a:defRPr>
            </a:pPr>
            <a:r>
              <a:t>✅ 已实现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端到端流水线 (Resource → Final KG) 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7 种 LLM 提取能力 (连接/功能/回路/步骤/投射功能/回路功能/三元组)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12 条确定性规则校验 + 数据增强引擎 (Tier 1 + Tier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双模型盲审 (DeepSeek + Kimi) + 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Mirror → Final 晋升 + Triple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写入时去重合并 (Canonical Key), 6 类实体全覆盖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14 页前端工作台 + Graph Explorer + 症状查询 + 3D 脑区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1,173 测试函数 · 59 数据库迁移 · 全链路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D6B20"/>
                </a:solidFill>
                <a:latin typeface="Microsoft YaHei"/>
              </a:defRPr>
            </a:pPr>
            <a:r>
              <a:t>🚀 规划中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接入更多粒度 (meso_anatomical, sub_connectivity, fine_cyto, molecular_attr)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图数据库同步 (Neo4j 可选路径)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跨粒度映射关系自动发现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Graph Explorer 交互增强 (ReactFlow 迁移)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0896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DashBoard 关键指标看板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2900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批量字段补全进度可视化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49040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D3742"/>
                </a:solidFill>
                <a:latin typeface="Microsoft YaHei"/>
              </a:defRPr>
            </a:pPr>
            <a:r>
              <a:t>▸ 知识图谱版本管理与差异对比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463040"/>
            <a:ext cx="25400" cy="4754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760720"/>
            <a:ext cx="1600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144768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API 路由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5760720"/>
            <a:ext cx="1600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5806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6144768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服务模块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5760720"/>
            <a:ext cx="1600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806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144768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前端页面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760720"/>
            <a:ext cx="1600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806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6144768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数据库迁移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5760720"/>
            <a:ext cx="1600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806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1,173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6144768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测试函数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5760720"/>
            <a:ext cx="1600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58064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6144768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粒度 Schema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感谢关注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A0C4E8"/>
                </a:solidFill>
                <a:latin typeface="Microsoft YaHei"/>
              </a:defRPr>
            </a:pPr>
            <a:r>
              <a:t>欢迎提问与交流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3017520" cy="381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DEE"/>
                </a:solidFill>
                <a:latin typeface="Microsoft YaHei"/>
              </a:defRPr>
            </a:pPr>
            <a:r>
              <a:t>NeuroGraphIQ KG V3 — 多粒度脑区知识图谱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18096"/>
                </a:solidFill>
                <a:latin typeface="Microsoft YaHei"/>
              </a:defRPr>
            </a:pPr>
            <a:r>
              <a:t>2026 年 8 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6400800"/>
            <a:ext cx="9418320" cy="12700"/>
          </a:xfrm>
          <a:prstGeom prst="rect">
            <a:avLst/>
          </a:prstGeom>
          <a:solidFill>
            <a:srgbClr val="3A5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